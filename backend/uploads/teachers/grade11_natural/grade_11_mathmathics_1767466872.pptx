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ata17.xml" ContentType="application/vnd.openxmlformats-officedocument.drawingml.diagramData+xml"/>
  <Override PartName="/ppt/diagrams/colors22.xml" ContentType="application/vnd.openxmlformats-officedocument.drawingml.diagramColor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diagrams/quickStyle17.xml" ContentType="application/vnd.openxmlformats-officedocument.drawingml.diagramStyle+xml"/>
  <Override PartName="/ppt/diagrams/data20.xml" ContentType="application/vnd.openxmlformats-officedocument.drawingml.diagramData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17.xml" ContentType="application/vnd.openxmlformats-officedocument.drawingml.diagramLayout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20.xml" ContentType="application/vnd.openxmlformats-officedocument.drawingml.diagramStyl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diagrams/colors12.xml" ContentType="application/vnd.openxmlformats-officedocument.drawingml.diagramColors+xml"/>
  <Override PartName="/ppt/diagrams/layout20.xml" ContentType="application/vnd.openxmlformats-officedocument.drawingml.diagramLayout+xml"/>
  <Override PartName="/ppt/diagrams/colors23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data21.xml" ContentType="application/vnd.openxmlformats-officedocument.drawingml.diagramData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diagrams/quickStyle18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layout18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diagrams/layout23.xml" ContentType="application/vnd.openxmlformats-officedocument.drawingml.diagram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diagrams/data15.xml" ContentType="application/vnd.openxmlformats-officedocument.drawingml.diagramData+xml"/>
  <Override PartName="/ppt/diagrams/colors20.xml" ContentType="application/vnd.openxmlformats-officedocument.drawingml.diagramColor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diagrams/data11.xml" ContentType="application/vnd.openxmlformats-officedocument.drawingml.diagramData+xml"/>
  <Override PartName="/ppt/diagrams/quickStyle19.xml" ContentType="application/vnd.openxmlformats-officedocument.drawingml.diagramStyle+xml"/>
  <Override PartName="/ppt/diagrams/data22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layout19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diagrams/layout22.xml" ContentType="application/vnd.openxmlformats-officedocument.drawingml.diagram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colors10.xml" ContentType="application/vnd.openxmlformats-officedocument.drawingml.diagramColors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  <Override PartName="/ppt/slides/slide24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data9.xml" ContentType="application/vnd.openxmlformats-officedocument.drawingml.diagramData+xml"/>
  <Override PartName="/ppt/diagrams/quickStyle16.xml" ContentType="application/vnd.openxmlformats-officedocument.drawingml.diagramStyle+xml"/>
  <Default Extension="wav" ContentType="audio/wav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layout16.xml" ContentType="application/vnd.openxmlformats-officedocument.drawingml.diagramLayout+xml"/>
  <Override PartName="/ppt/diagrams/colors19.xml" ContentType="application/vnd.openxmlformats-officedocument.drawingml.diagramColors+xml"/>
  <Override PartName="/ppt/diagrams/quickStyle23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notesMasterIdLst>
    <p:notesMasterId r:id="rId54"/>
  </p:notesMasterIdLst>
  <p:sldIdLst>
    <p:sldId id="258" r:id="rId2"/>
    <p:sldId id="259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284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0" r:id="rId48"/>
    <p:sldId id="351" r:id="rId49"/>
    <p:sldId id="352" r:id="rId50"/>
    <p:sldId id="353" r:id="rId51"/>
    <p:sldId id="354" r:id="rId52"/>
    <p:sldId id="35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CB8BF-1417-9BDC-2FDC-371C97297F44}" v="20" dt="2024-03-10T09:31:34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-42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0" Type="http://schemas.microsoft.com/office/2015/10/relationships/revisionInfo" Target="revisionInfo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#1">
  <dgm:title val=""/>
  <dgm:desc val=""/>
  <dgm:catLst>
    <dgm:cat type="accent1" pri="11300"/>
  </dgm:catLst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50006C-15D3-49BF-8563-D6471C231D09}" type="doc">
      <dgm:prSet loTypeId="urn:microsoft.com/office/officeart/2005/8/layout/list1#1" loCatId="list" qsTypeId="urn:microsoft.com/office/officeart/2005/8/quickstyle/simple1#1" qsCatId="simple" csTypeId="urn:microsoft.com/office/officeart/2005/8/colors/accent1_3#1" csCatId="accent1" phldr="1"/>
      <dgm:spPr/>
      <dgm:t>
        <a:bodyPr/>
        <a:lstStyle/>
        <a:p>
          <a:endParaRPr lang="en-US"/>
        </a:p>
      </dgm:t>
    </dgm:pt>
    <dgm:pt modelId="{305177C1-5909-4AE9-9519-CA12F3FD4B9C}" type="pres">
      <dgm:prSet presAssocID="{5F50006C-15D3-49BF-8563-D6471C231D0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FE5FC59C-13FC-45AE-B720-A5FE24A23BA0}" type="presOf" srcId="{5F50006C-15D3-49BF-8563-D6471C231D09}" destId="{305177C1-5909-4AE9-9519-CA12F3FD4B9C}" srcOrd="0" destOrd="0" presId="urn:microsoft.com/office/officeart/2005/8/layout/list1#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07EF37-F1F9-4881-ABF1-1D5C2618225B}" type="doc">
      <dgm:prSet loTypeId="urn:microsoft.com/office/officeart/2005/8/layout/vList5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987371D5-6248-427E-B52C-42994470CBAB}">
      <dgm:prSet custT="1"/>
      <dgm:spPr/>
      <dgm:t>
        <a:bodyPr/>
        <a:lstStyle/>
        <a:p>
          <a:pPr rtl="0"/>
          <a:endParaRPr lang="en-US" sz="4000" b="1" dirty="0" smtClean="0"/>
        </a:p>
        <a:p>
          <a:pPr rtl="0"/>
          <a:r>
            <a:rPr lang="en-US" sz="4000" b="1" dirty="0" smtClean="0"/>
            <a:t>Introduction</a:t>
          </a:r>
          <a:br>
            <a:rPr lang="en-US" sz="4000" b="1" dirty="0" smtClean="0"/>
          </a:br>
          <a:endParaRPr lang="en-US" sz="4000" b="1" dirty="0"/>
        </a:p>
      </dgm:t>
    </dgm:pt>
    <dgm:pt modelId="{EF5661A5-E9D7-45B1-8EF5-D8CAFB92749A}" type="parTrans" cxnId="{7DAEFAE8-A15E-4A95-A477-B6EB0F96200A}">
      <dgm:prSet/>
      <dgm:spPr/>
      <dgm:t>
        <a:bodyPr/>
        <a:lstStyle/>
        <a:p>
          <a:endParaRPr lang="en-US" sz="4000" b="1"/>
        </a:p>
      </dgm:t>
    </dgm:pt>
    <dgm:pt modelId="{A549EA67-5E3C-4ED7-A690-7DC0C222B27B}" type="sibTrans" cxnId="{7DAEFAE8-A15E-4A95-A477-B6EB0F96200A}">
      <dgm:prSet/>
      <dgm:spPr/>
      <dgm:t>
        <a:bodyPr/>
        <a:lstStyle/>
        <a:p>
          <a:endParaRPr lang="en-US" sz="4000" b="1"/>
        </a:p>
      </dgm:t>
    </dgm:pt>
    <dgm:pt modelId="{82EDB635-7B2E-43E1-86C7-2CC874E9D645}" type="pres">
      <dgm:prSet presAssocID="{5F07EF37-F1F9-4881-ABF1-1D5C2618225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BB3237C-066B-4820-A7FF-91F91651CE73}" type="pres">
      <dgm:prSet presAssocID="{987371D5-6248-427E-B52C-42994470CBAB}" presName="linNode" presStyleCnt="0"/>
      <dgm:spPr/>
    </dgm:pt>
    <dgm:pt modelId="{234BC8B0-193C-4CDF-8943-56303F2B27AD}" type="pres">
      <dgm:prSet presAssocID="{987371D5-6248-427E-B52C-42994470CBAB}" presName="parentText" presStyleLbl="node1" presStyleIdx="0" presStyleCnt="1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332BAA6-883D-43C3-8073-8C5B1FDC920E}" type="presOf" srcId="{5F07EF37-F1F9-4881-ABF1-1D5C2618225B}" destId="{82EDB635-7B2E-43E1-86C7-2CC874E9D645}" srcOrd="0" destOrd="0" presId="urn:microsoft.com/office/officeart/2005/8/layout/vList5"/>
    <dgm:cxn modelId="{7DAEFAE8-A15E-4A95-A477-B6EB0F96200A}" srcId="{5F07EF37-F1F9-4881-ABF1-1D5C2618225B}" destId="{987371D5-6248-427E-B52C-42994470CBAB}" srcOrd="0" destOrd="0" parTransId="{EF5661A5-E9D7-45B1-8EF5-D8CAFB92749A}" sibTransId="{A549EA67-5E3C-4ED7-A690-7DC0C222B27B}"/>
    <dgm:cxn modelId="{61F86A51-1A01-4017-924C-81A1E952DBEE}" type="presOf" srcId="{987371D5-6248-427E-B52C-42994470CBAB}" destId="{234BC8B0-193C-4CDF-8943-56303F2B27AD}" srcOrd="0" destOrd="0" presId="urn:microsoft.com/office/officeart/2005/8/layout/vList5"/>
    <dgm:cxn modelId="{762FBBAD-A1B7-4374-A053-365D64603A5B}" type="presParOf" srcId="{82EDB635-7B2E-43E1-86C7-2CC874E9D645}" destId="{6BB3237C-066B-4820-A7FF-91F91651CE73}" srcOrd="0" destOrd="0" presId="urn:microsoft.com/office/officeart/2005/8/layout/vList5"/>
    <dgm:cxn modelId="{88F961DD-03D3-4485-BC90-B49E969DC235}" type="presParOf" srcId="{6BB3237C-066B-4820-A7FF-91F91651CE73}" destId="{234BC8B0-193C-4CDF-8943-56303F2B27AD}" srcOrd="0" destOrd="0" presId="urn:microsoft.com/office/officeart/2005/8/layout/vList5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55DAD8-CDD7-49CF-930D-B0BB1C21C11E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90FDAA0-5DEB-499B-9337-B086B8790F57}">
      <dgm:prSet/>
      <dgm:spPr/>
      <dgm:t>
        <a:bodyPr/>
        <a:lstStyle/>
        <a:p>
          <a:pPr rtl="0"/>
          <a:r>
            <a:rPr lang="en-US" b="1" dirty="0" smtClean="0"/>
            <a:t>Forms of Business (A Short Explanation)</a:t>
          </a:r>
          <a:endParaRPr lang="en-US" dirty="0"/>
        </a:p>
      </dgm:t>
    </dgm:pt>
    <dgm:pt modelId="{35289CA0-0A2C-4025-9A1F-A959792C6C15}" type="parTrans" cxnId="{7FB9FABC-C41B-4D5D-B16D-4AA031804BF4}">
      <dgm:prSet/>
      <dgm:spPr/>
      <dgm:t>
        <a:bodyPr/>
        <a:lstStyle/>
        <a:p>
          <a:endParaRPr lang="en-US"/>
        </a:p>
      </dgm:t>
    </dgm:pt>
    <dgm:pt modelId="{F73BC21D-2A18-4D09-AED2-D71CE59AC973}" type="sibTrans" cxnId="{7FB9FABC-C41B-4D5D-B16D-4AA031804BF4}">
      <dgm:prSet/>
      <dgm:spPr/>
      <dgm:t>
        <a:bodyPr/>
        <a:lstStyle/>
        <a:p>
          <a:endParaRPr lang="en-US"/>
        </a:p>
      </dgm:t>
    </dgm:pt>
    <dgm:pt modelId="{655CDAB6-9CB6-419C-9DB3-1C7DA9B9AC59}" type="pres">
      <dgm:prSet presAssocID="{0155DAD8-CDD7-49CF-930D-B0BB1C21C11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8ED0098-CE7C-4872-BBA3-AC24B82F9B6E}" type="pres">
      <dgm:prSet presAssocID="{590FDAA0-5DEB-499B-9337-B086B8790F57}" presName="linNode" presStyleCnt="0"/>
      <dgm:spPr/>
    </dgm:pt>
    <dgm:pt modelId="{E1D71A60-5A1C-4442-B53C-01CC10FDC563}" type="pres">
      <dgm:prSet presAssocID="{590FDAA0-5DEB-499B-9337-B086B8790F57}" presName="parentText" presStyleLbl="node1" presStyleIdx="0" presStyleCnt="1" custScaleX="277778" custLinFactNeighborX="-382" custLinFactNeighborY="5174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BED97EA-7A33-40AD-912F-276EBC0570FE}" type="presOf" srcId="{590FDAA0-5DEB-499B-9337-B086B8790F57}" destId="{E1D71A60-5A1C-4442-B53C-01CC10FDC563}" srcOrd="0" destOrd="0" presId="urn:microsoft.com/office/officeart/2005/8/layout/vList5"/>
    <dgm:cxn modelId="{7FB9FABC-C41B-4D5D-B16D-4AA031804BF4}" srcId="{0155DAD8-CDD7-49CF-930D-B0BB1C21C11E}" destId="{590FDAA0-5DEB-499B-9337-B086B8790F57}" srcOrd="0" destOrd="0" parTransId="{35289CA0-0A2C-4025-9A1F-A959792C6C15}" sibTransId="{F73BC21D-2A18-4D09-AED2-D71CE59AC973}"/>
    <dgm:cxn modelId="{5197E413-A935-495C-98A0-EC837098BD22}" type="presOf" srcId="{0155DAD8-CDD7-49CF-930D-B0BB1C21C11E}" destId="{655CDAB6-9CB6-419C-9DB3-1C7DA9B9AC59}" srcOrd="0" destOrd="0" presId="urn:microsoft.com/office/officeart/2005/8/layout/vList5"/>
    <dgm:cxn modelId="{B6EBDDD0-3100-40F6-86FB-5976EB8C528A}" type="presParOf" srcId="{655CDAB6-9CB6-419C-9DB3-1C7DA9B9AC59}" destId="{28ED0098-CE7C-4872-BBA3-AC24B82F9B6E}" srcOrd="0" destOrd="0" presId="urn:microsoft.com/office/officeart/2005/8/layout/vList5"/>
    <dgm:cxn modelId="{BCF1BC48-9068-4A2C-9FE4-363146BBBF39}" type="presParOf" srcId="{28ED0098-CE7C-4872-BBA3-AC24B82F9B6E}" destId="{E1D71A60-5A1C-4442-B53C-01CC10FDC563}" srcOrd="0" destOrd="0" presId="urn:microsoft.com/office/officeart/2005/8/layout/vList5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8C64E7-9E69-417C-AB2A-F423D16217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7ED60C-13E9-425D-9D89-E8713535413F}">
      <dgm:prSet custT="1"/>
      <dgm:spPr/>
      <dgm:t>
        <a:bodyPr/>
        <a:lstStyle/>
        <a:p>
          <a:pPr algn="ctr" rtl="0"/>
          <a:endParaRPr lang="en-US" sz="3600" b="1" dirty="0" smtClean="0"/>
        </a:p>
        <a:p>
          <a:pPr algn="ctr" rtl="0"/>
          <a:r>
            <a:rPr lang="en-US" sz="3600" b="1" dirty="0" smtClean="0"/>
            <a:t>The Concept of Small Business Development</a:t>
          </a:r>
          <a:br>
            <a:rPr lang="en-US" sz="3600" b="1" dirty="0" smtClean="0"/>
          </a:br>
          <a:endParaRPr lang="en-US" sz="3600" b="1" dirty="0"/>
        </a:p>
      </dgm:t>
    </dgm:pt>
    <dgm:pt modelId="{66E07B02-EDAF-4AEC-B3C2-818E4BC61B85}" type="parTrans" cxnId="{61824A2F-A0E7-4E31-9AA1-6BBDFF71E26F}">
      <dgm:prSet/>
      <dgm:spPr/>
      <dgm:t>
        <a:bodyPr/>
        <a:lstStyle/>
        <a:p>
          <a:endParaRPr lang="en-US" sz="3200"/>
        </a:p>
      </dgm:t>
    </dgm:pt>
    <dgm:pt modelId="{16C93F54-4DA9-44B7-830E-258250725CF6}" type="sibTrans" cxnId="{61824A2F-A0E7-4E31-9AA1-6BBDFF71E26F}">
      <dgm:prSet/>
      <dgm:spPr/>
      <dgm:t>
        <a:bodyPr/>
        <a:lstStyle/>
        <a:p>
          <a:endParaRPr lang="en-US" sz="3200"/>
        </a:p>
      </dgm:t>
    </dgm:pt>
    <dgm:pt modelId="{076AAB60-5AE1-4E24-85AE-03EB9D0C57D0}" type="pres">
      <dgm:prSet presAssocID="{718C64E7-9E69-417C-AB2A-F423D16217E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AEE70D7-CF87-465C-B77A-3061494ACFCC}" type="pres">
      <dgm:prSet presAssocID="{D47ED60C-13E9-425D-9D89-E8713535413F}" presName="parentText" presStyleLbl="node1" presStyleIdx="0" presStyleCnt="1" custLinFactNeighborX="862" custLinFactNeighborY="3269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1824A2F-A0E7-4E31-9AA1-6BBDFF71E26F}" srcId="{718C64E7-9E69-417C-AB2A-F423D16217E5}" destId="{D47ED60C-13E9-425D-9D89-E8713535413F}" srcOrd="0" destOrd="0" parTransId="{66E07B02-EDAF-4AEC-B3C2-818E4BC61B85}" sibTransId="{16C93F54-4DA9-44B7-830E-258250725CF6}"/>
    <dgm:cxn modelId="{4C3240C8-5D26-49D7-85FE-79D46EE20A1D}" type="presOf" srcId="{718C64E7-9E69-417C-AB2A-F423D16217E5}" destId="{076AAB60-5AE1-4E24-85AE-03EB9D0C57D0}" srcOrd="0" destOrd="0" presId="urn:microsoft.com/office/officeart/2005/8/layout/vList2"/>
    <dgm:cxn modelId="{A1AED493-D190-46C7-A16A-73960DAD5BD2}" type="presOf" srcId="{D47ED60C-13E9-425D-9D89-E8713535413F}" destId="{CAEE70D7-CF87-465C-B77A-3061494ACFCC}" srcOrd="0" destOrd="0" presId="urn:microsoft.com/office/officeart/2005/8/layout/vList2"/>
    <dgm:cxn modelId="{FB0726EE-F2B4-42A4-B651-C7CFA5B76A09}" type="presParOf" srcId="{076AAB60-5AE1-4E24-85AE-03EB9D0C57D0}" destId="{CAEE70D7-CF87-465C-B77A-3061494ACFCC}" srcOrd="0" destOrd="0" presId="urn:microsoft.com/office/officeart/2005/8/layout/vList2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CCA33E-53B6-4042-B2A4-87055D9325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8AF112-079D-491B-9E31-D5692774127E}">
      <dgm:prSet custT="1"/>
      <dgm:spPr/>
      <dgm:t>
        <a:bodyPr/>
        <a:lstStyle/>
        <a:p>
          <a:pPr algn="ctr" rtl="0"/>
          <a:endParaRPr lang="en-US" sz="3600" b="1" dirty="0" smtClean="0"/>
        </a:p>
        <a:p>
          <a:pPr algn="ctr" rtl="0"/>
          <a:r>
            <a:rPr lang="en-US" sz="3600" b="1" dirty="0" smtClean="0"/>
            <a:t>Definition of MSEs </a:t>
          </a:r>
          <a:br>
            <a:rPr lang="en-US" sz="3600" b="1" dirty="0" smtClean="0"/>
          </a:br>
          <a:endParaRPr lang="en-US" sz="3600" dirty="0"/>
        </a:p>
      </dgm:t>
    </dgm:pt>
    <dgm:pt modelId="{3DB241EF-7D0A-4CFB-9C51-84AABC3951C5}" type="parTrans" cxnId="{AC692B9F-7D4B-4C70-88B3-7DCF3F4D0DED}">
      <dgm:prSet/>
      <dgm:spPr/>
      <dgm:t>
        <a:bodyPr/>
        <a:lstStyle/>
        <a:p>
          <a:pPr algn="ctr"/>
          <a:endParaRPr lang="en-US" sz="3600"/>
        </a:p>
      </dgm:t>
    </dgm:pt>
    <dgm:pt modelId="{138596D9-A91E-486C-BE9F-A877E734C9B0}" type="sibTrans" cxnId="{AC692B9F-7D4B-4C70-88B3-7DCF3F4D0DED}">
      <dgm:prSet/>
      <dgm:spPr/>
      <dgm:t>
        <a:bodyPr/>
        <a:lstStyle/>
        <a:p>
          <a:pPr algn="ctr"/>
          <a:endParaRPr lang="en-US" sz="3600"/>
        </a:p>
      </dgm:t>
    </dgm:pt>
    <dgm:pt modelId="{F43723A7-4FE2-4B1E-9C85-C6D8A33DE340}" type="pres">
      <dgm:prSet presAssocID="{73CCA33E-53B6-4042-B2A4-87055D9325C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4C1FD58-092F-4581-BCA0-49CCC3AFB2E1}" type="pres">
      <dgm:prSet presAssocID="{F98AF112-079D-491B-9E31-D5692774127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243A2F-2F76-4F5B-9094-102A4F9E3966}" type="presOf" srcId="{73CCA33E-53B6-4042-B2A4-87055D9325C4}" destId="{F43723A7-4FE2-4B1E-9C85-C6D8A33DE340}" srcOrd="0" destOrd="0" presId="urn:microsoft.com/office/officeart/2005/8/layout/vList2"/>
    <dgm:cxn modelId="{0ABBD302-7FEF-48A0-999B-CD239A8DB6B7}" type="presOf" srcId="{F98AF112-079D-491B-9E31-D5692774127E}" destId="{34C1FD58-092F-4581-BCA0-49CCC3AFB2E1}" srcOrd="0" destOrd="0" presId="urn:microsoft.com/office/officeart/2005/8/layout/vList2"/>
    <dgm:cxn modelId="{AC692B9F-7D4B-4C70-88B3-7DCF3F4D0DED}" srcId="{73CCA33E-53B6-4042-B2A4-87055D9325C4}" destId="{F98AF112-079D-491B-9E31-D5692774127E}" srcOrd="0" destOrd="0" parTransId="{3DB241EF-7D0A-4CFB-9C51-84AABC3951C5}" sibTransId="{138596D9-A91E-486C-BE9F-A877E734C9B0}"/>
    <dgm:cxn modelId="{3DEC890A-D3A7-4CC6-B585-1EA264B54383}" type="presParOf" srcId="{F43723A7-4FE2-4B1E-9C85-C6D8A33DE340}" destId="{34C1FD58-092F-4581-BCA0-49CCC3AFB2E1}" srcOrd="0" destOrd="0" presId="urn:microsoft.com/office/officeart/2005/8/layout/vList2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19B3D24-EF18-40DF-A48A-2ECFC082ECD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A9F64E-2B19-48B6-A568-17A1923B6826}">
      <dgm:prSet custT="1"/>
      <dgm:spPr/>
      <dgm:t>
        <a:bodyPr/>
        <a:lstStyle/>
        <a:p>
          <a:pPr rtl="0"/>
          <a:r>
            <a:rPr lang="en-US" sz="3600" b="1" dirty="0" smtClean="0"/>
            <a:t>INTRODUCTION</a:t>
          </a:r>
          <a:endParaRPr lang="en-US" sz="3600" b="1" dirty="0"/>
        </a:p>
      </dgm:t>
    </dgm:pt>
    <dgm:pt modelId="{84A50669-DB31-47E6-8FE0-9166CE263E8F}" type="parTrans" cxnId="{A772354B-190C-43AC-8A12-717247BE6FC4}">
      <dgm:prSet/>
      <dgm:spPr/>
      <dgm:t>
        <a:bodyPr/>
        <a:lstStyle/>
        <a:p>
          <a:endParaRPr lang="en-US"/>
        </a:p>
      </dgm:t>
    </dgm:pt>
    <dgm:pt modelId="{302F7CB6-26FA-40B1-9C14-C075077037D4}" type="sibTrans" cxnId="{A772354B-190C-43AC-8A12-717247BE6FC4}">
      <dgm:prSet/>
      <dgm:spPr/>
      <dgm:t>
        <a:bodyPr/>
        <a:lstStyle/>
        <a:p>
          <a:endParaRPr lang="en-US"/>
        </a:p>
      </dgm:t>
    </dgm:pt>
    <dgm:pt modelId="{F088F947-5400-4426-9C6A-D329351AFA60}" type="pres">
      <dgm:prSet presAssocID="{F19B3D24-EF18-40DF-A48A-2ECFC082ECD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950D2CA-05B4-47D8-A4B6-1911D28B3CF7}" type="pres">
      <dgm:prSet presAssocID="{D0A9F64E-2B19-48B6-A568-17A1923B6826}" presName="linNode" presStyleCnt="0"/>
      <dgm:spPr/>
    </dgm:pt>
    <dgm:pt modelId="{06939332-542D-4817-9A01-625B23B7AEA9}" type="pres">
      <dgm:prSet presAssocID="{D0A9F64E-2B19-48B6-A568-17A1923B6826}" presName="parentText" presStyleLbl="node1" presStyleIdx="0" presStyleCnt="1" custScaleX="272634" custLinFactNeighborX="798" custLinFactNeighborY="7421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772354B-190C-43AC-8A12-717247BE6FC4}" srcId="{F19B3D24-EF18-40DF-A48A-2ECFC082ECDE}" destId="{D0A9F64E-2B19-48B6-A568-17A1923B6826}" srcOrd="0" destOrd="0" parTransId="{84A50669-DB31-47E6-8FE0-9166CE263E8F}" sibTransId="{302F7CB6-26FA-40B1-9C14-C075077037D4}"/>
    <dgm:cxn modelId="{DD1EF7D4-160C-4318-AB1F-E430B8D455AA}" type="presOf" srcId="{D0A9F64E-2B19-48B6-A568-17A1923B6826}" destId="{06939332-542D-4817-9A01-625B23B7AEA9}" srcOrd="0" destOrd="0" presId="urn:microsoft.com/office/officeart/2005/8/layout/vList5"/>
    <dgm:cxn modelId="{93E9FC48-C7AF-4669-B86C-F1FE2EEEDF7D}" type="presOf" srcId="{F19B3D24-EF18-40DF-A48A-2ECFC082ECDE}" destId="{F088F947-5400-4426-9C6A-D329351AFA60}" srcOrd="0" destOrd="0" presId="urn:microsoft.com/office/officeart/2005/8/layout/vList5"/>
    <dgm:cxn modelId="{CB4DE832-E7D0-4F8F-95D5-FF8EA0F6FDFF}" type="presParOf" srcId="{F088F947-5400-4426-9C6A-D329351AFA60}" destId="{C950D2CA-05B4-47D8-A4B6-1911D28B3CF7}" srcOrd="0" destOrd="0" presId="urn:microsoft.com/office/officeart/2005/8/layout/vList5"/>
    <dgm:cxn modelId="{D8627E48-8494-4E96-8199-0EC380FA93AE}" type="presParOf" srcId="{C950D2CA-05B4-47D8-A4B6-1911D28B3CF7}" destId="{06939332-542D-4817-9A01-625B23B7AEA9}" srcOrd="0" destOrd="0" presId="urn:microsoft.com/office/officeart/2005/8/layout/vList5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87ADD46-3F12-40B1-A24A-D56DE3594A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08C3812-7676-448F-B281-B3A4C9A9A51E}">
      <dgm:prSet custT="1"/>
      <dgm:spPr/>
      <dgm:t>
        <a:bodyPr/>
        <a:lstStyle/>
        <a:p>
          <a:pPr rtl="0"/>
          <a:r>
            <a:rPr lang="en-US" sz="3600" b="1" dirty="0" smtClean="0"/>
            <a:t>Con….</a:t>
          </a:r>
          <a:endParaRPr lang="en-US" sz="3600" b="1" dirty="0"/>
        </a:p>
      </dgm:t>
    </dgm:pt>
    <dgm:pt modelId="{F9D93A33-C9FC-4FE1-9887-68B779B3118C}" type="parTrans" cxnId="{D3CF24B2-0430-435C-8219-6A43702D94EE}">
      <dgm:prSet/>
      <dgm:spPr/>
      <dgm:t>
        <a:bodyPr/>
        <a:lstStyle/>
        <a:p>
          <a:endParaRPr lang="en-US"/>
        </a:p>
      </dgm:t>
    </dgm:pt>
    <dgm:pt modelId="{D094C943-F75F-4422-BAAA-9F1AEDA739CE}" type="sibTrans" cxnId="{D3CF24B2-0430-435C-8219-6A43702D94EE}">
      <dgm:prSet/>
      <dgm:spPr/>
      <dgm:t>
        <a:bodyPr/>
        <a:lstStyle/>
        <a:p>
          <a:endParaRPr lang="en-US"/>
        </a:p>
      </dgm:t>
    </dgm:pt>
    <dgm:pt modelId="{711A83CF-CDE4-40C7-8422-EC7DAC75879D}" type="pres">
      <dgm:prSet presAssocID="{987ADD46-3F12-40B1-A24A-D56DE3594A7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B71A304-11A4-4EA6-962B-4982759F9E48}" type="pres">
      <dgm:prSet presAssocID="{508C3812-7676-448F-B281-B3A4C9A9A51E}" presName="parentText" presStyleLbl="node1" presStyleIdx="0" presStyleCnt="1" custLinFactNeighborY="3221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0D3ACE-060C-41BF-A256-3D8610C774A9}" type="presOf" srcId="{508C3812-7676-448F-B281-B3A4C9A9A51E}" destId="{DB71A304-11A4-4EA6-962B-4982759F9E48}" srcOrd="0" destOrd="0" presId="urn:microsoft.com/office/officeart/2005/8/layout/vList2"/>
    <dgm:cxn modelId="{D3CF24B2-0430-435C-8219-6A43702D94EE}" srcId="{987ADD46-3F12-40B1-A24A-D56DE3594A75}" destId="{508C3812-7676-448F-B281-B3A4C9A9A51E}" srcOrd="0" destOrd="0" parTransId="{F9D93A33-C9FC-4FE1-9887-68B779B3118C}" sibTransId="{D094C943-F75F-4422-BAAA-9F1AEDA739CE}"/>
    <dgm:cxn modelId="{D980DDED-5BF3-4AB6-9350-88DDB5E7E543}" type="presOf" srcId="{987ADD46-3F12-40B1-A24A-D56DE3594A75}" destId="{711A83CF-CDE4-40C7-8422-EC7DAC75879D}" srcOrd="0" destOrd="0" presId="urn:microsoft.com/office/officeart/2005/8/layout/vList2"/>
    <dgm:cxn modelId="{5CF32821-254D-4A5A-932A-7259F1BCA08D}" type="presParOf" srcId="{711A83CF-CDE4-40C7-8422-EC7DAC75879D}" destId="{DB71A304-11A4-4EA6-962B-4982759F9E48}" srcOrd="0" destOrd="0" presId="urn:microsoft.com/office/officeart/2005/8/layout/vList2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77FD645-7C9D-48F1-BFB8-ACED7EA75500}" type="doc">
      <dgm:prSet loTypeId="urn:microsoft.com/office/officeart/2005/8/layout/vList2" loCatId="list" qsTypeId="urn:microsoft.com/office/officeart/2005/8/quickstyle/simple2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8AB32303-63EB-4E43-BB9E-F628D062DBD8}">
      <dgm:prSet custT="1"/>
      <dgm:spPr/>
      <dgm:t>
        <a:bodyPr/>
        <a:lstStyle/>
        <a:p>
          <a:pPr algn="ctr" rtl="0"/>
          <a:r>
            <a:rPr lang="en-US" sz="3600" b="1" dirty="0" smtClean="0"/>
            <a:t>The Concept of Product/Service </a:t>
          </a:r>
          <a:endParaRPr lang="en-US" sz="3600" dirty="0"/>
        </a:p>
      </dgm:t>
    </dgm:pt>
    <dgm:pt modelId="{85853196-DB0B-4CBE-962B-D45466D98528}" type="parTrans" cxnId="{87C7EAFD-2F73-46F1-9F6A-AE9F9A359362}">
      <dgm:prSet/>
      <dgm:spPr/>
      <dgm:t>
        <a:bodyPr/>
        <a:lstStyle/>
        <a:p>
          <a:pPr algn="ctr"/>
          <a:endParaRPr lang="en-US" sz="3600"/>
        </a:p>
      </dgm:t>
    </dgm:pt>
    <dgm:pt modelId="{781B5DCB-FFAE-4FF9-B41C-27B08B75BCCA}" type="sibTrans" cxnId="{87C7EAFD-2F73-46F1-9F6A-AE9F9A359362}">
      <dgm:prSet/>
      <dgm:spPr/>
      <dgm:t>
        <a:bodyPr/>
        <a:lstStyle/>
        <a:p>
          <a:pPr algn="ctr"/>
          <a:endParaRPr lang="en-US" sz="3600"/>
        </a:p>
      </dgm:t>
    </dgm:pt>
    <dgm:pt modelId="{463E0F8F-31F0-488B-AF72-614D04847092}" type="pres">
      <dgm:prSet presAssocID="{D77FD645-7C9D-48F1-BFB8-ACED7EA7550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487B04-CF55-4060-805D-70183C1B09EE}" type="pres">
      <dgm:prSet presAssocID="{8AB32303-63EB-4E43-BB9E-F628D062DBD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7C7EAFD-2F73-46F1-9F6A-AE9F9A359362}" srcId="{D77FD645-7C9D-48F1-BFB8-ACED7EA75500}" destId="{8AB32303-63EB-4E43-BB9E-F628D062DBD8}" srcOrd="0" destOrd="0" parTransId="{85853196-DB0B-4CBE-962B-D45466D98528}" sibTransId="{781B5DCB-FFAE-4FF9-B41C-27B08B75BCCA}"/>
    <dgm:cxn modelId="{76160125-580A-4A8B-BA27-F3BBA3045FDD}" type="presOf" srcId="{8AB32303-63EB-4E43-BB9E-F628D062DBD8}" destId="{59487B04-CF55-4060-805D-70183C1B09EE}" srcOrd="0" destOrd="0" presId="urn:microsoft.com/office/officeart/2005/8/layout/vList2"/>
    <dgm:cxn modelId="{879CE8CA-65F8-4568-A6D1-F47A73D3AD78}" type="presOf" srcId="{D77FD645-7C9D-48F1-BFB8-ACED7EA75500}" destId="{463E0F8F-31F0-488B-AF72-614D04847092}" srcOrd="0" destOrd="0" presId="urn:microsoft.com/office/officeart/2005/8/layout/vList2"/>
    <dgm:cxn modelId="{0D37E7D0-599B-4018-ADC3-6C425EEEBB8A}" type="presParOf" srcId="{463E0F8F-31F0-488B-AF72-614D04847092}" destId="{59487B04-CF55-4060-805D-70183C1B09EE}" srcOrd="0" destOrd="0" presId="urn:microsoft.com/office/officeart/2005/8/layout/vList2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E341417-AEC1-4966-B3B3-CF805C723F25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5E76053-AE79-4443-806B-474BBB313BBD}">
      <dgm:prSet custT="1"/>
      <dgm:spPr/>
      <dgm:t>
        <a:bodyPr/>
        <a:lstStyle/>
        <a:p>
          <a:pPr rtl="0"/>
          <a:endParaRPr lang="en-US" sz="3600" b="1" dirty="0" smtClean="0"/>
        </a:p>
        <a:p>
          <a:pPr rtl="0"/>
          <a:r>
            <a:rPr lang="en-US" sz="3600" b="1" dirty="0" smtClean="0"/>
            <a:t>Product/Service Development Process</a:t>
          </a:r>
          <a:r>
            <a:rPr lang="en-US" sz="3600" dirty="0" smtClean="0"/>
            <a:t/>
          </a:r>
          <a:br>
            <a:rPr lang="en-US" sz="3600" dirty="0" smtClean="0"/>
          </a:br>
          <a:endParaRPr lang="en-US" sz="3600" dirty="0"/>
        </a:p>
      </dgm:t>
    </dgm:pt>
    <dgm:pt modelId="{793D68B9-9F38-46EF-908C-FE598F994FDB}" type="parTrans" cxnId="{5D5D924F-AA5B-4C7F-8505-06731C22A5F8}">
      <dgm:prSet/>
      <dgm:spPr/>
      <dgm:t>
        <a:bodyPr/>
        <a:lstStyle/>
        <a:p>
          <a:endParaRPr lang="en-US" sz="3600"/>
        </a:p>
      </dgm:t>
    </dgm:pt>
    <dgm:pt modelId="{698D2D15-0D83-407B-A877-5B941036BA73}" type="sibTrans" cxnId="{5D5D924F-AA5B-4C7F-8505-06731C22A5F8}">
      <dgm:prSet/>
      <dgm:spPr/>
      <dgm:t>
        <a:bodyPr/>
        <a:lstStyle/>
        <a:p>
          <a:endParaRPr lang="en-US" sz="3600"/>
        </a:p>
      </dgm:t>
    </dgm:pt>
    <dgm:pt modelId="{C660BDBB-703E-47D5-8669-A70C6B63D97E}" type="pres">
      <dgm:prSet presAssocID="{AE341417-AEC1-4966-B3B3-CF805C723F2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63C294-B863-48A4-ABF7-A92F42987C87}" type="pres">
      <dgm:prSet presAssocID="{55E76053-AE79-4443-806B-474BBB313BBD}" presName="linNode" presStyleCnt="0"/>
      <dgm:spPr/>
    </dgm:pt>
    <dgm:pt modelId="{FCF927B1-8CF4-41FE-B171-57F40CC73EA9}" type="pres">
      <dgm:prSet presAssocID="{55E76053-AE79-4443-806B-474BBB313BBD}" presName="parentText" presStyleLbl="node1" presStyleIdx="0" presStyleCnt="1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D5D924F-AA5B-4C7F-8505-06731C22A5F8}" srcId="{AE341417-AEC1-4966-B3B3-CF805C723F25}" destId="{55E76053-AE79-4443-806B-474BBB313BBD}" srcOrd="0" destOrd="0" parTransId="{793D68B9-9F38-46EF-908C-FE598F994FDB}" sibTransId="{698D2D15-0D83-407B-A877-5B941036BA73}"/>
    <dgm:cxn modelId="{CFB155F4-B0A3-413E-9F35-05F419484FFA}" type="presOf" srcId="{55E76053-AE79-4443-806B-474BBB313BBD}" destId="{FCF927B1-8CF4-41FE-B171-57F40CC73EA9}" srcOrd="0" destOrd="0" presId="urn:microsoft.com/office/officeart/2005/8/layout/vList5"/>
    <dgm:cxn modelId="{24B09D9F-7A9A-42FE-905B-5889E4350D43}" type="presOf" srcId="{AE341417-AEC1-4966-B3B3-CF805C723F25}" destId="{C660BDBB-703E-47D5-8669-A70C6B63D97E}" srcOrd="0" destOrd="0" presId="urn:microsoft.com/office/officeart/2005/8/layout/vList5"/>
    <dgm:cxn modelId="{8FF06C81-5EA7-4443-9D90-44572DC69790}" type="presParOf" srcId="{C660BDBB-703E-47D5-8669-A70C6B63D97E}" destId="{A263C294-B863-48A4-ABF7-A92F42987C87}" srcOrd="0" destOrd="0" presId="urn:microsoft.com/office/officeart/2005/8/layout/vList5"/>
    <dgm:cxn modelId="{5DA02E4B-CF77-4E95-877B-D302C2D4D0CD}" type="presParOf" srcId="{A263C294-B863-48A4-ABF7-A92F42987C87}" destId="{FCF927B1-8CF4-41FE-B171-57F40CC73EA9}" srcOrd="0" destOrd="0" presId="urn:microsoft.com/office/officeart/2005/8/layout/vList5"/>
  </dgm:cxnLst>
  <dgm:bg/>
  <dgm:whole/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3D9802F-B23F-4BFD-A91E-3ABCF8F700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23ABE5-556B-4889-8852-1C9768662713}">
      <dgm:prSet custT="1"/>
      <dgm:spPr/>
      <dgm:t>
        <a:bodyPr/>
        <a:lstStyle/>
        <a:p>
          <a:pPr rtl="0"/>
          <a:r>
            <a:rPr lang="en-US" sz="3600" b="1" dirty="0" smtClean="0"/>
            <a:t>Con….</a:t>
          </a:r>
          <a:endParaRPr lang="en-US" sz="3600" b="1" dirty="0"/>
        </a:p>
      </dgm:t>
    </dgm:pt>
    <dgm:pt modelId="{C02EF377-FEB3-4539-A985-38D398FA25E6}" type="parTrans" cxnId="{D060E6D8-8F60-474B-B324-B55848672796}">
      <dgm:prSet/>
      <dgm:spPr/>
      <dgm:t>
        <a:bodyPr/>
        <a:lstStyle/>
        <a:p>
          <a:endParaRPr lang="en-US"/>
        </a:p>
      </dgm:t>
    </dgm:pt>
    <dgm:pt modelId="{322CC8DB-D3EB-4DB9-B160-6700E882E9A3}" type="sibTrans" cxnId="{D060E6D8-8F60-474B-B324-B55848672796}">
      <dgm:prSet/>
      <dgm:spPr/>
      <dgm:t>
        <a:bodyPr/>
        <a:lstStyle/>
        <a:p>
          <a:endParaRPr lang="en-US"/>
        </a:p>
      </dgm:t>
    </dgm:pt>
    <dgm:pt modelId="{586FAC03-7B2A-4CB3-B59F-6A9F1F297D2F}" type="pres">
      <dgm:prSet presAssocID="{73D9802F-B23F-4BFD-A91E-3ABCF8F7004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D6C0F68-5FF8-4F7C-BB8F-C1A858087E86}" type="pres">
      <dgm:prSet presAssocID="{9223ABE5-556B-4889-8852-1C9768662713}" presName="parentText" presStyleLbl="node1" presStyleIdx="0" presStyleCnt="1" custLinFactNeighborY="1149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00F591F-134F-4503-8B3E-4AB2F387EEBC}" type="presOf" srcId="{9223ABE5-556B-4889-8852-1C9768662713}" destId="{9D6C0F68-5FF8-4F7C-BB8F-C1A858087E86}" srcOrd="0" destOrd="0" presId="urn:microsoft.com/office/officeart/2005/8/layout/vList2"/>
    <dgm:cxn modelId="{0BED8425-F5D7-4527-8C2B-FE37EBEC2D52}" type="presOf" srcId="{73D9802F-B23F-4BFD-A91E-3ABCF8F7004C}" destId="{586FAC03-7B2A-4CB3-B59F-6A9F1F297D2F}" srcOrd="0" destOrd="0" presId="urn:microsoft.com/office/officeart/2005/8/layout/vList2"/>
    <dgm:cxn modelId="{D060E6D8-8F60-474B-B324-B55848672796}" srcId="{73D9802F-B23F-4BFD-A91E-3ABCF8F7004C}" destId="{9223ABE5-556B-4889-8852-1C9768662713}" srcOrd="0" destOrd="0" parTransId="{C02EF377-FEB3-4539-A985-38D398FA25E6}" sibTransId="{322CC8DB-D3EB-4DB9-B160-6700E882E9A3}"/>
    <dgm:cxn modelId="{6A66B715-BD39-4EE2-857B-14CBDC03E4BF}" type="presParOf" srcId="{586FAC03-7B2A-4CB3-B59F-6A9F1F297D2F}" destId="{9D6C0F68-5FF8-4F7C-BB8F-C1A858087E86}" srcOrd="0" destOrd="0" presId="urn:microsoft.com/office/officeart/2005/8/layout/vList2"/>
  </dgm:cxnLst>
  <dgm:bg/>
  <dgm:whole/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C207090-D7CD-4772-B9FF-74D33599E9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A32DD0-06A8-492B-A750-8D9D548509CF}">
      <dgm:prSet custT="1"/>
      <dgm:spPr/>
      <dgm:t>
        <a:bodyPr/>
        <a:lstStyle/>
        <a:p>
          <a:pPr rtl="0"/>
          <a:r>
            <a:rPr lang="en-US" sz="3600" b="1" dirty="0" smtClean="0"/>
            <a:t>Con….</a:t>
          </a:r>
          <a:endParaRPr lang="en-US" sz="3600" b="1" dirty="0"/>
        </a:p>
      </dgm:t>
    </dgm:pt>
    <dgm:pt modelId="{6CADDCB7-5B2F-47B6-AC98-893FDBFD5133}" type="parTrans" cxnId="{45AC03EF-FF5C-4425-9801-F37095E33719}">
      <dgm:prSet/>
      <dgm:spPr/>
      <dgm:t>
        <a:bodyPr/>
        <a:lstStyle/>
        <a:p>
          <a:endParaRPr lang="en-US"/>
        </a:p>
      </dgm:t>
    </dgm:pt>
    <dgm:pt modelId="{E69A01C4-C37A-41F3-808C-B0CAA4CA21D6}" type="sibTrans" cxnId="{45AC03EF-FF5C-4425-9801-F37095E33719}">
      <dgm:prSet/>
      <dgm:spPr/>
      <dgm:t>
        <a:bodyPr/>
        <a:lstStyle/>
        <a:p>
          <a:endParaRPr lang="en-US"/>
        </a:p>
      </dgm:t>
    </dgm:pt>
    <dgm:pt modelId="{3D438F54-3EE1-4E92-B42D-F7AC7DD3FD97}" type="pres">
      <dgm:prSet presAssocID="{BC207090-D7CD-4772-B9FF-74D33599E94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FCB11C2-54A3-4435-9BF5-B816E8A1DA90}" type="pres">
      <dgm:prSet presAssocID="{E0A32DD0-06A8-492B-A750-8D9D548509CF}" presName="parentText" presStyleLbl="node1" presStyleIdx="0" presStyleCnt="1" custScaleY="177795" custLinFactY="22737" custLinFactNeighborX="287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A4832A9-3574-4341-AF74-7C491979E720}" type="presOf" srcId="{BC207090-D7CD-4772-B9FF-74D33599E94C}" destId="{3D438F54-3EE1-4E92-B42D-F7AC7DD3FD97}" srcOrd="0" destOrd="0" presId="urn:microsoft.com/office/officeart/2005/8/layout/vList2"/>
    <dgm:cxn modelId="{3F6C5EE1-07A4-4D79-AE11-E8F5812D1AA9}" type="presOf" srcId="{E0A32DD0-06A8-492B-A750-8D9D548509CF}" destId="{1FCB11C2-54A3-4435-9BF5-B816E8A1DA90}" srcOrd="0" destOrd="0" presId="urn:microsoft.com/office/officeart/2005/8/layout/vList2"/>
    <dgm:cxn modelId="{45AC03EF-FF5C-4425-9801-F37095E33719}" srcId="{BC207090-D7CD-4772-B9FF-74D33599E94C}" destId="{E0A32DD0-06A8-492B-A750-8D9D548509CF}" srcOrd="0" destOrd="0" parTransId="{6CADDCB7-5B2F-47B6-AC98-893FDBFD5133}" sibTransId="{E69A01C4-C37A-41F3-808C-B0CAA4CA21D6}"/>
    <dgm:cxn modelId="{37D6C49E-EB05-400F-9D63-8844523D095C}" type="presParOf" srcId="{3D438F54-3EE1-4E92-B42D-F7AC7DD3FD97}" destId="{1FCB11C2-54A3-4435-9BF5-B816E8A1DA90}" srcOrd="0" destOrd="0" presId="urn:microsoft.com/office/officeart/2005/8/layout/vList2"/>
  </dgm:cxnLst>
  <dgm:bg/>
  <dgm:whole/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E29E6B3-2137-443D-AAFB-C79227FC50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6F5915-39B6-41E5-AD07-0156ED2C8D88}">
      <dgm:prSet custT="1"/>
      <dgm:spPr/>
      <dgm:t>
        <a:bodyPr/>
        <a:lstStyle/>
        <a:p>
          <a:pPr rtl="0"/>
          <a:r>
            <a:rPr lang="en-US" sz="3600" b="1" dirty="0" smtClean="0"/>
            <a:t>Con….</a:t>
          </a:r>
          <a:endParaRPr lang="en-US" sz="3600" b="1" dirty="0"/>
        </a:p>
      </dgm:t>
    </dgm:pt>
    <dgm:pt modelId="{443356E3-4CED-45A4-9E98-BBDACFA3FC71}" type="parTrans" cxnId="{E5305B4D-120E-4A46-BC76-4242911DEE4B}">
      <dgm:prSet/>
      <dgm:spPr/>
      <dgm:t>
        <a:bodyPr/>
        <a:lstStyle/>
        <a:p>
          <a:endParaRPr lang="en-US" sz="3200" b="1"/>
        </a:p>
      </dgm:t>
    </dgm:pt>
    <dgm:pt modelId="{E512BA31-E3C5-45DA-AF39-0ADBDA09F83B}" type="sibTrans" cxnId="{E5305B4D-120E-4A46-BC76-4242911DEE4B}">
      <dgm:prSet/>
      <dgm:spPr/>
      <dgm:t>
        <a:bodyPr/>
        <a:lstStyle/>
        <a:p>
          <a:endParaRPr lang="en-US" sz="3200" b="1"/>
        </a:p>
      </dgm:t>
    </dgm:pt>
    <dgm:pt modelId="{7F70F96E-3D26-4EDA-86E4-502C744E4151}" type="pres">
      <dgm:prSet presAssocID="{5E29E6B3-2137-443D-AAFB-C79227FC509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10EAFBD-1A3E-4545-B667-A0CB2DB02402}" type="pres">
      <dgm:prSet presAssocID="{E66F5915-39B6-41E5-AD07-0156ED2C8D88}" presName="parentText" presStyleLbl="node1" presStyleIdx="0" presStyleCnt="1" custLinFactNeighborX="2632" custLinFactNeighborY="5031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5B5483F-0851-422D-91F8-CD7EED1AF472}" type="presOf" srcId="{E66F5915-39B6-41E5-AD07-0156ED2C8D88}" destId="{510EAFBD-1A3E-4545-B667-A0CB2DB02402}" srcOrd="0" destOrd="0" presId="urn:microsoft.com/office/officeart/2005/8/layout/vList2"/>
    <dgm:cxn modelId="{E5305B4D-120E-4A46-BC76-4242911DEE4B}" srcId="{5E29E6B3-2137-443D-AAFB-C79227FC5097}" destId="{E66F5915-39B6-41E5-AD07-0156ED2C8D88}" srcOrd="0" destOrd="0" parTransId="{443356E3-4CED-45A4-9E98-BBDACFA3FC71}" sibTransId="{E512BA31-E3C5-45DA-AF39-0ADBDA09F83B}"/>
    <dgm:cxn modelId="{655332DE-BA84-4F05-95D1-0F4F4DFC8588}" type="presOf" srcId="{5E29E6B3-2137-443D-AAFB-C79227FC5097}" destId="{7F70F96E-3D26-4EDA-86E4-502C744E4151}" srcOrd="0" destOrd="0" presId="urn:microsoft.com/office/officeart/2005/8/layout/vList2"/>
    <dgm:cxn modelId="{B8E187C0-551E-4E8E-8437-18C18A35B94E}" type="presParOf" srcId="{7F70F96E-3D26-4EDA-86E4-502C744E4151}" destId="{510EAFBD-1A3E-4545-B667-A0CB2DB02402}" srcOrd="0" destOrd="0" presId="urn:microsoft.com/office/officeart/2005/8/layout/vList2"/>
  </dgm:cxnLst>
  <dgm:bg/>
  <dgm:whole/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E304E01-E04E-464A-B24D-BF460F43F1E1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8F36BE77-832E-443C-A5A1-C333B774DC77}">
      <dgm:prSet custT="1"/>
      <dgm:spPr/>
      <dgm:t>
        <a:bodyPr/>
        <a:lstStyle/>
        <a:p>
          <a:pPr rtl="0"/>
          <a:r>
            <a:rPr lang="en-US" sz="3600" b="1" dirty="0" smtClean="0"/>
            <a:t>Intellectual Property Protection</a:t>
          </a:r>
          <a:endParaRPr lang="en-US" sz="3600" dirty="0"/>
        </a:p>
      </dgm:t>
    </dgm:pt>
    <dgm:pt modelId="{C6353271-5FA3-4E0B-B9F2-40F80F9D889B}" type="parTrans" cxnId="{CEE3BEB7-01F3-43E2-BE1F-C4F9ED0B7673}">
      <dgm:prSet/>
      <dgm:spPr/>
      <dgm:t>
        <a:bodyPr/>
        <a:lstStyle/>
        <a:p>
          <a:endParaRPr lang="en-US"/>
        </a:p>
      </dgm:t>
    </dgm:pt>
    <dgm:pt modelId="{440045C8-0736-4072-95A3-C4E664FE5897}" type="sibTrans" cxnId="{CEE3BEB7-01F3-43E2-BE1F-C4F9ED0B7673}">
      <dgm:prSet/>
      <dgm:spPr/>
      <dgm:t>
        <a:bodyPr/>
        <a:lstStyle/>
        <a:p>
          <a:endParaRPr lang="en-US"/>
        </a:p>
      </dgm:t>
    </dgm:pt>
    <dgm:pt modelId="{4675D176-5AAA-40CE-B914-848A886ECA0D}" type="pres">
      <dgm:prSet presAssocID="{2E304E01-E04E-464A-B24D-BF460F43F1E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89EE586-F61F-4613-A664-ED3C1B529918}" type="pres">
      <dgm:prSet presAssocID="{8F36BE77-832E-443C-A5A1-C333B774DC77}" presName="linNode" presStyleCnt="0"/>
      <dgm:spPr/>
    </dgm:pt>
    <dgm:pt modelId="{FB98ADF9-5DD2-48D4-9EE0-D274783D3F02}" type="pres">
      <dgm:prSet presAssocID="{8F36BE77-832E-443C-A5A1-C333B774DC77}" presName="parentText" presStyleLbl="node1" presStyleIdx="0" presStyleCnt="1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EE3BEB7-01F3-43E2-BE1F-C4F9ED0B7673}" srcId="{2E304E01-E04E-464A-B24D-BF460F43F1E1}" destId="{8F36BE77-832E-443C-A5A1-C333B774DC77}" srcOrd="0" destOrd="0" parTransId="{C6353271-5FA3-4E0B-B9F2-40F80F9D889B}" sibTransId="{440045C8-0736-4072-95A3-C4E664FE5897}"/>
    <dgm:cxn modelId="{55540C70-ADF6-4062-ABEC-FDCA868444D1}" type="presOf" srcId="{2E304E01-E04E-464A-B24D-BF460F43F1E1}" destId="{4675D176-5AAA-40CE-B914-848A886ECA0D}" srcOrd="0" destOrd="0" presId="urn:microsoft.com/office/officeart/2005/8/layout/vList5"/>
    <dgm:cxn modelId="{4115D7F0-989E-4A6F-8AD4-03247DD3BC92}" type="presOf" srcId="{8F36BE77-832E-443C-A5A1-C333B774DC77}" destId="{FB98ADF9-5DD2-48D4-9EE0-D274783D3F02}" srcOrd="0" destOrd="0" presId="urn:microsoft.com/office/officeart/2005/8/layout/vList5"/>
    <dgm:cxn modelId="{37263EF7-A047-41B1-8F15-62623CB33146}" type="presParOf" srcId="{4675D176-5AAA-40CE-B914-848A886ECA0D}" destId="{289EE586-F61F-4613-A664-ED3C1B529918}" srcOrd="0" destOrd="0" presId="urn:microsoft.com/office/officeart/2005/8/layout/vList5"/>
    <dgm:cxn modelId="{CA06D6C7-6366-4B56-B999-7074A5D20204}" type="presParOf" srcId="{289EE586-F61F-4613-A664-ED3C1B529918}" destId="{FB98ADF9-5DD2-48D4-9EE0-D274783D3F02}" srcOrd="0" destOrd="0" presId="urn:microsoft.com/office/officeart/2005/8/layout/vList5"/>
  </dgm:cxnLst>
  <dgm:bg/>
  <dgm:whole/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48E1FFB-8274-45BE-8DE4-03793902AA5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682847-BBD0-4B9B-987A-F64259E1C783}">
      <dgm:prSet/>
      <dgm:spPr/>
      <dgm:t>
        <a:bodyPr/>
        <a:lstStyle/>
        <a:p>
          <a:pPr algn="l" rtl="0"/>
          <a:r>
            <a:rPr lang="en-US" b="1" dirty="0" smtClean="0"/>
            <a:t>1. Patents</a:t>
          </a:r>
          <a:endParaRPr lang="en-US" dirty="0"/>
        </a:p>
      </dgm:t>
    </dgm:pt>
    <dgm:pt modelId="{5FCC1DFC-8AE5-48C2-8504-F50FF4134385}" type="parTrans" cxnId="{95AB5802-6548-455F-972B-EF34A57B1E8B}">
      <dgm:prSet/>
      <dgm:spPr/>
      <dgm:t>
        <a:bodyPr/>
        <a:lstStyle/>
        <a:p>
          <a:endParaRPr lang="en-US"/>
        </a:p>
      </dgm:t>
    </dgm:pt>
    <dgm:pt modelId="{BBC86B0A-D9BC-4A37-BD81-44A7810C3334}" type="sibTrans" cxnId="{95AB5802-6548-455F-972B-EF34A57B1E8B}">
      <dgm:prSet/>
      <dgm:spPr/>
      <dgm:t>
        <a:bodyPr/>
        <a:lstStyle/>
        <a:p>
          <a:endParaRPr lang="en-US"/>
        </a:p>
      </dgm:t>
    </dgm:pt>
    <dgm:pt modelId="{DCA4ECAC-9428-4E4E-8357-BF9A9F740E4D}" type="pres">
      <dgm:prSet presAssocID="{548E1FFB-8274-45BE-8DE4-03793902AA5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EBFA2F-D3EF-4B75-ADBE-64B076194E58}" type="pres">
      <dgm:prSet presAssocID="{AA682847-BBD0-4B9B-987A-F64259E1C783}" presName="linNode" presStyleCnt="0"/>
      <dgm:spPr/>
    </dgm:pt>
    <dgm:pt modelId="{8C04993D-DCE8-4DFB-B8C6-FC172390244D}" type="pres">
      <dgm:prSet presAssocID="{AA682847-BBD0-4B9B-987A-F64259E1C783}" presName="parentText" presStyleLbl="node1" presStyleIdx="0" presStyleCnt="1" custScaleX="272634" custLinFactNeighborX="-1197" custLinFactNeighborY="8896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1FB17CE-77AD-4A5C-97BC-B70B291DC887}" type="presOf" srcId="{AA682847-BBD0-4B9B-987A-F64259E1C783}" destId="{8C04993D-DCE8-4DFB-B8C6-FC172390244D}" srcOrd="0" destOrd="0" presId="urn:microsoft.com/office/officeart/2005/8/layout/vList5"/>
    <dgm:cxn modelId="{95AB5802-6548-455F-972B-EF34A57B1E8B}" srcId="{548E1FFB-8274-45BE-8DE4-03793902AA50}" destId="{AA682847-BBD0-4B9B-987A-F64259E1C783}" srcOrd="0" destOrd="0" parTransId="{5FCC1DFC-8AE5-48C2-8504-F50FF4134385}" sibTransId="{BBC86B0A-D9BC-4A37-BD81-44A7810C3334}"/>
    <dgm:cxn modelId="{4D6BEA4A-AF89-41EC-BA00-711CDDF2E4B3}" type="presOf" srcId="{548E1FFB-8274-45BE-8DE4-03793902AA50}" destId="{DCA4ECAC-9428-4E4E-8357-BF9A9F740E4D}" srcOrd="0" destOrd="0" presId="urn:microsoft.com/office/officeart/2005/8/layout/vList5"/>
    <dgm:cxn modelId="{A5DACC64-047A-4700-88C1-73684B94B35F}" type="presParOf" srcId="{DCA4ECAC-9428-4E4E-8357-BF9A9F740E4D}" destId="{FAEBFA2F-D3EF-4B75-ADBE-64B076194E58}" srcOrd="0" destOrd="0" presId="urn:microsoft.com/office/officeart/2005/8/layout/vList5"/>
    <dgm:cxn modelId="{8B15D5A6-72D6-473A-A65D-8A0B75127FE4}" type="presParOf" srcId="{FAEBFA2F-D3EF-4B75-ADBE-64B076194E58}" destId="{8C04993D-DCE8-4DFB-B8C6-FC172390244D}" srcOrd="0" destOrd="0" presId="urn:microsoft.com/office/officeart/2005/8/layout/vList5"/>
  </dgm:cxnLst>
  <dgm:bg/>
  <dgm:whole/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0F12C10-8E0C-4DCE-B9C3-B29EAE5EB97E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178B5DF-D3AD-47B0-9799-63E036EBC80D}">
      <dgm:prSet custT="1"/>
      <dgm:spPr/>
      <dgm:t>
        <a:bodyPr/>
        <a:lstStyle/>
        <a:p>
          <a:pPr algn="l" rtl="0"/>
          <a:endParaRPr lang="en-US" sz="3600" b="1" dirty="0" smtClean="0"/>
        </a:p>
        <a:p>
          <a:pPr algn="l" rtl="0"/>
          <a:r>
            <a:rPr lang="en-US" sz="3600" b="1" dirty="0" smtClean="0"/>
            <a:t>What Can Be Patented Then?</a:t>
          </a:r>
          <a:r>
            <a:rPr lang="en-US" sz="3600" dirty="0" smtClean="0"/>
            <a:t/>
          </a:r>
          <a:br>
            <a:rPr lang="en-US" sz="3600" dirty="0" smtClean="0"/>
          </a:br>
          <a:endParaRPr lang="en-US" sz="3600" dirty="0"/>
        </a:p>
      </dgm:t>
    </dgm:pt>
    <dgm:pt modelId="{7A38D557-4320-41B4-84E0-B202D07F54B9}" type="parTrans" cxnId="{6F6F81EA-421A-4311-B34D-8F926AF741A2}">
      <dgm:prSet/>
      <dgm:spPr/>
      <dgm:t>
        <a:bodyPr/>
        <a:lstStyle/>
        <a:p>
          <a:pPr algn="l"/>
          <a:endParaRPr lang="en-US" sz="3600"/>
        </a:p>
      </dgm:t>
    </dgm:pt>
    <dgm:pt modelId="{F1181AFA-AE7A-4ED0-A74D-AFBAF099A8E3}" type="sibTrans" cxnId="{6F6F81EA-421A-4311-B34D-8F926AF741A2}">
      <dgm:prSet/>
      <dgm:spPr/>
      <dgm:t>
        <a:bodyPr/>
        <a:lstStyle/>
        <a:p>
          <a:pPr algn="l"/>
          <a:endParaRPr lang="en-US" sz="3600"/>
        </a:p>
      </dgm:t>
    </dgm:pt>
    <dgm:pt modelId="{6ABD1FB7-4AAD-40FA-A299-D2DC64105B73}" type="pres">
      <dgm:prSet presAssocID="{00F12C10-8E0C-4DCE-B9C3-B29EAE5EB97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92556D-70DF-4FDB-8B7B-A14A6E0282C9}" type="pres">
      <dgm:prSet presAssocID="{1178B5DF-D3AD-47B0-9799-63E036EBC80D}" presName="linNode" presStyleCnt="0"/>
      <dgm:spPr/>
    </dgm:pt>
    <dgm:pt modelId="{CF23F0CC-CF55-477D-8EE0-D34FDAAF79E0}" type="pres">
      <dgm:prSet presAssocID="{1178B5DF-D3AD-47B0-9799-63E036EBC80D}" presName="parentText" presStyleLbl="node1" presStyleIdx="0" presStyleCnt="1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4725822-2829-464B-B88C-417B03A13EC4}" type="presOf" srcId="{00F12C10-8E0C-4DCE-B9C3-B29EAE5EB97E}" destId="{6ABD1FB7-4AAD-40FA-A299-D2DC64105B73}" srcOrd="0" destOrd="0" presId="urn:microsoft.com/office/officeart/2005/8/layout/vList5"/>
    <dgm:cxn modelId="{434B717D-7076-4D98-88F1-4A3AAD595CD8}" type="presOf" srcId="{1178B5DF-D3AD-47B0-9799-63E036EBC80D}" destId="{CF23F0CC-CF55-477D-8EE0-D34FDAAF79E0}" srcOrd="0" destOrd="0" presId="urn:microsoft.com/office/officeart/2005/8/layout/vList5"/>
    <dgm:cxn modelId="{6F6F81EA-421A-4311-B34D-8F926AF741A2}" srcId="{00F12C10-8E0C-4DCE-B9C3-B29EAE5EB97E}" destId="{1178B5DF-D3AD-47B0-9799-63E036EBC80D}" srcOrd="0" destOrd="0" parTransId="{7A38D557-4320-41B4-84E0-B202D07F54B9}" sibTransId="{F1181AFA-AE7A-4ED0-A74D-AFBAF099A8E3}"/>
    <dgm:cxn modelId="{A2E45F9E-05D1-4AF7-B03B-D737A9AB05D9}" type="presParOf" srcId="{6ABD1FB7-4AAD-40FA-A299-D2DC64105B73}" destId="{4E92556D-70DF-4FDB-8B7B-A14A6E0282C9}" srcOrd="0" destOrd="0" presId="urn:microsoft.com/office/officeart/2005/8/layout/vList5"/>
    <dgm:cxn modelId="{E4CAEB93-D5D3-4085-BA7B-438E4CE17327}" type="presParOf" srcId="{4E92556D-70DF-4FDB-8B7B-A14A6E0282C9}" destId="{CF23F0CC-CF55-477D-8EE0-D34FDAAF79E0}" srcOrd="0" destOrd="0" presId="urn:microsoft.com/office/officeart/2005/8/layout/vList5"/>
  </dgm:cxnLst>
  <dgm:bg/>
  <dgm:whole/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7B33E49-1FAE-4A77-9D19-A6FFB96253BD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AC8D5AA-430E-44DF-B659-A2878255719D}">
      <dgm:prSet custT="1"/>
      <dgm:spPr/>
      <dgm:t>
        <a:bodyPr/>
        <a:lstStyle/>
        <a:p>
          <a:pPr algn="l" rtl="0"/>
          <a:endParaRPr lang="en-US" sz="3600" b="1" dirty="0" smtClean="0"/>
        </a:p>
        <a:p>
          <a:pPr algn="l" rtl="0"/>
          <a:r>
            <a:rPr lang="en-US" sz="3600" b="1" dirty="0" smtClean="0"/>
            <a:t>2. Trademarks</a:t>
          </a:r>
          <a:br>
            <a:rPr lang="en-US" sz="3600" b="1" dirty="0" smtClean="0"/>
          </a:br>
          <a:endParaRPr lang="en-US" sz="3600" b="1" dirty="0"/>
        </a:p>
      </dgm:t>
    </dgm:pt>
    <dgm:pt modelId="{BEBFAD85-47D6-4E87-962C-BBFE5EC7317E}" type="parTrans" cxnId="{6311600B-50FA-4FBF-AF7B-8E423134D1D9}">
      <dgm:prSet/>
      <dgm:spPr/>
      <dgm:t>
        <a:bodyPr/>
        <a:lstStyle/>
        <a:p>
          <a:pPr algn="l"/>
          <a:endParaRPr lang="en-US" sz="3600" b="1"/>
        </a:p>
      </dgm:t>
    </dgm:pt>
    <dgm:pt modelId="{6C596EA7-BBCE-43A3-A3B3-B323F6C5578C}" type="sibTrans" cxnId="{6311600B-50FA-4FBF-AF7B-8E423134D1D9}">
      <dgm:prSet/>
      <dgm:spPr/>
      <dgm:t>
        <a:bodyPr/>
        <a:lstStyle/>
        <a:p>
          <a:pPr algn="l"/>
          <a:endParaRPr lang="en-US" sz="3600" b="1"/>
        </a:p>
      </dgm:t>
    </dgm:pt>
    <dgm:pt modelId="{AED7E706-0050-4510-B23C-7ADA846C2ACD}" type="pres">
      <dgm:prSet presAssocID="{87B33E49-1FAE-4A77-9D19-A6FFB96253B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8B55679-2703-4097-9126-0B5DB5D92EF3}" type="pres">
      <dgm:prSet presAssocID="{0AC8D5AA-430E-44DF-B659-A2878255719D}" presName="linNode" presStyleCnt="0"/>
      <dgm:spPr/>
    </dgm:pt>
    <dgm:pt modelId="{96D73940-2566-496C-A5E0-46A8AC3B3003}" type="pres">
      <dgm:prSet presAssocID="{0AC8D5AA-430E-44DF-B659-A2878255719D}" presName="parentText" presStyleLbl="node1" presStyleIdx="0" presStyleCnt="1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C8281EA-E1E6-4004-8A09-1FF270A4A4C6}" type="presOf" srcId="{87B33E49-1FAE-4A77-9D19-A6FFB96253BD}" destId="{AED7E706-0050-4510-B23C-7ADA846C2ACD}" srcOrd="0" destOrd="0" presId="urn:microsoft.com/office/officeart/2005/8/layout/vList5"/>
    <dgm:cxn modelId="{6311600B-50FA-4FBF-AF7B-8E423134D1D9}" srcId="{87B33E49-1FAE-4A77-9D19-A6FFB96253BD}" destId="{0AC8D5AA-430E-44DF-B659-A2878255719D}" srcOrd="0" destOrd="0" parTransId="{BEBFAD85-47D6-4E87-962C-BBFE5EC7317E}" sibTransId="{6C596EA7-BBCE-43A3-A3B3-B323F6C5578C}"/>
    <dgm:cxn modelId="{90BD3F86-A400-4045-BF0A-D47D8FED4CE4}" type="presOf" srcId="{0AC8D5AA-430E-44DF-B659-A2878255719D}" destId="{96D73940-2566-496C-A5E0-46A8AC3B3003}" srcOrd="0" destOrd="0" presId="urn:microsoft.com/office/officeart/2005/8/layout/vList5"/>
    <dgm:cxn modelId="{E3038EBF-3209-4BCD-9D63-54104DD145A5}" type="presParOf" srcId="{AED7E706-0050-4510-B23C-7ADA846C2ACD}" destId="{48B55679-2703-4097-9126-0B5DB5D92EF3}" srcOrd="0" destOrd="0" presId="urn:microsoft.com/office/officeart/2005/8/layout/vList5"/>
    <dgm:cxn modelId="{0936F175-CBC8-4F6F-8E2D-A9FFA70FFA04}" type="presParOf" srcId="{48B55679-2703-4097-9126-0B5DB5D92EF3}" destId="{96D73940-2566-496C-A5E0-46A8AC3B3003}" srcOrd="0" destOrd="0" presId="urn:microsoft.com/office/officeart/2005/8/layout/vList5"/>
  </dgm:cxnLst>
  <dgm:bg/>
  <dgm:whole/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34BBF7E-8002-42DF-AB8B-492728973FC9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7047DED-B31B-4076-A1A2-502ADAFB8205}">
      <dgm:prSet custT="1"/>
      <dgm:spPr/>
      <dgm:t>
        <a:bodyPr/>
        <a:lstStyle/>
        <a:p>
          <a:pPr algn="l" rtl="0"/>
          <a:endParaRPr lang="en-US" sz="3600" b="1" dirty="0" smtClean="0"/>
        </a:p>
        <a:p>
          <a:pPr algn="l" rtl="0"/>
          <a:r>
            <a:rPr lang="en-US" sz="3600" b="1" dirty="0" smtClean="0"/>
            <a:t>3. Copyrights</a:t>
          </a:r>
          <a:r>
            <a:rPr lang="en-US" sz="3600" dirty="0" smtClean="0"/>
            <a:t/>
          </a:r>
          <a:br>
            <a:rPr lang="en-US" sz="3600" dirty="0" smtClean="0"/>
          </a:br>
          <a:endParaRPr lang="en-US" sz="3600" dirty="0"/>
        </a:p>
      </dgm:t>
    </dgm:pt>
    <dgm:pt modelId="{0858382B-5F9B-4D9F-B94E-A46C13D2F3E6}" type="parTrans" cxnId="{879153F4-5AB7-483D-8D23-E107CEA25E8F}">
      <dgm:prSet/>
      <dgm:spPr/>
      <dgm:t>
        <a:bodyPr/>
        <a:lstStyle/>
        <a:p>
          <a:pPr algn="l"/>
          <a:endParaRPr lang="en-US" sz="3600"/>
        </a:p>
      </dgm:t>
    </dgm:pt>
    <dgm:pt modelId="{F8F340FB-F483-4DB8-BAFB-4B9AB148ED58}" type="sibTrans" cxnId="{879153F4-5AB7-483D-8D23-E107CEA25E8F}">
      <dgm:prSet/>
      <dgm:spPr/>
      <dgm:t>
        <a:bodyPr/>
        <a:lstStyle/>
        <a:p>
          <a:pPr algn="l"/>
          <a:endParaRPr lang="en-US" sz="3600"/>
        </a:p>
      </dgm:t>
    </dgm:pt>
    <dgm:pt modelId="{31B99679-3403-41AF-A29B-51CB17B37EED}" type="pres">
      <dgm:prSet presAssocID="{C34BBF7E-8002-42DF-AB8B-492728973FC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2379E66-C828-4115-90E0-CE8041B0B2B4}" type="pres">
      <dgm:prSet presAssocID="{67047DED-B31B-4076-A1A2-502ADAFB8205}" presName="linNode" presStyleCnt="0"/>
      <dgm:spPr/>
    </dgm:pt>
    <dgm:pt modelId="{CD37B5BD-15E6-4F66-99DD-5A7B8B87B77F}" type="pres">
      <dgm:prSet presAssocID="{67047DED-B31B-4076-A1A2-502ADAFB8205}" presName="parentText" presStyleLbl="node1" presStyleIdx="0" presStyleCnt="1" custScaleX="27245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79153F4-5AB7-483D-8D23-E107CEA25E8F}" srcId="{C34BBF7E-8002-42DF-AB8B-492728973FC9}" destId="{67047DED-B31B-4076-A1A2-502ADAFB8205}" srcOrd="0" destOrd="0" parTransId="{0858382B-5F9B-4D9F-B94E-A46C13D2F3E6}" sibTransId="{F8F340FB-F483-4DB8-BAFB-4B9AB148ED58}"/>
    <dgm:cxn modelId="{D06EF08D-1562-4F15-A27F-6C28C2DDC558}" type="presOf" srcId="{C34BBF7E-8002-42DF-AB8B-492728973FC9}" destId="{31B99679-3403-41AF-A29B-51CB17B37EED}" srcOrd="0" destOrd="0" presId="urn:microsoft.com/office/officeart/2005/8/layout/vList5"/>
    <dgm:cxn modelId="{42599331-37E3-4879-A074-A6DBEEC74B7F}" type="presOf" srcId="{67047DED-B31B-4076-A1A2-502ADAFB8205}" destId="{CD37B5BD-15E6-4F66-99DD-5A7B8B87B77F}" srcOrd="0" destOrd="0" presId="urn:microsoft.com/office/officeart/2005/8/layout/vList5"/>
    <dgm:cxn modelId="{4858462E-51EF-4615-979C-7DC12DACEA5F}" type="presParOf" srcId="{31B99679-3403-41AF-A29B-51CB17B37EED}" destId="{12379E66-C828-4115-90E0-CE8041B0B2B4}" srcOrd="0" destOrd="0" presId="urn:microsoft.com/office/officeart/2005/8/layout/vList5"/>
    <dgm:cxn modelId="{4D5B3702-644E-4906-AB06-A85DECF1C4A2}" type="presParOf" srcId="{12379E66-C828-4115-90E0-CE8041B0B2B4}" destId="{CD37B5BD-15E6-4F66-99DD-5A7B8B87B77F}" srcOrd="0" destOrd="0" presId="urn:microsoft.com/office/officeart/2005/8/layout/vList5"/>
  </dgm:cxnLst>
  <dgm:bg/>
  <dgm:whole/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DC08864-42B5-4A13-AD4F-9ECCB7D4050B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ECC4DDF-0A52-414C-BEDD-4DBE8DBD3BD1}">
      <dgm:prSet/>
      <dgm:spPr/>
      <dgm:t>
        <a:bodyPr/>
        <a:lstStyle/>
        <a:p>
          <a:pPr rtl="0"/>
          <a:r>
            <a:rPr lang="en-US" b="1" dirty="0" smtClean="0"/>
            <a:t>The Intellectual Property System in Ethiopia</a:t>
          </a:r>
          <a:endParaRPr lang="en-US" dirty="0"/>
        </a:p>
      </dgm:t>
    </dgm:pt>
    <dgm:pt modelId="{2290E5A2-C483-49C8-8ED7-749F1026BAC5}" type="parTrans" cxnId="{3A6324D0-0734-4030-A919-E742F8DD33B3}">
      <dgm:prSet/>
      <dgm:spPr/>
      <dgm:t>
        <a:bodyPr/>
        <a:lstStyle/>
        <a:p>
          <a:endParaRPr lang="en-US"/>
        </a:p>
      </dgm:t>
    </dgm:pt>
    <dgm:pt modelId="{45590BD5-3C7E-4BCD-942F-DE4A9E2EA129}" type="sibTrans" cxnId="{3A6324D0-0734-4030-A919-E742F8DD33B3}">
      <dgm:prSet/>
      <dgm:spPr/>
      <dgm:t>
        <a:bodyPr/>
        <a:lstStyle/>
        <a:p>
          <a:endParaRPr lang="en-US"/>
        </a:p>
      </dgm:t>
    </dgm:pt>
    <dgm:pt modelId="{8EA0382D-3D1D-4401-9860-23FA1C56328E}" type="pres">
      <dgm:prSet presAssocID="{ADC08864-42B5-4A13-AD4F-9ECCB7D4050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91756D6-9A3C-4A94-8691-4CDDA46B959F}" type="pres">
      <dgm:prSet presAssocID="{1ECC4DDF-0A52-414C-BEDD-4DBE8DBD3BD1}" presName="linNode" presStyleCnt="0"/>
      <dgm:spPr/>
    </dgm:pt>
    <dgm:pt modelId="{525233B7-3319-4DCC-B39D-1AAC23808D51}" type="pres">
      <dgm:prSet presAssocID="{1ECC4DDF-0A52-414C-BEDD-4DBE8DBD3BD1}" presName="parentText" presStyleLbl="node1" presStyleIdx="0" presStyleCnt="1" custScaleX="277778" custLinFactNeighborX="399" custLinFactNeighborY="2275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5C000B7-57F6-492B-9317-EA643495E4F8}" type="presOf" srcId="{ADC08864-42B5-4A13-AD4F-9ECCB7D4050B}" destId="{8EA0382D-3D1D-4401-9860-23FA1C56328E}" srcOrd="0" destOrd="0" presId="urn:microsoft.com/office/officeart/2005/8/layout/vList5"/>
    <dgm:cxn modelId="{179D9BDA-E825-4AF0-A569-4353D0F5A9F1}" type="presOf" srcId="{1ECC4DDF-0A52-414C-BEDD-4DBE8DBD3BD1}" destId="{525233B7-3319-4DCC-B39D-1AAC23808D51}" srcOrd="0" destOrd="0" presId="urn:microsoft.com/office/officeart/2005/8/layout/vList5"/>
    <dgm:cxn modelId="{3A6324D0-0734-4030-A919-E742F8DD33B3}" srcId="{ADC08864-42B5-4A13-AD4F-9ECCB7D4050B}" destId="{1ECC4DDF-0A52-414C-BEDD-4DBE8DBD3BD1}" srcOrd="0" destOrd="0" parTransId="{2290E5A2-C483-49C8-8ED7-749F1026BAC5}" sibTransId="{45590BD5-3C7E-4BCD-942F-DE4A9E2EA129}"/>
    <dgm:cxn modelId="{B159A044-378B-49FB-A15A-8ACC8FECCFE2}" type="presParOf" srcId="{8EA0382D-3D1D-4401-9860-23FA1C56328E}" destId="{B91756D6-9A3C-4A94-8691-4CDDA46B959F}" srcOrd="0" destOrd="0" presId="urn:microsoft.com/office/officeart/2005/8/layout/vList5"/>
    <dgm:cxn modelId="{854D6B59-BCE0-44BA-91D6-F58341D22622}" type="presParOf" srcId="{B91756D6-9A3C-4A94-8691-4CDDA46B959F}" destId="{525233B7-3319-4DCC-B39D-1AAC23808D51}" srcOrd="0" destOrd="0" presId="urn:microsoft.com/office/officeart/2005/8/layout/vList5"/>
  </dgm:cxnLst>
  <dgm:bg/>
  <dgm:whole/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FFC15B3-9ED2-4DF9-8B15-0124C78648D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DC27F0-D975-4866-B3C6-C2D3D4C1672C}">
      <dgm:prSet custT="1"/>
      <dgm:spPr/>
      <dgm:t>
        <a:bodyPr/>
        <a:lstStyle/>
        <a:p>
          <a:pPr algn="l" rtl="0"/>
          <a:r>
            <a:rPr lang="en-US" sz="3600" b="1" dirty="0" smtClean="0"/>
            <a:t>Con….</a:t>
          </a:r>
          <a:endParaRPr lang="en-US" sz="3600" b="1" dirty="0"/>
        </a:p>
      </dgm:t>
    </dgm:pt>
    <dgm:pt modelId="{D260E5CA-AD53-4D48-AD34-BFD1E5AF82C0}" type="parTrans" cxnId="{7A578AE9-FF12-41B4-8144-568820A905DF}">
      <dgm:prSet/>
      <dgm:spPr/>
      <dgm:t>
        <a:bodyPr/>
        <a:lstStyle/>
        <a:p>
          <a:endParaRPr lang="en-US"/>
        </a:p>
      </dgm:t>
    </dgm:pt>
    <dgm:pt modelId="{D6635A60-9DC9-4D27-A96E-C70DE7790436}" type="sibTrans" cxnId="{7A578AE9-FF12-41B4-8144-568820A905DF}">
      <dgm:prSet/>
      <dgm:spPr/>
      <dgm:t>
        <a:bodyPr/>
        <a:lstStyle/>
        <a:p>
          <a:endParaRPr lang="en-US"/>
        </a:p>
      </dgm:t>
    </dgm:pt>
    <dgm:pt modelId="{6C5E59F9-FD8C-45DB-8724-43A4F025CD5A}" type="pres">
      <dgm:prSet presAssocID="{1FFC15B3-9ED2-4DF9-8B15-0124C78648D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9045537-5983-473E-B4F3-BF87CE166CC0}" type="pres">
      <dgm:prSet presAssocID="{64DC27F0-D975-4866-B3C6-C2D3D4C1672C}" presName="linNode" presStyleCnt="0"/>
      <dgm:spPr/>
    </dgm:pt>
    <dgm:pt modelId="{0B3367B9-A0B5-4D23-807B-9C262F7AAC40}" type="pres">
      <dgm:prSet presAssocID="{64DC27F0-D975-4866-B3C6-C2D3D4C1672C}" presName="parentText" presStyleLbl="node1" presStyleIdx="0" presStyleCnt="1" custScaleX="277778" custLinFactNeighborX="5193" custLinFactNeighborY="9060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B164826-3313-40D3-A4CB-CCF7380B1D9A}" type="presOf" srcId="{64DC27F0-D975-4866-B3C6-C2D3D4C1672C}" destId="{0B3367B9-A0B5-4D23-807B-9C262F7AAC40}" srcOrd="0" destOrd="0" presId="urn:microsoft.com/office/officeart/2005/8/layout/vList5"/>
    <dgm:cxn modelId="{B699BE38-C4D2-4F33-90A4-DD178554B2FC}" type="presOf" srcId="{1FFC15B3-9ED2-4DF9-8B15-0124C78648DC}" destId="{6C5E59F9-FD8C-45DB-8724-43A4F025CD5A}" srcOrd="0" destOrd="0" presId="urn:microsoft.com/office/officeart/2005/8/layout/vList5"/>
    <dgm:cxn modelId="{7A578AE9-FF12-41B4-8144-568820A905DF}" srcId="{1FFC15B3-9ED2-4DF9-8B15-0124C78648DC}" destId="{64DC27F0-D975-4866-B3C6-C2D3D4C1672C}" srcOrd="0" destOrd="0" parTransId="{D260E5CA-AD53-4D48-AD34-BFD1E5AF82C0}" sibTransId="{D6635A60-9DC9-4D27-A96E-C70DE7790436}"/>
    <dgm:cxn modelId="{DF540C3E-60FE-4103-915E-6C5B6747F196}" type="presParOf" srcId="{6C5E59F9-FD8C-45DB-8724-43A4F025CD5A}" destId="{69045537-5983-473E-B4F3-BF87CE166CC0}" srcOrd="0" destOrd="0" presId="urn:microsoft.com/office/officeart/2005/8/layout/vList5"/>
    <dgm:cxn modelId="{ABAE4AB3-8728-4760-B59B-BCF56475044D}" type="presParOf" srcId="{69045537-5983-473E-B4F3-BF87CE166CC0}" destId="{0B3367B9-A0B5-4D23-807B-9C262F7AAC40}" srcOrd="0" destOrd="0" presId="urn:microsoft.com/office/officeart/2005/8/layout/vList5"/>
  </dgm:cxnLst>
  <dgm:bg/>
  <dgm:whole/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0BAEFBB-8A2B-49FC-A065-5BABC357995A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F7BAE82-03C5-4390-A4A7-749CFA554771}">
      <dgm:prSet custT="1"/>
      <dgm:spPr/>
      <dgm:t>
        <a:bodyPr/>
        <a:lstStyle/>
        <a:p>
          <a:pPr algn="l" rtl="0"/>
          <a:r>
            <a:rPr lang="en-US" sz="3600" b="1" dirty="0" smtClean="0"/>
            <a:t>Patent proclamation</a:t>
          </a:r>
          <a:endParaRPr lang="en-US" sz="3600" b="1" dirty="0"/>
        </a:p>
      </dgm:t>
    </dgm:pt>
    <dgm:pt modelId="{56A72495-06AC-471D-AE25-3C0C7183D36A}" type="parTrans" cxnId="{31A65560-EE9D-429D-A59C-06730CDDD328}">
      <dgm:prSet/>
      <dgm:spPr/>
      <dgm:t>
        <a:bodyPr/>
        <a:lstStyle/>
        <a:p>
          <a:endParaRPr lang="en-US"/>
        </a:p>
      </dgm:t>
    </dgm:pt>
    <dgm:pt modelId="{3614A12B-1BD0-490E-B855-E12F38AE7B27}" type="sibTrans" cxnId="{31A65560-EE9D-429D-A59C-06730CDDD328}">
      <dgm:prSet/>
      <dgm:spPr/>
      <dgm:t>
        <a:bodyPr/>
        <a:lstStyle/>
        <a:p>
          <a:endParaRPr lang="en-US"/>
        </a:p>
      </dgm:t>
    </dgm:pt>
    <dgm:pt modelId="{2B7353CB-84CB-4AA7-888D-CEDED780981F}" type="pres">
      <dgm:prSet presAssocID="{00BAEFBB-8A2B-49FC-A065-5BABC357995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0FC6D80-713C-417F-BA6A-8C69F7D62597}" type="pres">
      <dgm:prSet presAssocID="{2F7BAE82-03C5-4390-A4A7-749CFA554771}" presName="linNode" presStyleCnt="0"/>
      <dgm:spPr/>
    </dgm:pt>
    <dgm:pt modelId="{4ACD66CD-D424-4219-BDC7-A4C05977FAFE}" type="pres">
      <dgm:prSet presAssocID="{2F7BAE82-03C5-4390-A4A7-749CFA554771}" presName="parentText" presStyleLbl="node1" presStyleIdx="0" presStyleCnt="1" custScaleX="277778" custLinFactNeighborX="399" custLinFactNeighborY="8965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F854273-6A7B-4A46-B3E7-78BC2A1AA45A}" type="presOf" srcId="{2F7BAE82-03C5-4390-A4A7-749CFA554771}" destId="{4ACD66CD-D424-4219-BDC7-A4C05977FAFE}" srcOrd="0" destOrd="0" presId="urn:microsoft.com/office/officeart/2005/8/layout/vList5"/>
    <dgm:cxn modelId="{31A65560-EE9D-429D-A59C-06730CDDD328}" srcId="{00BAEFBB-8A2B-49FC-A065-5BABC357995A}" destId="{2F7BAE82-03C5-4390-A4A7-749CFA554771}" srcOrd="0" destOrd="0" parTransId="{56A72495-06AC-471D-AE25-3C0C7183D36A}" sibTransId="{3614A12B-1BD0-490E-B855-E12F38AE7B27}"/>
    <dgm:cxn modelId="{7DF1647E-2E07-4DEE-B274-42082D037F02}" type="presOf" srcId="{00BAEFBB-8A2B-49FC-A065-5BABC357995A}" destId="{2B7353CB-84CB-4AA7-888D-CEDED780981F}" srcOrd="0" destOrd="0" presId="urn:microsoft.com/office/officeart/2005/8/layout/vList5"/>
    <dgm:cxn modelId="{4DA7EC52-7A7F-41C0-BD15-290A2FD23BC0}" type="presParOf" srcId="{2B7353CB-84CB-4AA7-888D-CEDED780981F}" destId="{40FC6D80-713C-417F-BA6A-8C69F7D62597}" srcOrd="0" destOrd="0" presId="urn:microsoft.com/office/officeart/2005/8/layout/vList5"/>
    <dgm:cxn modelId="{16CC1217-E667-4531-B87E-74D8E4DEEA99}" type="presParOf" srcId="{40FC6D80-713C-417F-BA6A-8C69F7D62597}" destId="{4ACD66CD-D424-4219-BDC7-A4C05977FAFE}" srcOrd="0" destOrd="0" presId="urn:microsoft.com/office/officeart/2005/8/layout/vList5"/>
  </dgm:cxnLst>
  <dgm:bg/>
  <dgm:whole/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6A43D34-CAAE-4488-B53E-4410730C67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0EB380-DDF2-4CF4-83AB-4E1E412229FF}">
      <dgm:prSet custT="1"/>
      <dgm:spPr/>
      <dgm:t>
        <a:bodyPr/>
        <a:lstStyle/>
        <a:p>
          <a:pPr rtl="0"/>
          <a:r>
            <a:rPr lang="en-US" sz="3600" b="1" dirty="0" smtClean="0"/>
            <a:t>Con….</a:t>
          </a:r>
          <a:endParaRPr lang="en-US" sz="3600" b="1" dirty="0"/>
        </a:p>
      </dgm:t>
    </dgm:pt>
    <dgm:pt modelId="{D2A0FCF3-EB2A-453B-A6EE-036B3E86D98B}" type="parTrans" cxnId="{343F89FB-F131-4724-A0A4-4D3BC71501A0}">
      <dgm:prSet/>
      <dgm:spPr/>
      <dgm:t>
        <a:bodyPr/>
        <a:lstStyle/>
        <a:p>
          <a:endParaRPr lang="en-US"/>
        </a:p>
      </dgm:t>
    </dgm:pt>
    <dgm:pt modelId="{DC9E1291-D56E-4C91-9D8F-7C76DC95D5D0}" type="sibTrans" cxnId="{343F89FB-F131-4724-A0A4-4D3BC71501A0}">
      <dgm:prSet/>
      <dgm:spPr/>
      <dgm:t>
        <a:bodyPr/>
        <a:lstStyle/>
        <a:p>
          <a:endParaRPr lang="en-US"/>
        </a:p>
      </dgm:t>
    </dgm:pt>
    <dgm:pt modelId="{338D5C5E-DDBB-4FCD-AF13-55F7BF0291DC}" type="pres">
      <dgm:prSet presAssocID="{06A43D34-CAAE-4488-B53E-4410730C67E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5EDC479-D82C-4584-9CED-02BC6A6B5F88}" type="pres">
      <dgm:prSet presAssocID="{FA0EB380-DDF2-4CF4-83AB-4E1E412229F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43F89FB-F131-4724-A0A4-4D3BC71501A0}" srcId="{06A43D34-CAAE-4488-B53E-4410730C67ED}" destId="{FA0EB380-DDF2-4CF4-83AB-4E1E412229FF}" srcOrd="0" destOrd="0" parTransId="{D2A0FCF3-EB2A-453B-A6EE-036B3E86D98B}" sibTransId="{DC9E1291-D56E-4C91-9D8F-7C76DC95D5D0}"/>
    <dgm:cxn modelId="{07FB923B-9CDF-45D4-BE90-9D433114D325}" type="presOf" srcId="{06A43D34-CAAE-4488-B53E-4410730C67ED}" destId="{338D5C5E-DDBB-4FCD-AF13-55F7BF0291DC}" srcOrd="0" destOrd="0" presId="urn:microsoft.com/office/officeart/2005/8/layout/vList2"/>
    <dgm:cxn modelId="{5792D482-FD58-4512-B799-D98EE9ECFDF1}" type="presOf" srcId="{FA0EB380-DDF2-4CF4-83AB-4E1E412229FF}" destId="{D5EDC479-D82C-4584-9CED-02BC6A6B5F88}" srcOrd="0" destOrd="0" presId="urn:microsoft.com/office/officeart/2005/8/layout/vList2"/>
    <dgm:cxn modelId="{2C95A7C0-CA29-4A38-AA5F-5FEC0009DCB3}" type="presParOf" srcId="{338D5C5E-DDBB-4FCD-AF13-55F7BF0291DC}" destId="{D5EDC479-D82C-4584-9CED-02BC6A6B5F88}" srcOrd="0" destOrd="0" presId="urn:microsoft.com/office/officeart/2005/8/layout/vList2"/>
  </dgm:cxnLst>
  <dgm:bg/>
  <dgm:whole/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0CDE347-0663-40AA-8B6E-C61704B9AB18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D143F4E-957E-4226-91B0-58E4F28E2BF9}">
      <dgm:prSet custT="1"/>
      <dgm:spPr/>
      <dgm:t>
        <a:bodyPr/>
        <a:lstStyle/>
        <a:p>
          <a:pPr algn="l" rtl="0"/>
          <a:r>
            <a:rPr lang="en-US" sz="3600" b="1" dirty="0" smtClean="0"/>
            <a:t>Trademark Directive</a:t>
          </a:r>
          <a:endParaRPr lang="en-US" sz="3600" dirty="0"/>
        </a:p>
      </dgm:t>
    </dgm:pt>
    <dgm:pt modelId="{6EC794D1-583A-4544-B5FD-15974F4CE79A}" type="parTrans" cxnId="{1FA50ADB-6B7B-43A2-B59E-B140AB7E0513}">
      <dgm:prSet/>
      <dgm:spPr/>
      <dgm:t>
        <a:bodyPr/>
        <a:lstStyle/>
        <a:p>
          <a:endParaRPr lang="en-US"/>
        </a:p>
      </dgm:t>
    </dgm:pt>
    <dgm:pt modelId="{3431DE0D-2206-4280-B60D-AF3119C757F2}" type="sibTrans" cxnId="{1FA50ADB-6B7B-43A2-B59E-B140AB7E0513}">
      <dgm:prSet/>
      <dgm:spPr/>
      <dgm:t>
        <a:bodyPr/>
        <a:lstStyle/>
        <a:p>
          <a:endParaRPr lang="en-US"/>
        </a:p>
      </dgm:t>
    </dgm:pt>
    <dgm:pt modelId="{5DA5E050-4E05-49E0-A3DD-519FF256CE60}" type="pres">
      <dgm:prSet presAssocID="{50CDE347-0663-40AA-8B6E-C61704B9AB1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1737360-896F-4FAF-846A-FD41FEE2DBA2}" type="pres">
      <dgm:prSet presAssocID="{0D143F4E-957E-4226-91B0-58E4F28E2BF9}" presName="linNode" presStyleCnt="0"/>
      <dgm:spPr/>
    </dgm:pt>
    <dgm:pt modelId="{FAFBFBC7-1C3A-4DC1-98E5-DB2C6F289DB5}" type="pres">
      <dgm:prSet presAssocID="{0D143F4E-957E-4226-91B0-58E4F28E2BF9}" presName="parentText" presStyleLbl="node1" presStyleIdx="0" presStyleCnt="1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FA50ADB-6B7B-43A2-B59E-B140AB7E0513}" srcId="{50CDE347-0663-40AA-8B6E-C61704B9AB18}" destId="{0D143F4E-957E-4226-91B0-58E4F28E2BF9}" srcOrd="0" destOrd="0" parTransId="{6EC794D1-583A-4544-B5FD-15974F4CE79A}" sibTransId="{3431DE0D-2206-4280-B60D-AF3119C757F2}"/>
    <dgm:cxn modelId="{3B495495-4785-47FE-85A9-00551FA5B725}" type="presOf" srcId="{50CDE347-0663-40AA-8B6E-C61704B9AB18}" destId="{5DA5E050-4E05-49E0-A3DD-519FF256CE60}" srcOrd="0" destOrd="0" presId="urn:microsoft.com/office/officeart/2005/8/layout/vList5"/>
    <dgm:cxn modelId="{DD2F092D-F4A3-4B81-BE9A-F835F8F88005}" type="presOf" srcId="{0D143F4E-957E-4226-91B0-58E4F28E2BF9}" destId="{FAFBFBC7-1C3A-4DC1-98E5-DB2C6F289DB5}" srcOrd="0" destOrd="0" presId="urn:microsoft.com/office/officeart/2005/8/layout/vList5"/>
    <dgm:cxn modelId="{35455D54-CFCB-42CF-8F01-BB2242E9C9E3}" type="presParOf" srcId="{5DA5E050-4E05-49E0-A3DD-519FF256CE60}" destId="{C1737360-896F-4FAF-846A-FD41FEE2DBA2}" srcOrd="0" destOrd="0" presId="urn:microsoft.com/office/officeart/2005/8/layout/vList5"/>
    <dgm:cxn modelId="{A855785E-1C31-4263-8DF6-706C34E18E37}" type="presParOf" srcId="{C1737360-896F-4FAF-846A-FD41FEE2DBA2}" destId="{FAFBFBC7-1C3A-4DC1-98E5-DB2C6F289DB5}" srcOrd="0" destOrd="0" presId="urn:microsoft.com/office/officeart/2005/8/layout/vList5"/>
  </dgm:cxnLst>
  <dgm:bg/>
  <dgm:whole/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5CB333A-D888-42C8-AD1D-FC39C4357811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382013E-27C0-41F1-8FAD-AFC417566C43}">
      <dgm:prSet custT="1"/>
      <dgm:spPr/>
      <dgm:t>
        <a:bodyPr/>
        <a:lstStyle/>
        <a:p>
          <a:pPr algn="l" rtl="0"/>
          <a:r>
            <a:rPr lang="en-US" sz="3600" b="1" dirty="0" smtClean="0"/>
            <a:t>Proclamation Copyright </a:t>
          </a:r>
          <a:endParaRPr lang="en-US" sz="3600" b="1" dirty="0"/>
        </a:p>
      </dgm:t>
    </dgm:pt>
    <dgm:pt modelId="{533827BE-6B33-4ADF-9DF5-852DDBBB9FFB}" type="parTrans" cxnId="{BD4AC360-539F-48F9-A09C-94DF0FFB45C1}">
      <dgm:prSet/>
      <dgm:spPr/>
      <dgm:t>
        <a:bodyPr/>
        <a:lstStyle/>
        <a:p>
          <a:endParaRPr lang="en-US"/>
        </a:p>
      </dgm:t>
    </dgm:pt>
    <dgm:pt modelId="{1DCEB883-FDD3-43C9-A2AF-4837F2267153}" type="sibTrans" cxnId="{BD4AC360-539F-48F9-A09C-94DF0FFB45C1}">
      <dgm:prSet/>
      <dgm:spPr/>
      <dgm:t>
        <a:bodyPr/>
        <a:lstStyle/>
        <a:p>
          <a:endParaRPr lang="en-US"/>
        </a:p>
      </dgm:t>
    </dgm:pt>
    <dgm:pt modelId="{40E3357D-D4D7-4FA7-99E9-A931D35EA555}" type="pres">
      <dgm:prSet presAssocID="{35CB333A-D888-42C8-AD1D-FC39C435781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D0D06F-21B6-4C93-97AD-BF6B1F443B39}" type="pres">
      <dgm:prSet presAssocID="{8382013E-27C0-41F1-8FAD-AFC417566C43}" presName="linNode" presStyleCnt="0"/>
      <dgm:spPr/>
    </dgm:pt>
    <dgm:pt modelId="{B04A4CE1-8564-4430-A51C-17663AEF8520}" type="pres">
      <dgm:prSet presAssocID="{8382013E-27C0-41F1-8FAD-AFC417566C43}" presName="parentText" presStyleLbl="node1" presStyleIdx="0" presStyleCnt="1" custScaleX="277778" custLinFactNeighborX="399" custLinFactNeighborY="8275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D4AC360-539F-48F9-A09C-94DF0FFB45C1}" srcId="{35CB333A-D888-42C8-AD1D-FC39C4357811}" destId="{8382013E-27C0-41F1-8FAD-AFC417566C43}" srcOrd="0" destOrd="0" parTransId="{533827BE-6B33-4ADF-9DF5-852DDBBB9FFB}" sibTransId="{1DCEB883-FDD3-43C9-A2AF-4837F2267153}"/>
    <dgm:cxn modelId="{4840EAD3-DB9B-4565-9DFF-18D91E92D7EB}" type="presOf" srcId="{8382013E-27C0-41F1-8FAD-AFC417566C43}" destId="{B04A4CE1-8564-4430-A51C-17663AEF8520}" srcOrd="0" destOrd="0" presId="urn:microsoft.com/office/officeart/2005/8/layout/vList5"/>
    <dgm:cxn modelId="{178068DC-D7C7-4B6F-8857-7EB995D78F67}" type="presOf" srcId="{35CB333A-D888-42C8-AD1D-FC39C4357811}" destId="{40E3357D-D4D7-4FA7-99E9-A931D35EA555}" srcOrd="0" destOrd="0" presId="urn:microsoft.com/office/officeart/2005/8/layout/vList5"/>
    <dgm:cxn modelId="{9247E066-4720-40BA-A395-98472D891191}" type="presParOf" srcId="{40E3357D-D4D7-4FA7-99E9-A931D35EA555}" destId="{78D0D06F-21B6-4C93-97AD-BF6B1F443B39}" srcOrd="0" destOrd="0" presId="urn:microsoft.com/office/officeart/2005/8/layout/vList5"/>
    <dgm:cxn modelId="{7091E91E-4247-4E0B-B5D3-3AD3A0D2E0D4}" type="presParOf" srcId="{78D0D06F-21B6-4C93-97AD-BF6B1F443B39}" destId="{B04A4CE1-8564-4430-A51C-17663AEF8520}" srcOrd="0" destOrd="0" presId="urn:microsoft.com/office/officeart/2005/8/layout/vList5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F7277-6125-4126-BE99-E6AD23725F70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69E9B-65AE-43F9-AFEB-0CA4D26DA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3" name="Notes Placeholder 2"/>
          <p:cNvSpPr>
            <a:spLocks noGrp="1" noChangeArrowheads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smtClean="0"/>
          </a:p>
        </p:txBody>
      </p:sp>
      <p:sp>
        <p:nvSpPr>
          <p:cNvPr id="11776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FE9B5F9-9884-4F96-8A3E-5CA7A2FC9D79}" type="slidenum">
              <a:rPr lang="en-US" altLang="zh-CN" smtClean="0"/>
              <a:pPr/>
              <a:t>1</a:t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7763085-35F2-43ED-A497-87FAF9E8F7CC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1155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73A7-0A5A-49D0-8BEB-EF50A6E05664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5193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74E4-8197-43C7-870C-FCD9EE1FE4BB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8821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5D5F0-35BC-477E-8F1B-EE57928BD0E1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9071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84C-23A4-4AEA-853A-245530B3696D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9045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A150-552F-403E-9EFF-D832F5BDCEAE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18579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19DE-90D1-49E7-ADCA-68CF3BEB08E7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1028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D55F-68E6-4F4D-AE27-3042E33ED208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95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CFC17-B65B-4323-9C3A-6D32898FE7CD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25526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E176-F37E-4CE4-93AA-DFBA287199E1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8867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5FB3-4598-4CA0-9BC7-537A9263768E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718870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1DDF-5BCB-4B28-A55C-29C717383B48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820689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672B-1341-49CA-859F-ADD2C23BBDB5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26358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04A-A648-44A8-B8D0-7B9378866C0D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664115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A8E5-1716-41B5-B8F4-DC9FE1FF98E1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687874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4AE1-F346-49C5-A32D-89FF6EAEC557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39247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6ED3-39AD-4339-8F9B-F7661B01E60C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06820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C75AA84-C351-4D1B-B2D1-24E979E7E555}" type="datetime1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By Gazu G. (MBA)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9269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95248" y="1643047"/>
          <a:ext cx="12096752" cy="4714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/>
          <p:cNvSpPr/>
          <p:nvPr/>
        </p:nvSpPr>
        <p:spPr>
          <a:xfrm>
            <a:off x="623392" y="613954"/>
            <a:ext cx="11137237" cy="624786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ctr"/>
            <a:r>
              <a:rPr lang="en-GB" sz="4000" b="1" dirty="0" smtClean="0">
                <a:latin typeface="Monotype Corsiva" pitchFamily="66" charset="0"/>
              </a:rPr>
              <a:t>Entrepreneurship and Business Development</a:t>
            </a:r>
            <a:endParaRPr lang="en-US" sz="4000" dirty="0" smtClean="0">
              <a:latin typeface="Monotype Corsiva" pitchFamily="66" charset="0"/>
            </a:endParaRPr>
          </a:p>
          <a:p>
            <a:pPr algn="ctr">
              <a:defRPr/>
            </a:pPr>
            <a:endParaRPr lang="en-US" sz="4000" b="1" dirty="0">
              <a:latin typeface="Monotype Corsiva" panose="03010101010201010101" pitchFamily="66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4000" b="1" dirty="0">
                <a:latin typeface="Monotype Corsiva" panose="03010101010201010101" pitchFamily="66" charset="0"/>
                <a:cs typeface="Arial" panose="020B0604020202020204" pitchFamily="34" charset="0"/>
              </a:rPr>
              <a:t>By </a:t>
            </a:r>
            <a:r>
              <a:rPr lang="en-US" sz="4000" b="1" dirty="0" smtClean="0">
                <a:latin typeface="Monotype Corsiva" panose="03010101010201010101" pitchFamily="66" charset="0"/>
                <a:cs typeface="Arial" panose="020B0604020202020204" pitchFamily="34" charset="0"/>
              </a:rPr>
              <a:t>Gazu </a:t>
            </a:r>
            <a:r>
              <a:rPr lang="en-US" sz="4000" b="1" dirty="0">
                <a:latin typeface="Monotype Corsiva" panose="03010101010201010101" pitchFamily="66" charset="0"/>
                <a:cs typeface="Arial" panose="020B0604020202020204" pitchFamily="34" charset="0"/>
              </a:rPr>
              <a:t>G.(MBA) </a:t>
            </a:r>
          </a:p>
          <a:p>
            <a:pPr algn="ctr">
              <a:defRPr/>
            </a:pPr>
            <a:endParaRPr lang="en-US" sz="4000" b="1" dirty="0">
              <a:latin typeface="Monotype Corsiva" panose="03010101010201010101" pitchFamily="66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4000" b="1" dirty="0">
                <a:latin typeface="Monotype Corsiva" panose="03010101010201010101" pitchFamily="66" charset="0"/>
                <a:cs typeface="Arial" panose="020B0604020202020204" pitchFamily="34" charset="0"/>
              </a:rPr>
              <a:t>Bule hora University </a:t>
            </a:r>
          </a:p>
          <a:p>
            <a:pPr algn="ctr">
              <a:defRPr/>
            </a:pPr>
            <a:endParaRPr lang="en-US" sz="4000" b="1" dirty="0">
              <a:latin typeface="Monotype Corsiva" panose="03010101010201010101" pitchFamily="66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4000" b="1" dirty="0" smtClean="0">
                <a:latin typeface="Monotype Corsiva" panose="03010101010201010101" pitchFamily="66" charset="0"/>
                <a:cs typeface="Arial" panose="020B0604020202020204" pitchFamily="34" charset="0"/>
              </a:rPr>
              <a:t>College </a:t>
            </a:r>
            <a:r>
              <a:rPr lang="en-US" sz="4000" b="1" dirty="0">
                <a:latin typeface="Monotype Corsiva" panose="03010101010201010101" pitchFamily="66" charset="0"/>
                <a:cs typeface="Arial" panose="020B0604020202020204" pitchFamily="34" charset="0"/>
              </a:rPr>
              <a:t>of Business and Economics</a:t>
            </a:r>
          </a:p>
          <a:p>
            <a:pPr algn="ctr">
              <a:defRPr/>
            </a:pPr>
            <a:endParaRPr lang="en-US" sz="4000" b="1" dirty="0">
              <a:latin typeface="Monotype Corsiva" panose="03010101010201010101" pitchFamily="66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4000" b="1" dirty="0">
                <a:latin typeface="Monotype Corsiva" panose="03010101010201010101" pitchFamily="66" charset="0"/>
                <a:cs typeface="Arial" panose="020B0604020202020204" pitchFamily="34" charset="0"/>
              </a:rPr>
              <a:t>Department of Management</a:t>
            </a:r>
          </a:p>
          <a:p>
            <a:pPr algn="ctr">
              <a:defRPr/>
            </a:pPr>
            <a:endParaRPr lang="en-US" sz="4000" b="1" dirty="0">
              <a:latin typeface="Monotype Corsiva" panose="03010101010201010101" pitchFamily="66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64C24-F268-4D1E-BFC1-D63D3D75DB19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By Gazu G. (MBA)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0533BEE8-4DDD-E1B5-152F-999262B691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5202" r="9085" b="-7"/>
          <a:stretch/>
        </p:blipFill>
        <p:spPr>
          <a:xfrm>
            <a:off x="20" y="15776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2"/>
                </a:solidFill>
                <a:latin typeface="Monotype Corsiva" pitchFamily="66" charset="0"/>
                <a:cs typeface="Times New Roman" pitchFamily="18" charset="0"/>
              </a:rPr>
              <a:t>Chapter Three</a:t>
            </a:r>
            <a:endParaRPr lang="en-US" dirty="0">
              <a:latin typeface="Monotype Corsiva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1315" y="3657597"/>
            <a:ext cx="7537268" cy="1320802"/>
          </a:xfrm>
        </p:spPr>
        <p:txBody>
          <a:bodyPr>
            <a:noAutofit/>
          </a:bodyPr>
          <a:lstStyle/>
          <a:p>
            <a:pPr lvl="0"/>
            <a:r>
              <a:rPr lang="en-US" sz="5400" b="1" dirty="0" smtClean="0">
                <a:latin typeface="Monotype Corsiva" pitchFamily="66" charset="0"/>
              </a:rPr>
              <a:t>Business Formation</a:t>
            </a:r>
            <a:endParaRPr lang="en-US" sz="5400" dirty="0" smtClean="0">
              <a:latin typeface="Monotype Corsiva" pitchFamily="66" charset="0"/>
            </a:endParaRPr>
          </a:p>
          <a:p>
            <a:endParaRPr lang="en-US" sz="4800" b="1" dirty="0">
              <a:latin typeface="Monotype Corsiva" pitchFamily="66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 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593835" y="621479"/>
          <a:ext cx="10972800" cy="71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76" y="1639614"/>
            <a:ext cx="10625958" cy="4335517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2600" dirty="0" smtClean="0"/>
              <a:t>A business formation deals with the </a:t>
            </a:r>
            <a:r>
              <a:rPr lang="en-US" sz="2600" u="sng" dirty="0" smtClean="0">
                <a:solidFill>
                  <a:srgbClr val="FF0000"/>
                </a:solidFill>
              </a:rPr>
              <a:t>formalization</a:t>
            </a:r>
            <a:r>
              <a:rPr lang="en-US" sz="2600" dirty="0" smtClean="0"/>
              <a:t> and </a:t>
            </a:r>
            <a:r>
              <a:rPr lang="en-US" sz="2600" u="sng" dirty="0" smtClean="0">
                <a:solidFill>
                  <a:srgbClr val="00B0F0"/>
                </a:solidFill>
              </a:rPr>
              <a:t>actual implementation</a:t>
            </a:r>
            <a:r>
              <a:rPr lang="en-US" sz="2600" dirty="0" smtClean="0">
                <a:solidFill>
                  <a:srgbClr val="00B0F0"/>
                </a:solidFill>
              </a:rPr>
              <a:t> </a:t>
            </a:r>
            <a:r>
              <a:rPr lang="en-US" sz="2600" dirty="0" smtClean="0"/>
              <a:t>of business ideas in to practice. </a:t>
            </a:r>
          </a:p>
          <a:p>
            <a:pPr algn="just">
              <a:lnSpc>
                <a:spcPct val="160000"/>
              </a:lnSpc>
            </a:pPr>
            <a:r>
              <a:rPr lang="en-US" sz="2600" dirty="0" smtClean="0"/>
              <a:t>In today’s economic development/transformation, small businesses are:</a:t>
            </a:r>
          </a:p>
          <a:p>
            <a:pPr lvl="1" algn="just">
              <a:lnSpc>
                <a:spcPct val="160000"/>
              </a:lnSpc>
            </a:pPr>
            <a:r>
              <a:rPr lang="en-US" sz="2600" dirty="0" smtClean="0"/>
              <a:t>creating </a:t>
            </a:r>
            <a:r>
              <a:rPr lang="en-US" sz="2600" u="sng" dirty="0" smtClean="0">
                <a:solidFill>
                  <a:srgbClr val="FF0000"/>
                </a:solidFill>
              </a:rPr>
              <a:t>new jobs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smtClean="0"/>
              <a:t>even as large businesses continue </a:t>
            </a:r>
            <a:r>
              <a:rPr lang="en-US" sz="2600" u="sng" dirty="0" smtClean="0">
                <a:solidFill>
                  <a:srgbClr val="00B0F0"/>
                </a:solidFill>
              </a:rPr>
              <a:t>eliminating jobs</a:t>
            </a:r>
          </a:p>
          <a:p>
            <a:pPr lvl="1" algn="just">
              <a:lnSpc>
                <a:spcPct val="160000"/>
              </a:lnSpc>
            </a:pPr>
            <a:r>
              <a:rPr lang="en-US" sz="2600" u="sng" dirty="0" smtClean="0">
                <a:solidFill>
                  <a:srgbClr val="7030A0"/>
                </a:solidFill>
              </a:rPr>
              <a:t>more flexible</a:t>
            </a:r>
            <a:r>
              <a:rPr lang="en-US" sz="2600" dirty="0" smtClean="0"/>
              <a:t> than large ones in the </a:t>
            </a:r>
            <a:r>
              <a:rPr lang="en-US" sz="2600" dirty="0" smtClean="0">
                <a:solidFill>
                  <a:srgbClr val="FF0000"/>
                </a:solidFill>
              </a:rPr>
              <a:t>products and services they offer. 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662152" y="684542"/>
          <a:ext cx="10878208" cy="792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07" y="1434663"/>
            <a:ext cx="10562896" cy="4556234"/>
          </a:xfrm>
        </p:spPr>
        <p:txBody>
          <a:bodyPr>
            <a:noAutofit/>
          </a:bodyPr>
          <a:lstStyle/>
          <a:p>
            <a:pPr marL="514350" lvl="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en-US" b="1" dirty="0" smtClean="0"/>
              <a:t>Proprietorship</a:t>
            </a:r>
          </a:p>
          <a:p>
            <a:pPr lvl="1" algn="just">
              <a:spcBef>
                <a:spcPts val="1200"/>
              </a:spcBef>
            </a:pPr>
            <a:r>
              <a:rPr lang="en-US" sz="2400" dirty="0" smtClean="0"/>
              <a:t>Form of business with </a:t>
            </a:r>
            <a:r>
              <a:rPr lang="en-US" sz="2400" u="sng" dirty="0" smtClean="0">
                <a:solidFill>
                  <a:srgbClr val="7030A0"/>
                </a:solidFill>
              </a:rPr>
              <a:t>single owner</a:t>
            </a:r>
            <a:r>
              <a:rPr lang="en-US" sz="2400" dirty="0" smtClean="0"/>
              <a:t> who has unlimited liability, controls all decisions, and receives all profits.</a:t>
            </a:r>
          </a:p>
          <a:p>
            <a:pPr marL="514350" lvl="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en-US" b="1" dirty="0" smtClean="0"/>
              <a:t>Partnership: </a:t>
            </a:r>
          </a:p>
          <a:p>
            <a:pPr lvl="1" algn="just">
              <a:spcBef>
                <a:spcPts val="1200"/>
              </a:spcBef>
            </a:pPr>
            <a:r>
              <a:rPr lang="en-US" sz="2400" u="sng" dirty="0" smtClean="0">
                <a:solidFill>
                  <a:srgbClr val="7030A0"/>
                </a:solidFill>
              </a:rPr>
              <a:t>Two or more</a:t>
            </a:r>
            <a:r>
              <a:rPr lang="en-US" sz="2400" dirty="0" smtClean="0"/>
              <a:t> individuals having unlimited liability who have </a:t>
            </a:r>
            <a:r>
              <a:rPr lang="en-US" sz="2400" u="sng" dirty="0" smtClean="0">
                <a:solidFill>
                  <a:srgbClr val="FF0000"/>
                </a:solidFill>
              </a:rPr>
              <a:t>pooled resources</a:t>
            </a:r>
            <a:r>
              <a:rPr lang="en-US" sz="2400" dirty="0" smtClean="0"/>
              <a:t> to own a business</a:t>
            </a:r>
          </a:p>
          <a:p>
            <a:pPr marL="514350" lvl="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en-US" b="1" dirty="0" smtClean="0"/>
              <a:t>Corporation</a:t>
            </a:r>
          </a:p>
          <a:p>
            <a:pPr lvl="1" algn="just">
              <a:spcBef>
                <a:spcPts val="1200"/>
              </a:spcBef>
            </a:pPr>
            <a:r>
              <a:rPr lang="en-US" sz="2400" u="sng" dirty="0" smtClean="0">
                <a:solidFill>
                  <a:srgbClr val="FF0000"/>
                </a:solidFill>
              </a:rPr>
              <a:t>Separate legal entity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that is run by stockholders having limited liability</a:t>
            </a:r>
          </a:p>
          <a:p>
            <a:pPr algn="just">
              <a:spcBef>
                <a:spcPts val="1200"/>
              </a:spcBef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2510" y="1844566"/>
            <a:ext cx="10720552" cy="6161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b="1" dirty="0" smtClean="0"/>
              <a:t>These three basic legal forms are compared with regard to </a:t>
            </a:r>
            <a:br>
              <a:rPr lang="en-US" sz="2600" b="1" dirty="0" smtClean="0"/>
            </a:br>
            <a:endParaRPr lang="en-US" sz="2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696" y="2349062"/>
            <a:ext cx="5032703" cy="35630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ownership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liability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start-up costs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continuity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transferability of interest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97600" y="2317530"/>
            <a:ext cx="5384800" cy="36260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capital requirements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management control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distribution of profits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attractiveness for raising capital.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725214" y="764627"/>
            <a:ext cx="10815145" cy="838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CONT…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709449" y="646385"/>
          <a:ext cx="10815144" cy="796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76" y="1387366"/>
            <a:ext cx="10578662" cy="455623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Specifying </a:t>
            </a:r>
            <a:r>
              <a:rPr lang="en-US" sz="28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size and standard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define small business is necessarily </a:t>
            </a:r>
            <a:r>
              <a:rPr lang="en-US" sz="28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arbitrary/subjective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because people adopt different standards for different purposes. 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Based on </a:t>
            </a:r>
            <a:r>
              <a:rPr lang="en-US" sz="28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socio-economic conditions,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countries</a:t>
            </a:r>
            <a:r>
              <a:rPr lang="en-US" sz="28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define small business differently. 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But all may use </a:t>
            </a:r>
            <a:r>
              <a:rPr lang="en-US" sz="2800" b="1" u="sng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size and economic criteria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 a base to define small business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662152" y="672662"/>
          <a:ext cx="10909738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09145" y="1432035"/>
            <a:ext cx="10631214" cy="427038"/>
          </a:xfrm>
        </p:spPr>
        <p:txBody>
          <a:bodyPr>
            <a:noAutofit/>
          </a:bodyPr>
          <a:lstStyle/>
          <a:p>
            <a:pPr algn="l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Small businesses defined  based on </a:t>
            </a: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criteria of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2510" y="1907628"/>
            <a:ext cx="5831490" cy="4218536"/>
          </a:xfrm>
        </p:spPr>
        <p:txBody>
          <a:bodyPr>
            <a:noAutofit/>
          </a:bodyPr>
          <a:lstStyle/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b="1" u="sng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Size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refers to the scale of operation and it include:</a:t>
            </a:r>
            <a:endParaRPr lang="en-US" b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51435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number of employees</a:t>
            </a:r>
          </a:p>
          <a:p>
            <a:pPr marL="914400" lvl="1" indent="-51435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volume and value of sales turnover</a:t>
            </a:r>
          </a:p>
          <a:p>
            <a:pPr marL="914400" lvl="1" indent="-51435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asset size, and volume of deposits </a:t>
            </a:r>
          </a:p>
          <a:p>
            <a:pPr marL="914400" lvl="1" indent="-51435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total capital investment </a:t>
            </a:r>
          </a:p>
          <a:p>
            <a:pPr marL="914400" lvl="1" indent="-51435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volume/value of production,</a:t>
            </a:r>
          </a:p>
          <a:p>
            <a:pPr marL="914400" lvl="1" indent="-51435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combination of the stated factors</a:t>
            </a:r>
            <a:endParaRPr lang="en-US" sz="2400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7047186" y="1954924"/>
            <a:ext cx="4367048" cy="4171240"/>
          </a:xfrm>
        </p:spPr>
        <p:txBody>
          <a:bodyPr>
            <a:normAutofit/>
          </a:bodyPr>
          <a:lstStyle/>
          <a:p>
            <a:pPr marL="514350" lvl="1" indent="-514350" algn="just">
              <a:buNone/>
            </a:pP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2. Economic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Market Share,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Independence, and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Personalized Management.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Geographical Area of Operation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387" y="646387"/>
            <a:ext cx="10925504" cy="654268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3200" b="1" u="sng" dirty="0" smtClean="0"/>
              <a:t/>
            </a:r>
            <a:br>
              <a:rPr lang="en-US" sz="3200" b="1" u="sng" dirty="0" smtClean="0"/>
            </a:br>
            <a:r>
              <a:rPr lang="en-US" sz="3200" b="1" u="sng" dirty="0" smtClean="0"/>
              <a:t>Role/Importance of MSEs in Developing Countries</a:t>
            </a:r>
            <a:r>
              <a:rPr lang="en-US" sz="3200" u="sng" dirty="0" smtClean="0"/>
              <a:t/>
            </a:r>
            <a:br>
              <a:rPr lang="en-US" sz="3200" u="sng" dirty="0" smtClean="0"/>
            </a:br>
            <a:endParaRPr lang="en-US" sz="32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06" y="1229710"/>
            <a:ext cx="10864193" cy="4792718"/>
          </a:xfrm>
        </p:spPr>
        <p:txBody>
          <a:bodyPr>
            <a:normAutofit/>
          </a:bodyPr>
          <a:lstStyle/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Large Employment Opportunities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Economical Use of Capital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Removing Regional Imbalance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Equitable Distribution of Wealth</a:t>
            </a:r>
            <a:r>
              <a:rPr lang="en-US" sz="2400" i="1" dirty="0" smtClean="0"/>
              <a:t> </a:t>
            </a:r>
            <a:r>
              <a:rPr lang="en-US" sz="2400" dirty="0" smtClean="0"/>
              <a:t>and Decentralization of Economic Power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Shape unregulated Growth of Large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Dispersal over Wide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Higher Standard of Living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Mobilization of Locals Resources/Symbols of National Identity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Innovative and Productive /Simple Technology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Less Dependence on Foreign Capital/ Export Promoti</a:t>
            </a:r>
            <a:r>
              <a:rPr lang="en-US" sz="2000" dirty="0" smtClean="0"/>
              <a:t>on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30621"/>
            <a:ext cx="10972800" cy="670034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3200" b="1" dirty="0" smtClean="0"/>
              <a:t>Classification of Micro and Small Enterprises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979" y="1119352"/>
            <a:ext cx="10689022" cy="493460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b="1" dirty="0" smtClean="0"/>
              <a:t>In Case of Manufacturing Enterprise (Manufacturing, Construction and Mining):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i="1" dirty="0" smtClean="0"/>
              <a:t>A Micro Enterprise</a:t>
            </a:r>
            <a:r>
              <a:rPr lang="en-US" sz="2400" b="1" dirty="0" smtClean="0"/>
              <a:t> </a:t>
            </a:r>
            <a:r>
              <a:rPr lang="en-US" sz="2400" dirty="0" smtClean="0"/>
              <a:t>is one in which the investment in plant and machinery </a:t>
            </a:r>
            <a:r>
              <a:rPr lang="en-US" sz="2400" dirty="0" smtClean="0">
                <a:solidFill>
                  <a:srgbClr val="FF0000"/>
                </a:solidFill>
              </a:rPr>
              <a:t>(total asset) does not exceed Birr 100, 000 (one hundred thousand); and operates with 5 people including the owner.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i="1" dirty="0" smtClean="0"/>
              <a:t>Small Enterprises</a:t>
            </a:r>
            <a:r>
              <a:rPr lang="en-US" sz="2400" dirty="0" smtClean="0"/>
              <a:t> is one in which the investment in plant and machinery </a:t>
            </a:r>
            <a:r>
              <a:rPr lang="en-US" sz="2400" dirty="0" smtClean="0">
                <a:solidFill>
                  <a:schemeClr val="accent4"/>
                </a:solidFill>
              </a:rPr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a paid up capital of total asset) of Birr 100, 000 (one hundred thousand) and not more than Birr 1.5 million; and operates with 6-30 persons.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876" y="751489"/>
            <a:ext cx="10972800" cy="533400"/>
          </a:xfr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3600" b="1" dirty="0" smtClean="0"/>
              <a:t>CONT…</a:t>
            </a:r>
            <a:endParaRPr lang="en-US" sz="36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72510" y="1245476"/>
            <a:ext cx="10641724" cy="5383923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</a:pPr>
            <a:r>
              <a:rPr lang="en-US" b="1" u="sng" dirty="0" smtClean="0"/>
              <a:t>In Case of Service Enterprise (Retailing, Transport, Hotel and Tourism, ICT and Maintenance):</a:t>
            </a:r>
            <a:endParaRPr lang="en-US" u="sng" dirty="0" smtClean="0"/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i="1" dirty="0" smtClean="0"/>
              <a:t>A micro enterprise</a:t>
            </a:r>
            <a:r>
              <a:rPr lang="en-US" sz="2400" dirty="0" smtClean="0"/>
              <a:t> is one with the values of total asset is not exceeding Birr 50,000 (fifty thousands); and operates with 5 persons including the owner of the enterprise.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i="1" dirty="0" smtClean="0"/>
              <a:t>Small Enterprises</a:t>
            </a:r>
            <a:r>
              <a:rPr lang="en-US" sz="2400" dirty="0" smtClean="0"/>
              <a:t> is one in which the total asset value or a paid up capital of Birr 100, 000 (one hundred thousand) and not more than Birr 1.5 million; and operates with 6-30 persons.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6745" y="619525"/>
            <a:ext cx="10815144" cy="83090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CONT….</a:t>
            </a:r>
            <a:endParaRPr lang="en-US" sz="3600" b="1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56744" y="1292773"/>
            <a:ext cx="10531365" cy="5357574"/>
          </a:xfrm>
          <a:prstGeom prst="rect">
            <a:avLst/>
          </a:prstGeom>
          <a:noFill/>
          <a:ln w="28575"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More clearly, the improved definition of MSE is presented in the table below.</a:t>
            </a:r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5214" y="2380592"/>
            <a:ext cx="10720552" cy="359453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353101199"/>
      </p:ext>
    </p:extLst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214" y="677918"/>
            <a:ext cx="10846676" cy="772510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2800" b="1" u="sng" dirty="0" smtClean="0"/>
              <a:t/>
            </a:r>
            <a:br>
              <a:rPr lang="en-US" sz="2800" b="1" u="sng" dirty="0" smtClean="0"/>
            </a:br>
            <a:r>
              <a:rPr lang="en-US" sz="2800" b="1" u="sng" dirty="0" smtClean="0"/>
              <a:t>Priority Sectors and Sub-Sectors for MSEs Engagement In Ethiopia</a:t>
            </a:r>
            <a:br>
              <a:rPr lang="en-US" sz="2800" b="1" u="sng" dirty="0" smtClean="0"/>
            </a:br>
            <a:endParaRPr lang="en-US" sz="2800" b="1" u="sng" dirty="0"/>
          </a:p>
        </p:txBody>
      </p:sp>
      <p:sp>
        <p:nvSpPr>
          <p:cNvPr id="4" name="Content Placeholder 7"/>
          <p:cNvSpPr>
            <a:spLocks noGrp="1"/>
          </p:cNvSpPr>
          <p:nvPr>
            <p:ph idx="1"/>
          </p:nvPr>
        </p:nvSpPr>
        <p:spPr>
          <a:xfrm>
            <a:off x="804041" y="1970690"/>
            <a:ext cx="5291958" cy="386255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00CC"/>
                </a:solidFill>
                <a:latin typeface="Berlin Sans FB" pitchFamily="34" charset="0"/>
              </a:rPr>
              <a:t>1. Manufacturing sector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>
                <a:latin typeface="Berlin Sans FB" pitchFamily="34" charset="0"/>
              </a:rPr>
              <a:t>Textile &amp; Garments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>
                <a:latin typeface="Berlin Sans FB" pitchFamily="34" charset="0"/>
              </a:rPr>
              <a:t>Leather &amp; leather Products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>
                <a:latin typeface="Berlin Sans FB" pitchFamily="34" charset="0"/>
              </a:rPr>
              <a:t>Food &amp; Beverage </a:t>
            </a:r>
            <a:endParaRPr lang="en-US" sz="2400" dirty="0">
              <a:latin typeface="Berlin Sans FB" pitchFamily="34" charset="0"/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>
                <a:latin typeface="Berlin Sans FB" pitchFamily="34" charset="0"/>
              </a:rPr>
              <a:t>Metal </a:t>
            </a:r>
            <a:r>
              <a:rPr lang="en-US" sz="2400" dirty="0">
                <a:latin typeface="Berlin Sans FB" pitchFamily="34" charset="0"/>
              </a:rPr>
              <a:t>works </a:t>
            </a:r>
            <a:r>
              <a:rPr lang="en-US" sz="2400" dirty="0" smtClean="0">
                <a:latin typeface="Berlin Sans FB" pitchFamily="34" charset="0"/>
              </a:rPr>
              <a:t>&amp; Engineering</a:t>
            </a:r>
            <a:endParaRPr lang="en-US" sz="2400" dirty="0">
              <a:latin typeface="Berlin Sans FB" pitchFamily="34" charset="0"/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>
                <a:latin typeface="Berlin Sans FB" pitchFamily="34" charset="0"/>
              </a:rPr>
              <a:t>Wood </a:t>
            </a:r>
            <a:r>
              <a:rPr lang="en-US" sz="2400" dirty="0">
                <a:latin typeface="Berlin Sans FB" pitchFamily="34" charset="0"/>
              </a:rPr>
              <a:t>works </a:t>
            </a:r>
            <a:r>
              <a:rPr lang="en-US" sz="2400" dirty="0" smtClean="0">
                <a:latin typeface="Berlin Sans FB" pitchFamily="34" charset="0"/>
              </a:rPr>
              <a:t>&amp; ornaments</a:t>
            </a:r>
            <a:endParaRPr lang="en-US" sz="2400" dirty="0">
              <a:latin typeface="Berlin Sans FB" pitchFamily="34" charset="0"/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>
                <a:latin typeface="Berlin Sans FB" pitchFamily="34" charset="0"/>
              </a:rPr>
              <a:t>Agro-processing </a:t>
            </a:r>
            <a:r>
              <a:rPr lang="en-US" sz="2400" dirty="0">
                <a:latin typeface="Berlin Sans FB" pitchFamily="34" charset="0"/>
              </a:rPr>
              <a:t>	</a:t>
            </a:r>
          </a:p>
          <a:p>
            <a:endParaRPr lang="en-US" sz="2400" dirty="0"/>
          </a:p>
        </p:txBody>
      </p:sp>
      <p:sp>
        <p:nvSpPr>
          <p:cNvPr id="5" name="Content Placeholder 9"/>
          <p:cNvSpPr txBox="1">
            <a:spLocks/>
          </p:cNvSpPr>
          <p:nvPr/>
        </p:nvSpPr>
        <p:spPr>
          <a:xfrm>
            <a:off x="6400800" y="1939159"/>
            <a:ext cx="4840014" cy="39256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Berlin Sans FB" pitchFamily="34" charset="0"/>
              </a:rPr>
              <a:t>2. Construction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erlin Sans FB" pitchFamily="34" charset="0"/>
              </a:rPr>
              <a:t>Sub-contracting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erlin Sans FB" pitchFamily="34" charset="0"/>
              </a:rPr>
              <a:t>Building materials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erlin Sans FB" pitchFamily="34" charset="0"/>
              </a:rPr>
              <a:t>Traditional mining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erlin Sans FB" pitchFamily="34" charset="0"/>
              </a:rPr>
              <a:t>Cobble stone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erlin Sans FB" pitchFamily="34" charset="0"/>
              </a:rPr>
              <a:t>Infrastructure sub contract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erlin Sans FB" pitchFamily="34" charset="0"/>
              </a:rPr>
              <a:t>Prestigious goods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Berlin Sans FB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56897" y="684542"/>
            <a:ext cx="10972800" cy="639762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/>
              <a:t>CONT…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 w="28575">
            <a:noFill/>
          </a:ln>
        </p:spPr>
        <p:txBody>
          <a:bodyPr/>
          <a:lstStyle/>
          <a:p>
            <a:pPr lvl="0"/>
            <a:endParaRPr lang="en-US" b="1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77462" y="1939159"/>
            <a:ext cx="5016938" cy="3878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3. Trade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Whole sale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Retailer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Raw materials supply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197600" y="1891862"/>
            <a:ext cx="5384800" cy="39098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4. service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Transport service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Café and Restaurants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Store service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Tourism service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Canning/packing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Management service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Municipality service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Product design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Maintenance etc. 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943609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9447" y="614855"/>
            <a:ext cx="10799381" cy="814552"/>
          </a:xfrm>
          <a:noFill/>
          <a:ln>
            <a:noFill/>
          </a:ln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CONT…</a:t>
            </a:r>
            <a:endParaRPr lang="en-US" sz="3200" b="1" dirty="0">
              <a:solidFill>
                <a:schemeClr val="tx2"/>
              </a:solidFill>
            </a:endParaRPr>
          </a:p>
        </p:txBody>
      </p:sp>
      <p:sp>
        <p:nvSpPr>
          <p:cNvPr id="5" name="Content Placeholder 7"/>
          <p:cNvSpPr>
            <a:spLocks noGrp="1"/>
          </p:cNvSpPr>
          <p:nvPr>
            <p:ph idx="1"/>
          </p:nvPr>
        </p:nvSpPr>
        <p:spPr>
          <a:xfrm>
            <a:off x="1056290" y="1529254"/>
            <a:ext cx="9743088" cy="428822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0000CC"/>
                </a:solidFill>
                <a:latin typeface="Berlin Sans FB" pitchFamily="34" charset="0"/>
              </a:rPr>
              <a:t>5. Urban Agriculture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Modern </a:t>
            </a:r>
            <a:r>
              <a:rPr lang="en-US" dirty="0"/>
              <a:t>livestock raring </a:t>
            </a: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Bee </a:t>
            </a:r>
            <a:r>
              <a:rPr lang="en-US" dirty="0"/>
              <a:t>production </a:t>
            </a: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Poultry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Modern </a:t>
            </a:r>
            <a:r>
              <a:rPr lang="en-US" dirty="0"/>
              <a:t>forest </a:t>
            </a:r>
            <a:r>
              <a:rPr lang="en-US" dirty="0" smtClean="0"/>
              <a:t>development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Vegetables </a:t>
            </a:r>
            <a:r>
              <a:rPr lang="en-US" dirty="0"/>
              <a:t>and fruits </a:t>
            </a: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Modern </a:t>
            </a:r>
            <a:r>
              <a:rPr lang="en-US" dirty="0"/>
              <a:t>irrigation </a:t>
            </a: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Animal </a:t>
            </a:r>
            <a:r>
              <a:rPr lang="en-US" dirty="0"/>
              <a:t>food processing 	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9770224"/>
      </p:ext>
    </p:extLst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31" y="599090"/>
            <a:ext cx="10972800" cy="806669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3200" b="1" u="sng" dirty="0" smtClean="0"/>
              <a:t>Levels of MSEs in Ethiopia</a:t>
            </a:r>
            <a:endParaRPr lang="en-US" sz="32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76" y="1576552"/>
            <a:ext cx="10610193" cy="4382813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buFont typeface="Wingdings" pitchFamily="2" charset="2"/>
              <a:buChar char="Ø"/>
            </a:pPr>
            <a:r>
              <a:rPr lang="en-US" b="1" dirty="0" smtClean="0"/>
              <a:t>Start-up:- </a:t>
            </a:r>
            <a:r>
              <a:rPr lang="en-US" dirty="0" smtClean="0"/>
              <a:t>It is a level where an enterprise begins production and service under legal framework or legal entity.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Ø"/>
            </a:pPr>
            <a:r>
              <a:rPr lang="en-US" b="1" dirty="0" smtClean="0"/>
              <a:t>Growth Level:- </a:t>
            </a:r>
            <a:r>
              <a:rPr lang="en-US" dirty="0" smtClean="0"/>
              <a:t>when an enterprise become competent in price, quality and supply and profitable using the support provided. 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Ø"/>
            </a:pPr>
            <a:r>
              <a:rPr lang="en-US" b="1" dirty="0" smtClean="0"/>
              <a:t>Maturity Level:- </a:t>
            </a:r>
            <a:r>
              <a:rPr lang="en-US" dirty="0" smtClean="0"/>
              <a:t>when an enterprise able to be profitable and invest further by fulfilling the definition given to the sector and using the support provided.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Ø"/>
            </a:pPr>
            <a:r>
              <a:rPr lang="en-US" b="1" dirty="0" smtClean="0"/>
              <a:t>Growth- Medium Level:- </a:t>
            </a:r>
            <a:r>
              <a:rPr lang="en-US" dirty="0" smtClean="0"/>
              <a:t>when it enabled to be competent in price, quality and supply using the support given to the level.</a:t>
            </a:r>
          </a:p>
          <a:p>
            <a:pPr>
              <a:spcBef>
                <a:spcPts val="1200"/>
              </a:spcBef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1131" y="677917"/>
            <a:ext cx="10972800" cy="759373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3200" b="1" u="sng" dirty="0" smtClean="0"/>
              <a:t>Setting up Small Scale Business</a:t>
            </a:r>
            <a:endParaRPr lang="en-US" sz="3200" u="sn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88276" y="1749972"/>
            <a:ext cx="10610193" cy="4177861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2800" b="1" dirty="0" smtClean="0"/>
              <a:t>Steps for Setting up the Entrepreneurial Venture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800" dirty="0" smtClean="0"/>
              <a:t>setting up of a small new enterprise is a very </a:t>
            </a:r>
            <a:r>
              <a:rPr lang="en-US" sz="2800" u="sng" dirty="0" smtClean="0">
                <a:solidFill>
                  <a:srgbClr val="FF0000"/>
                </a:solidFill>
              </a:rPr>
              <a:t>challenging</a:t>
            </a:r>
            <a:r>
              <a:rPr lang="en-US" sz="2800" dirty="0" smtClean="0">
                <a:solidFill>
                  <a:srgbClr val="FF0000"/>
                </a:solidFill>
              </a:rPr>
              <a:t> as well as a </a:t>
            </a:r>
            <a:r>
              <a:rPr lang="en-US" sz="2800" u="sng" dirty="0" smtClean="0">
                <a:solidFill>
                  <a:srgbClr val="FF0000"/>
                </a:solidFill>
              </a:rPr>
              <a:t>rewarding</a:t>
            </a:r>
            <a:r>
              <a:rPr lang="en-US" sz="2800" dirty="0" smtClean="0">
                <a:solidFill>
                  <a:srgbClr val="FF0000"/>
                </a:solidFill>
              </a:rPr>
              <a:t> task.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800" dirty="0" smtClean="0"/>
              <a:t>The entrepreneurial process of launching a new venture can be </a:t>
            </a:r>
            <a:r>
              <a:rPr lang="en-US" sz="2800" u="sng" dirty="0" smtClean="0"/>
              <a:t>divided into three </a:t>
            </a:r>
            <a:r>
              <a:rPr lang="en-US" sz="2800" dirty="0" smtClean="0"/>
              <a:t>key stages of:</a:t>
            </a:r>
          </a:p>
          <a:p>
            <a:pPr lvl="1" algn="just">
              <a:spcBef>
                <a:spcPts val="1200"/>
              </a:spcBef>
              <a:buFont typeface="Wingdings" pitchFamily="2" charset="2"/>
              <a:buChar char="ü"/>
            </a:pPr>
            <a:r>
              <a:rPr lang="en-US" dirty="0" smtClean="0">
                <a:solidFill>
                  <a:srgbClr val="FF0000"/>
                </a:solidFill>
              </a:rPr>
              <a:t>Discovery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Evaluation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B0F0"/>
                </a:solidFill>
              </a:rPr>
              <a:t>Implementation</a:t>
            </a:r>
            <a:r>
              <a:rPr lang="en-US" dirty="0" smtClean="0"/>
              <a:t>. 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800" dirty="0" smtClean="0"/>
              <a:t>These can be further </a:t>
            </a:r>
            <a:r>
              <a:rPr lang="en-US" sz="2800" dirty="0" smtClean="0">
                <a:solidFill>
                  <a:srgbClr val="7030A0"/>
                </a:solidFill>
              </a:rPr>
              <a:t>sub-divided into seven steps </a:t>
            </a:r>
            <a:r>
              <a:rPr lang="en-US" sz="2800" dirty="0" smtClean="0"/>
              <a:t>as shown below: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Ø"/>
            </a:pPr>
            <a:endParaRPr lang="en-US" sz="2800" dirty="0" smtClean="0"/>
          </a:p>
          <a:p>
            <a:pPr algn="just">
              <a:spcBef>
                <a:spcPts val="1200"/>
              </a:spcBef>
              <a:buNone/>
            </a:pP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116576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6745" y="635290"/>
            <a:ext cx="10108322" cy="641717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CONT….</a:t>
            </a:r>
            <a:endParaRPr lang="en-US" sz="36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819807" y="1340069"/>
            <a:ext cx="10578662" cy="45247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72510" y="603760"/>
            <a:ext cx="9871840" cy="941262"/>
          </a:xfrm>
        </p:spPr>
        <p:txBody>
          <a:bodyPr>
            <a:normAutofit/>
          </a:bodyPr>
          <a:lstStyle/>
          <a:p>
            <a:pPr algn="l"/>
            <a:r>
              <a:rPr lang="en-US" sz="4000" b="1" u="sng" dirty="0" smtClean="0">
                <a:latin typeface="Times New Roman" pitchFamily="18" charset="0"/>
                <a:cs typeface="Times New Roman" pitchFamily="18" charset="0"/>
              </a:rPr>
              <a:t>1. Discovery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103" y="1403131"/>
            <a:ext cx="10468304" cy="4472737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to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identify opportunities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may form the basis of an entrepreneurial venture. </a:t>
            </a:r>
          </a:p>
          <a:p>
            <a:pPr algn="just">
              <a:spcBef>
                <a:spcPts val="1200"/>
              </a:spcBef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requires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creative thinking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indentify issues that can benefit from an entrepreneurial vision. 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1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Discovering your entrepreneurial potential</a:t>
            </a:r>
          </a:p>
          <a:p>
            <a:pPr lvl="1" algn="just">
              <a:spcBef>
                <a:spcPts val="12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to know more about your personal resources and attributes through some self evaluation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2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Identifying a problem and potential solution</a:t>
            </a:r>
          </a:p>
          <a:p>
            <a:pPr lvl="1" algn="just">
              <a:spcBef>
                <a:spcPts val="12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new venture has to solve a problem and meet a genuine need.</a:t>
            </a:r>
          </a:p>
          <a:p>
            <a:pPr algn="just">
              <a:spcBef>
                <a:spcPts val="1200"/>
              </a:spcBef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9807" y="740979"/>
            <a:ext cx="10076791" cy="66215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 smtClean="0"/>
              <a:t>2. Evaluation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572" y="1434662"/>
            <a:ext cx="10468304" cy="4441206"/>
          </a:xfrm>
        </p:spPr>
        <p:txBody>
          <a:bodyPr>
            <a:noAutofit/>
          </a:bodyPr>
          <a:lstStyle/>
          <a:p>
            <a:pPr algn="just"/>
            <a:r>
              <a:rPr lang="en-US" sz="3000" dirty="0" smtClean="0"/>
              <a:t>selected an idea worthy of further </a:t>
            </a:r>
            <a:r>
              <a:rPr lang="en-US" sz="3000" u="sng" dirty="0" smtClean="0">
                <a:solidFill>
                  <a:srgbClr val="FF0000"/>
                </a:solidFill>
              </a:rPr>
              <a:t>detailed investigation</a:t>
            </a:r>
            <a:r>
              <a:rPr lang="en-US" sz="3000" dirty="0" smtClean="0"/>
              <a:t>. </a:t>
            </a:r>
          </a:p>
          <a:p>
            <a:pPr algn="just">
              <a:buNone/>
            </a:pPr>
            <a:r>
              <a:rPr lang="en-US" sz="2600" b="1" dirty="0" smtClean="0">
                <a:solidFill>
                  <a:srgbClr val="FF0000"/>
                </a:solidFill>
              </a:rPr>
              <a:t>Step 3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b="1" dirty="0" smtClean="0"/>
              <a:t>Evaluating the idea as a business opportunity</a:t>
            </a:r>
          </a:p>
          <a:p>
            <a:pPr lvl="1" algn="just"/>
            <a:r>
              <a:rPr lang="en-US" sz="2600" dirty="0" smtClean="0"/>
              <a:t>find out information about the </a:t>
            </a:r>
            <a:r>
              <a:rPr lang="en-US" sz="2600" u="sng" dirty="0" smtClean="0"/>
              <a:t>market need</a:t>
            </a:r>
            <a:r>
              <a:rPr lang="en-US" sz="2600" dirty="0" smtClean="0"/>
              <a:t>. </a:t>
            </a:r>
          </a:p>
          <a:p>
            <a:pPr lvl="1" algn="just"/>
            <a:r>
              <a:rPr lang="en-US" sz="2600" dirty="0" smtClean="0"/>
              <a:t>Investigate the feasibility of the proposed solution (technically, economically, socially, and legally). </a:t>
            </a:r>
          </a:p>
          <a:p>
            <a:pPr algn="just">
              <a:buNone/>
            </a:pPr>
            <a:r>
              <a:rPr lang="en-US" sz="2600" b="1" dirty="0" smtClean="0">
                <a:solidFill>
                  <a:srgbClr val="FF0000"/>
                </a:solidFill>
              </a:rPr>
              <a:t>Step 4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b="1" dirty="0" smtClean="0"/>
              <a:t>Investigating and gathering the resources </a:t>
            </a:r>
          </a:p>
          <a:p>
            <a:pPr lvl="1" algn="just"/>
            <a:r>
              <a:rPr lang="en-US" sz="2600" dirty="0" smtClean="0"/>
              <a:t>How will the product/service get to market? </a:t>
            </a:r>
          </a:p>
          <a:p>
            <a:pPr lvl="1" algn="just"/>
            <a:r>
              <a:rPr lang="en-US" sz="2600" dirty="0" smtClean="0"/>
              <a:t>How will it make money? What resources are required?</a:t>
            </a:r>
          </a:p>
          <a:p>
            <a:pPr algn="just"/>
            <a:endParaRPr lang="en-US" sz="2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5214" y="698352"/>
            <a:ext cx="10045260" cy="75207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 smtClean="0"/>
              <a:t>3. Exploitation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869" y="1434662"/>
            <a:ext cx="10547130" cy="4441206"/>
          </a:xfrm>
        </p:spPr>
        <p:txBody>
          <a:bodyPr>
            <a:noAutofit/>
          </a:bodyPr>
          <a:lstStyle/>
          <a:p>
            <a:pPr algn="just"/>
            <a:r>
              <a:rPr lang="en-US" dirty="0" smtClean="0"/>
              <a:t>identified an opportunity is required to </a:t>
            </a:r>
            <a:r>
              <a:rPr lang="en-US" u="sng" dirty="0" smtClean="0">
                <a:solidFill>
                  <a:srgbClr val="FF0000"/>
                </a:solidFill>
              </a:rPr>
              <a:t>launch it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to make the final preparations and launch it into the market. 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Step 5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/>
              <a:t>Forming the enterprise to create value </a:t>
            </a:r>
          </a:p>
          <a:p>
            <a:pPr lvl="1" algn="just"/>
            <a:r>
              <a:rPr lang="en-US" sz="2400" dirty="0" smtClean="0"/>
              <a:t>set up a business entity and protect any intellectual property. </a:t>
            </a:r>
          </a:p>
          <a:p>
            <a:pPr lvl="1" algn="just"/>
            <a:r>
              <a:rPr lang="en-US" sz="2400" dirty="0" smtClean="0"/>
              <a:t>launch the venture in a way that minimizes risk and maximizes returns.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Step 6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/>
              <a:t>Implementing the entrepreneurial strategy</a:t>
            </a:r>
          </a:p>
          <a:p>
            <a:pPr lvl="1" algn="just"/>
            <a:r>
              <a:rPr lang="en-US" sz="2400" dirty="0" smtClean="0"/>
              <a:t>activate the marketing, operating, and financial plans. 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Step 7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/>
              <a:t>Planning the future </a:t>
            </a:r>
          </a:p>
          <a:p>
            <a:pPr lvl="1" algn="just"/>
            <a:r>
              <a:rPr lang="en-US" sz="2400" dirty="0" smtClean="0"/>
              <a:t>look ahead and visualize where you want to go.</a:t>
            </a:r>
          </a:p>
          <a:p>
            <a:pPr algn="just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31" y="621478"/>
            <a:ext cx="10972800" cy="813183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3200" b="1" u="sng" dirty="0" smtClean="0"/>
              <a:t>Entrepreneurship vs. Environment</a:t>
            </a:r>
            <a:endParaRPr lang="en-US" sz="32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041" y="1671145"/>
            <a:ext cx="10594428" cy="4729655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the economies are getting internationally integrated, for an analysis of the environment of entrepreneurship you would be required to develop an understanding of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macroeconomic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industry/sector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specific factors.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v"/>
            </a:pP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The macro environment of an entrepreneur consists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u="sng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political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u="sng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technological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social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legal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u="sng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economic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environments.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v"/>
            </a:pP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The purpose of industry analysis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to determine 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what makes an industry attractive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this is usually indicated either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by above normal profits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high growth rates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spcBef>
                <a:spcPts val="1200"/>
              </a:spcBef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such analysis one should: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9" y="583324"/>
            <a:ext cx="10972800" cy="64113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CONT….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3945"/>
            <a:ext cx="10972800" cy="4912219"/>
          </a:xfrm>
        </p:spPr>
        <p:txBody>
          <a:bodyPr>
            <a:normAutofit/>
          </a:bodyPr>
          <a:lstStyle/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study the history of the industry, the future trends, new products developed in the industry, forecasts made by the government or the industry.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study the existing or potential competition, threat of substitutes and entry barriers.</a:t>
            </a: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3538483" y="2475186"/>
            <a:ext cx="70104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31" y="621480"/>
            <a:ext cx="10972800" cy="623996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4000" b="1" u="sng" dirty="0" smtClean="0"/>
              <a:t/>
            </a:r>
            <a:br>
              <a:rPr lang="en-US" sz="4000" b="1" u="sng" dirty="0" smtClean="0"/>
            </a:br>
            <a:r>
              <a:rPr lang="en-US" sz="4000" b="1" u="sng" dirty="0" smtClean="0"/>
              <a:t>Small Business Failure and Success Factors</a:t>
            </a:r>
            <a:r>
              <a:rPr lang="en-US" sz="4000" u="sng" dirty="0" smtClean="0"/>
              <a:t/>
            </a:r>
            <a:br>
              <a:rPr lang="en-US" sz="4000" u="sng" dirty="0" smtClean="0"/>
            </a:br>
            <a:endParaRPr lang="en-US" sz="40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634" y="1277008"/>
            <a:ext cx="10683766" cy="4650826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en-US" sz="2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cs typeface="Times New Roman" pitchFamily="18" charset="0"/>
              </a:rPr>
              <a:t>Small Business Failure Factors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MSEs failure attributing by many factors: </a:t>
            </a:r>
            <a:r>
              <a:rPr lang="en-US" sz="2200" u="sng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External factors  and Personal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(internal) factors </a:t>
            </a:r>
          </a:p>
          <a:p>
            <a:pPr marL="1657350" lvl="2" indent="-742950">
              <a:spcBef>
                <a:spcPts val="0"/>
              </a:spcBef>
              <a:buNone/>
            </a:pPr>
            <a:r>
              <a:rPr lang="en-US" sz="2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External factors </a:t>
            </a:r>
          </a:p>
          <a:p>
            <a:pPr marL="1311275" lvl="2" indent="-454025">
              <a:spcBef>
                <a:spcPts val="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Business cycles </a:t>
            </a:r>
          </a:p>
          <a:p>
            <a:pPr marL="1311275" lvl="2" indent="-454025">
              <a:spcBef>
                <a:spcPts val="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Fluctuating</a:t>
            </a:r>
          </a:p>
          <a:p>
            <a:pPr marL="1311275" lvl="2" indent="-454025">
              <a:spcBef>
                <a:spcPts val="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Interest rate </a:t>
            </a:r>
          </a:p>
          <a:p>
            <a:pPr marL="1311275" lvl="2" indent="-454025">
              <a:spcBef>
                <a:spcPts val="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Interrupted supplies</a:t>
            </a:r>
          </a:p>
          <a:p>
            <a:pPr marL="1311275" lvl="2" indent="-454025">
              <a:spcBef>
                <a:spcPts val="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Labor market</a:t>
            </a:r>
          </a:p>
          <a:p>
            <a:pPr marL="1311275" lvl="2" indent="-454025">
              <a:spcBef>
                <a:spcPts val="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Inflation</a:t>
            </a:r>
          </a:p>
          <a:p>
            <a:pPr marL="1311275" lvl="2" indent="-454025">
              <a:spcBef>
                <a:spcPts val="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Government regulations </a:t>
            </a:r>
          </a:p>
          <a:p>
            <a:pPr marL="1311275" lvl="2" indent="-454025">
              <a:spcBef>
                <a:spcPts val="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Unstable financial markets </a:t>
            </a:r>
            <a:endParaRPr lang="en-US" sz="2200" b="1" u="sng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spcBef>
                <a:spcPts val="0"/>
              </a:spcBef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82" y="693682"/>
            <a:ext cx="10888717" cy="693683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/>
              <a:t>CONT…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338" y="1355834"/>
            <a:ext cx="10731062" cy="4770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B. Personal (internal) factors</a:t>
            </a:r>
            <a:endParaRPr lang="en-US" u="sng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Inexperience 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Arrogance 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Mismanagement</a:t>
            </a:r>
          </a:p>
          <a:p>
            <a:pPr lvl="3"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Over investment on fixed assets </a:t>
            </a:r>
          </a:p>
          <a:p>
            <a:pPr lvl="3"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Poor financial and inventory control </a:t>
            </a:r>
          </a:p>
          <a:p>
            <a:pPr lvl="3"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Poor business philosophy </a:t>
            </a:r>
          </a:p>
          <a:p>
            <a:pPr lvl="3"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Lack of planning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744" y="637244"/>
            <a:ext cx="10841421" cy="73435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97724"/>
            <a:ext cx="10668000" cy="43355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 smtClean="0"/>
              <a:t>2. Small Business Success Factors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smtClean="0"/>
              <a:t>Conducive Environment</a:t>
            </a:r>
          </a:p>
          <a:p>
            <a:pPr lvl="3">
              <a:buFont typeface="Wingdings" pitchFamily="2" charset="2"/>
              <a:buChar char="ü"/>
            </a:pPr>
            <a:r>
              <a:rPr lang="en-US" sz="2400" b="1" dirty="0" smtClean="0"/>
              <a:t>Political Climate</a:t>
            </a:r>
          </a:p>
          <a:p>
            <a:pPr lvl="3">
              <a:buFont typeface="Wingdings" pitchFamily="2" charset="2"/>
              <a:buChar char="ü"/>
            </a:pPr>
            <a:r>
              <a:rPr lang="en-US" sz="2400" b="1" dirty="0" smtClean="0"/>
              <a:t>The Economic Environment</a:t>
            </a:r>
          </a:p>
          <a:p>
            <a:pPr lvl="3">
              <a:buFont typeface="Wingdings" pitchFamily="2" charset="2"/>
              <a:buChar char="ü"/>
            </a:pPr>
            <a:r>
              <a:rPr lang="en-US" sz="2400" b="1" dirty="0" smtClean="0"/>
              <a:t>Technology</a:t>
            </a:r>
          </a:p>
          <a:p>
            <a:pPr lvl="3">
              <a:buFont typeface="Wingdings" pitchFamily="2" charset="2"/>
              <a:buChar char="ü"/>
            </a:pPr>
            <a:r>
              <a:rPr lang="en-US" sz="2400" b="1" dirty="0" smtClean="0"/>
              <a:t>Socio-Cultural Environment</a:t>
            </a:r>
            <a:endParaRPr lang="en-US" sz="2400" dirty="0" smtClean="0"/>
          </a:p>
          <a:p>
            <a:pPr lvl="1">
              <a:buFont typeface="Wingdings" pitchFamily="2" charset="2"/>
              <a:buChar char="Ø"/>
            </a:pPr>
            <a:r>
              <a:rPr lang="en-US" sz="2400" dirty="0" smtClean="0"/>
              <a:t>Adequate Credit Assistance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smtClean="0"/>
              <a:t>Markets and Marketing Support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90" y="630621"/>
            <a:ext cx="10871200" cy="880241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2800" b="1" u="sng" dirty="0" smtClean="0"/>
              <a:t>Main Supporting Packages for MSEs Development in Ethiopia</a:t>
            </a:r>
            <a:endParaRPr lang="en-US" sz="28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76" y="1623848"/>
            <a:ext cx="10594427" cy="4382814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/>
              <a:t>When entrepreneurs are deciding to involve and develop MSEs in Ethiopia, they are more likely entitled with some supporting packages. 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awareness creation about the sector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provision of legal services, to form legal business enterprises 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providing Technical and business management training 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financial support based on personal saving, 20/80 (the beneficiaries are save 20% and the MFIs provide Loan 80% of the projects)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 facilitate working premises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 industry extinction services and 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sz="2400" dirty="0" smtClean="0"/>
              <a:t>BDS provision; bookkeeping and audit services.</a:t>
            </a:r>
          </a:p>
          <a:p>
            <a:pPr algn="just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2152" y="646386"/>
            <a:ext cx="10925503" cy="754117"/>
          </a:xfrm>
          <a:solidFill>
            <a:srgbClr val="00B0F0"/>
          </a:solidFill>
          <a:ln>
            <a:noFill/>
          </a:ln>
        </p:spPr>
        <p:txBody>
          <a:bodyPr>
            <a:noAutofit/>
          </a:bodyPr>
          <a:lstStyle/>
          <a:p>
            <a:pPr lvl="0"/>
            <a:r>
              <a:rPr lang="en-US" sz="3200" b="1" u="sng" dirty="0" smtClean="0"/>
              <a:t>Problems of Small Scale Business in Ethiopia</a:t>
            </a:r>
            <a:endParaRPr lang="en-US" sz="3200" u="sng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11200" y="1513489"/>
            <a:ext cx="10871200" cy="3970318"/>
          </a:xfrm>
          <a:prstGeom prst="rect">
            <a:avLst/>
          </a:prstGeom>
          <a:noFill/>
          <a:ln w="28575"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Small scale industries have not been able to contribute </a:t>
            </a:r>
            <a:r>
              <a:rPr kumimoji="0" lang="en-US" altLang="ko-KR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substantially as needed</a:t>
            </a:r>
            <a:r>
              <a:rPr kumimoji="0" lang="en-US" altLang="ko-K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 to the economic development particularly because of:  </a:t>
            </a:r>
          </a:p>
          <a:p>
            <a:pPr lvl="2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kumimoji="0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financial,</a:t>
            </a:r>
          </a:p>
          <a:p>
            <a:pPr lvl="2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kumimoji="0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production </a:t>
            </a:r>
          </a:p>
          <a:p>
            <a:pPr lvl="2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kumimoji="0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marketing problems</a:t>
            </a:r>
            <a:endParaRPr lang="en-US" altLang="ko-KR" sz="2800" dirty="0" smtClean="0">
              <a:solidFill>
                <a:srgbClr val="FF0000"/>
              </a:solidFill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lvl="2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kumimoji="0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Know</a:t>
            </a:r>
            <a:r>
              <a:rPr kumimoji="0" lang="en-US" altLang="ko-KR" sz="2800" b="0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 how</a:t>
            </a:r>
            <a:endParaRPr kumimoji="0" lang="en-US" altLang="ko-KR" sz="2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B0E-BDF0-48DF-B5A1-5CB54363C9B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313913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Monotype Corsiva" pitchFamily="66" charset="0"/>
              </a:rPr>
              <a:t>Chapter Four</a:t>
            </a:r>
            <a:endParaRPr lang="en-US" b="1" dirty="0">
              <a:latin typeface="Monotype Corsiva" pitchFamily="66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443655" y="3657597"/>
            <a:ext cx="7441323" cy="1320802"/>
          </a:xfrm>
        </p:spPr>
        <p:txBody>
          <a:bodyPr>
            <a:noAutofit/>
          </a:bodyPr>
          <a:lstStyle/>
          <a:p>
            <a:pPr lvl="0"/>
            <a:r>
              <a:rPr lang="en-US" sz="5400" b="1" dirty="0" smtClean="0">
                <a:latin typeface="Monotype Corsiva" pitchFamily="66" charset="0"/>
              </a:rPr>
              <a:t>Product/Service Development</a:t>
            </a:r>
            <a:endParaRPr lang="en-US" sz="5400" b="1" dirty="0">
              <a:latin typeface="Monotype Corsiva" pitchFamily="66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625366" y="746234"/>
          <a:ext cx="10972800" cy="91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572" y="1765738"/>
            <a:ext cx="10562897" cy="424092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 Entrepreneur’s business, product/service development is the term used to describe:</a:t>
            </a:r>
          </a:p>
          <a:p>
            <a:pPr marL="1181862" lvl="2" indent="-514350"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 complete process of </a:t>
            </a:r>
            <a:r>
              <a:rPr lang="en-US" sz="2400" u="sng" dirty="0" smtClean="0">
                <a:solidFill>
                  <a:srgbClr val="00B050"/>
                </a:solidFill>
              </a:rPr>
              <a:t>bringing a new product or service in the market </a:t>
            </a:r>
          </a:p>
          <a:p>
            <a:pPr marL="1181862" lvl="2" indent="-514350"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it's an ongoing practice in which the entire business is </a:t>
            </a:r>
            <a:r>
              <a:rPr lang="en-US" sz="2400" u="sng" dirty="0" smtClean="0">
                <a:solidFill>
                  <a:schemeClr val="accent4">
                    <a:lumMod val="75000"/>
                  </a:schemeClr>
                </a:solidFill>
              </a:rPr>
              <a:t>looking for opportunities as new products provide growth promise 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to businesses that allow them to </a:t>
            </a:r>
            <a:r>
              <a:rPr lang="en-US" sz="2400" dirty="0" smtClean="0">
                <a:solidFill>
                  <a:srgbClr val="FF0000"/>
                </a:solidFill>
              </a:rPr>
              <a:t>strengthen their market position.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609600" y="559675"/>
          <a:ext cx="10972800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07" y="1371600"/>
            <a:ext cx="10625960" cy="4619297"/>
          </a:xfrm>
        </p:spPr>
        <p:txBody>
          <a:bodyPr>
            <a:noAutofit/>
          </a:bodyPr>
          <a:lstStyle/>
          <a:p>
            <a:pPr marL="624078" indent="-514350" algn="just">
              <a:buFont typeface="Wingdings" pitchFamily="2" charset="2"/>
              <a:buChar char="Ø"/>
            </a:pPr>
            <a:r>
              <a:rPr lang="en-US" dirty="0" smtClean="0"/>
              <a:t>The new product development process involves:</a:t>
            </a:r>
          </a:p>
          <a:p>
            <a:pPr marL="1648206" lvl="4" indent="-514350" algn="just">
              <a:buFont typeface="Wingdings" pitchFamily="2" charset="2"/>
              <a:buChar char="ü"/>
            </a:pPr>
            <a:r>
              <a:rPr lang="en-US" sz="2400" dirty="0" smtClean="0"/>
              <a:t> The idea generation</a:t>
            </a:r>
          </a:p>
          <a:p>
            <a:pPr marL="1648206" lvl="4" indent="-514350" algn="just">
              <a:buFont typeface="Wingdings" pitchFamily="2" charset="2"/>
              <a:buChar char="ü"/>
            </a:pPr>
            <a:r>
              <a:rPr lang="en-US" sz="2400" dirty="0" smtClean="0"/>
              <a:t>Product design and detail engineering </a:t>
            </a:r>
          </a:p>
          <a:p>
            <a:pPr marL="1648206" lvl="4" indent="-514350" algn="just">
              <a:buFont typeface="Wingdings" pitchFamily="2" charset="2"/>
              <a:buChar char="ü"/>
            </a:pPr>
            <a:r>
              <a:rPr lang="en-US" sz="2400" dirty="0" smtClean="0"/>
              <a:t>Market research and marketing analysis.</a:t>
            </a:r>
          </a:p>
          <a:p>
            <a:pPr marL="624078" indent="-514350" algn="just">
              <a:buFont typeface="Wingdings" pitchFamily="2" charset="2"/>
              <a:buChar char="Ø"/>
            </a:pPr>
            <a:r>
              <a:rPr lang="en-US" dirty="0" smtClean="0"/>
              <a:t>Factors </a:t>
            </a:r>
            <a:r>
              <a:rPr lang="en-US" u="sng" dirty="0" smtClean="0">
                <a:solidFill>
                  <a:srgbClr val="FF0000"/>
                </a:solidFill>
              </a:rPr>
              <a:t>makes new product development a critical activity</a:t>
            </a:r>
            <a:r>
              <a:rPr lang="en-US" dirty="0" smtClean="0"/>
              <a:t> in most businesses are:</a:t>
            </a:r>
          </a:p>
          <a:p>
            <a:pPr marL="1648206" lvl="4" indent="-514350" algn="just">
              <a:buFont typeface="Wingdings" pitchFamily="2" charset="2"/>
              <a:buChar char="ü"/>
            </a:pPr>
            <a:r>
              <a:rPr lang="en-US" sz="2400" dirty="0" smtClean="0"/>
              <a:t>Intense global competition</a:t>
            </a:r>
          </a:p>
          <a:p>
            <a:pPr marL="1648206" lvl="4" indent="-514350" algn="just">
              <a:buFont typeface="Wingdings" pitchFamily="2" charset="2"/>
              <a:buChar char="ü"/>
            </a:pPr>
            <a:r>
              <a:rPr lang="en-US" sz="2400" dirty="0" smtClean="0"/>
              <a:t> Short product and technology lifecycles</a:t>
            </a:r>
          </a:p>
          <a:p>
            <a:pPr marL="1648206" lvl="4" indent="-514350" algn="just">
              <a:buFont typeface="Wingdings" pitchFamily="2" charset="2"/>
              <a:buChar char="ü"/>
            </a:pPr>
            <a:r>
              <a:rPr lang="en-US" sz="2400" dirty="0" smtClean="0"/>
              <a:t> Unpredictable consumer buying patterns </a:t>
            </a:r>
          </a:p>
          <a:p>
            <a:pPr marL="1648206" lvl="4" indent="-514350" algn="just">
              <a:buFont typeface="Wingdings" pitchFamily="2" charset="2"/>
              <a:buChar char="ü"/>
            </a:pPr>
            <a:r>
              <a:rPr lang="en-US" sz="2400" dirty="0" smtClean="0"/>
              <a:t>Possible market stagnation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662152" y="685799"/>
          <a:ext cx="10846676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510" y="1545020"/>
            <a:ext cx="10657490" cy="4855779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Organization's success is dependent on </a:t>
            </a:r>
            <a:r>
              <a:rPr lang="en-US" u="sng" dirty="0" smtClean="0">
                <a:solidFill>
                  <a:srgbClr val="FF0000"/>
                </a:solidFill>
              </a:rPr>
              <a:t>customer</a:t>
            </a:r>
            <a:r>
              <a:rPr lang="en-US" u="sng" dirty="0" smtClean="0">
                <a:solidFill>
                  <a:srgbClr val="002060"/>
                </a:solidFill>
              </a:rPr>
              <a:t> </a:t>
            </a:r>
            <a:r>
              <a:rPr lang="en-US" u="sng" dirty="0" smtClean="0">
                <a:solidFill>
                  <a:srgbClr val="FF0000"/>
                </a:solidFill>
              </a:rPr>
              <a:t>satisfaction and delight</a:t>
            </a:r>
            <a:r>
              <a:rPr lang="en-US" dirty="0" smtClean="0">
                <a:solidFill>
                  <a:srgbClr val="FF0000"/>
                </a:solidFill>
              </a:rPr>
              <a:t> and </a:t>
            </a:r>
            <a:r>
              <a:rPr lang="en-US" dirty="0" smtClean="0"/>
              <a:t>achieved through:  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400" dirty="0" smtClean="0"/>
              <a:t>the development of product and service, </a:t>
            </a:r>
            <a:r>
              <a:rPr lang="en-US" sz="2400" u="sng" dirty="0" smtClean="0">
                <a:solidFill>
                  <a:srgbClr val="FF0000"/>
                </a:solidFill>
              </a:rPr>
              <a:t>which have all attributes required by the customer. 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A success product or services </a:t>
            </a:r>
            <a:r>
              <a:rPr lang="en-US" u="sng" dirty="0" smtClean="0">
                <a:solidFill>
                  <a:srgbClr val="00B050"/>
                </a:solidFill>
              </a:rPr>
              <a:t>do not only have an attractive package design</a:t>
            </a:r>
            <a:r>
              <a:rPr lang="en-US" dirty="0" smtClean="0"/>
              <a:t> but should be also </a:t>
            </a:r>
            <a:r>
              <a:rPr lang="en-US" u="sng" dirty="0" smtClean="0">
                <a:solidFill>
                  <a:srgbClr val="FF0000"/>
                </a:solidFill>
              </a:rPr>
              <a:t>able to provide robust performance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Thus, product design must be: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400" dirty="0" smtClean="0"/>
              <a:t> practical enough for production 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400" dirty="0" smtClean="0"/>
              <a:t>powerful enough to provide a competitive advantage.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25366" y="683172"/>
          <a:ext cx="10972800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572" y="1671145"/>
            <a:ext cx="10531366" cy="436704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Once the opportunity is selected and a business model has been designed</a:t>
            </a:r>
          </a:p>
          <a:p>
            <a:pPr lvl="4"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dirty="0" smtClean="0">
                <a:solidFill>
                  <a:schemeClr val="accent4"/>
                </a:solidFill>
              </a:rPr>
              <a:t> the next step is </a:t>
            </a:r>
            <a:r>
              <a:rPr lang="en-US" sz="2400" u="sng" dirty="0" smtClean="0">
                <a:solidFill>
                  <a:schemeClr val="accent4"/>
                </a:solidFill>
              </a:rPr>
              <a:t>to develop a commercial version of the opportunity</a:t>
            </a:r>
            <a:r>
              <a:rPr lang="en-US" sz="2400" u="sng" dirty="0" smtClean="0"/>
              <a:t>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One of the essential characteristics of a successful business is</a:t>
            </a:r>
          </a:p>
          <a:p>
            <a:pPr lvl="4"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70C0"/>
                </a:solidFill>
              </a:rPr>
              <a:t>exemplified by its ability to </a:t>
            </a:r>
            <a:r>
              <a:rPr lang="en-US" sz="2400" u="sng" dirty="0" smtClean="0">
                <a:solidFill>
                  <a:srgbClr val="FF0000"/>
                </a:solidFill>
              </a:rPr>
              <a:t>continuously and rapidly develop new or improved versions of existing products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that deliver values more than customers expect.</a:t>
            </a:r>
          </a:p>
          <a:p>
            <a:pPr algn="just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25365" y="685800"/>
          <a:ext cx="10972800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510" y="1576552"/>
            <a:ext cx="10610193" cy="4319751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/>
              <a:t>Product development is the process through which companies: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</a:rPr>
              <a:t>react to market signals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</a:rPr>
              <a:t>respond to changes in customer demand 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</a:rPr>
              <a:t>adopt new technologies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</a:rPr>
              <a:t>foray into new areas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</a:rPr>
              <a:t>ensure continuous growth 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</a:rPr>
              <a:t>core process in achieving strategic objectives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</a:rPr>
              <a:t> renewal of the company business model 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</a:rPr>
              <a:t>deterring competition from displacing the company from its market position.</a:t>
            </a:r>
          </a:p>
          <a:p>
            <a:pPr algn="just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25365" y="733097"/>
          <a:ext cx="10972800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931" y="1560786"/>
            <a:ext cx="10405241" cy="501375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Product/service development process is part of the overall new-venture creation process.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Even though </a:t>
            </a:r>
            <a:r>
              <a:rPr lang="en-US" sz="2400" u="sng" dirty="0" smtClean="0">
                <a:solidFill>
                  <a:srgbClr val="FF0000"/>
                </a:solidFill>
              </a:rPr>
              <a:t>there are many models that advocate what the product/service generation process should look like</a:t>
            </a:r>
            <a:r>
              <a:rPr lang="en-US" sz="2400" dirty="0" smtClean="0"/>
              <a:t>, for this purpose we shall adopt four distinct stages.	</a:t>
            </a:r>
          </a:p>
          <a:p>
            <a:pPr lvl="3" algn="just"/>
            <a:r>
              <a:rPr lang="en-US" sz="2400" dirty="0" smtClean="0"/>
              <a:t>Idea Generation </a:t>
            </a:r>
          </a:p>
          <a:p>
            <a:pPr lvl="3" algn="just"/>
            <a:r>
              <a:rPr lang="en-US" sz="2400" dirty="0" smtClean="0"/>
              <a:t>Incubation</a:t>
            </a:r>
          </a:p>
          <a:p>
            <a:pPr lvl="3" algn="just"/>
            <a:r>
              <a:rPr lang="en-US" sz="2400" dirty="0" smtClean="0"/>
              <a:t>Implementation</a:t>
            </a:r>
          </a:p>
          <a:p>
            <a:pPr lvl="3" algn="just"/>
            <a:r>
              <a:rPr lang="en-US" sz="2400" dirty="0" smtClean="0"/>
              <a:t>Diffusion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609600" y="575441"/>
          <a:ext cx="10946524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930166" y="1182414"/>
            <a:ext cx="10326413" cy="47296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868" y="1608082"/>
            <a:ext cx="10499835" cy="4130565"/>
          </a:xfrm>
        </p:spPr>
        <p:txBody>
          <a:bodyPr>
            <a:noAutofit/>
          </a:bodyPr>
          <a:lstStyle/>
          <a:p>
            <a:pPr lvl="0" algn="just">
              <a:spcBef>
                <a:spcPts val="0"/>
              </a:spcBef>
              <a:buNone/>
            </a:pPr>
            <a:r>
              <a:rPr lang="en-US" b="1" dirty="0" smtClean="0"/>
              <a:t>1. New Idea Generation</a:t>
            </a:r>
            <a:endParaRPr lang="en-US" dirty="0" smtClean="0"/>
          </a:p>
          <a:p>
            <a:pPr lvl="2" algn="just">
              <a:spcBef>
                <a:spcPts val="0"/>
              </a:spcBef>
            </a:pPr>
            <a:r>
              <a:rPr lang="en-US" sz="2400" dirty="0" smtClean="0"/>
              <a:t>It is search for ideas. </a:t>
            </a:r>
          </a:p>
          <a:p>
            <a:pPr lvl="2" algn="just">
              <a:spcBef>
                <a:spcPts val="0"/>
              </a:spcBef>
            </a:pPr>
            <a:r>
              <a:rPr lang="en-US" sz="2400" dirty="0" smtClean="0"/>
              <a:t>Sources of ideas </a:t>
            </a:r>
          </a:p>
          <a:p>
            <a:pPr lvl="3" algn="just">
              <a:spcBef>
                <a:spcPts val="0"/>
              </a:spcBef>
            </a:pPr>
            <a:r>
              <a:rPr lang="en-US" sz="2400" dirty="0" smtClean="0"/>
              <a:t>Consumers, existing products and services, distribution channels, the federal government and research and development.</a:t>
            </a:r>
          </a:p>
          <a:p>
            <a:pPr lvl="0" algn="just">
              <a:spcBef>
                <a:spcPts val="0"/>
              </a:spcBef>
              <a:buNone/>
            </a:pPr>
            <a:r>
              <a:rPr lang="en-US" b="1" dirty="0" smtClean="0"/>
              <a:t>2. Idea Screening</a:t>
            </a:r>
            <a:endParaRPr lang="en-US" dirty="0" smtClean="0"/>
          </a:p>
          <a:p>
            <a:pPr lvl="2" algn="just">
              <a:spcBef>
                <a:spcPts val="0"/>
              </a:spcBef>
            </a:pPr>
            <a:r>
              <a:rPr lang="en-US" sz="2400" dirty="0" smtClean="0"/>
              <a:t>To lessen the number of ideas to few vital/valuable ideas. </a:t>
            </a:r>
          </a:p>
          <a:p>
            <a:pPr lvl="2" algn="just">
              <a:spcBef>
                <a:spcPts val="0"/>
              </a:spcBef>
            </a:pPr>
            <a:r>
              <a:rPr lang="en-US" sz="2400" dirty="0" smtClean="0"/>
              <a:t>Written down and reviewed each week </a:t>
            </a:r>
            <a:r>
              <a:rPr lang="en-US" sz="2400" dirty="0" smtClean="0">
                <a:solidFill>
                  <a:srgbClr val="FF0000"/>
                </a:solidFill>
              </a:rPr>
              <a:t>by an idea committee  into three groups. </a:t>
            </a:r>
          </a:p>
          <a:p>
            <a:pPr lvl="3" algn="just">
              <a:spcBef>
                <a:spcPts val="0"/>
              </a:spcBef>
            </a:pPr>
            <a:r>
              <a:rPr lang="en-US" sz="2400" dirty="0" smtClean="0"/>
              <a:t>Promising Ideas, Marginal Ideas and Rejects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677917" y="656897"/>
            <a:ext cx="10767850" cy="685130"/>
            <a:chOff x="0" y="334"/>
            <a:chExt cx="8229600" cy="685130"/>
          </a:xfrm>
        </p:grpSpPr>
        <p:sp>
          <p:nvSpPr>
            <p:cNvPr id="7" name="Rounded Rectangle 6"/>
            <p:cNvSpPr/>
            <p:nvPr/>
          </p:nvSpPr>
          <p:spPr>
            <a:xfrm>
              <a:off x="0" y="334"/>
              <a:ext cx="8229600" cy="68513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33445" y="33779"/>
              <a:ext cx="8162710" cy="618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l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 smtClean="0"/>
                <a:t>Con….</a:t>
              </a:r>
              <a:endParaRPr lang="en-US" sz="3600" b="1" kern="1200" dirty="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06" y="1576552"/>
            <a:ext cx="10578663" cy="4351282"/>
          </a:xfrm>
        </p:spPr>
        <p:txBody>
          <a:bodyPr>
            <a:normAutofit/>
          </a:bodyPr>
          <a:lstStyle/>
          <a:p>
            <a:pPr lvl="0" algn="just">
              <a:spcBef>
                <a:spcPts val="0"/>
              </a:spcBef>
              <a:buNone/>
            </a:pPr>
            <a:r>
              <a:rPr lang="en-US" sz="2200" b="1" dirty="0" smtClean="0"/>
              <a:t>3. Concept Development and Testing</a:t>
            </a:r>
            <a:endParaRPr lang="en-US" sz="2200" dirty="0" smtClean="0"/>
          </a:p>
          <a:p>
            <a:pPr algn="just">
              <a:spcBef>
                <a:spcPts val="0"/>
              </a:spcBef>
            </a:pPr>
            <a:r>
              <a:rPr lang="en-US" sz="2200" dirty="0" smtClean="0"/>
              <a:t>Attractive ideas must be refined into fast able </a:t>
            </a:r>
            <a:r>
              <a:rPr lang="en-US" sz="2200" dirty="0" smtClean="0">
                <a:solidFill>
                  <a:srgbClr val="FF0000"/>
                </a:solidFill>
              </a:rPr>
              <a:t>product concepts since people do not purchase ideas but they buy concepts.</a:t>
            </a:r>
            <a:r>
              <a:rPr lang="en-US" sz="2200" dirty="0" smtClean="0"/>
              <a:t> 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/>
              <a:t>Any product idea can be turned into several product concepts. The questions asked probably include:-</a:t>
            </a:r>
          </a:p>
          <a:p>
            <a:pPr lvl="3" algn="just">
              <a:spcBef>
                <a:spcPts val="0"/>
              </a:spcBef>
            </a:pPr>
            <a:r>
              <a:rPr lang="en-US" dirty="0" smtClean="0"/>
              <a:t>Who will use the product?</a:t>
            </a:r>
          </a:p>
          <a:p>
            <a:pPr lvl="3" algn="just">
              <a:spcBef>
                <a:spcPts val="0"/>
              </a:spcBef>
            </a:pPr>
            <a:r>
              <a:rPr lang="en-US" dirty="0" smtClean="0"/>
              <a:t>What benefits should the product provide? </a:t>
            </a:r>
          </a:p>
          <a:p>
            <a:pPr lvl="3" algn="just">
              <a:spcBef>
                <a:spcPts val="0"/>
              </a:spcBef>
            </a:pPr>
            <a:r>
              <a:rPr lang="en-US" dirty="0" smtClean="0"/>
              <a:t>When will people consume the produced</a:t>
            </a:r>
          </a:p>
          <a:p>
            <a:pPr algn="just">
              <a:spcBef>
                <a:spcPts val="0"/>
              </a:spcBef>
            </a:pPr>
            <a:r>
              <a:rPr lang="en-US" sz="2200" b="1" i="1" dirty="0" smtClean="0"/>
              <a:t>Concept Testing</a:t>
            </a:r>
            <a:r>
              <a:rPr lang="en-US" sz="2200" b="1" dirty="0" smtClean="0"/>
              <a:t>:</a:t>
            </a:r>
            <a:r>
              <a:rPr lang="en-US" sz="2200" dirty="0" smtClean="0"/>
              <a:t> calls for testing product concepts with an </a:t>
            </a:r>
            <a:r>
              <a:rPr lang="en-US" sz="2200" dirty="0" smtClean="0">
                <a:solidFill>
                  <a:srgbClr val="FF0000"/>
                </a:solidFill>
              </a:rPr>
              <a:t>appropriate group of target consumers/customers, and then getting the consumers’ reactions. 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/>
              <a:t>At this stage, the concepts can be in </a:t>
            </a:r>
            <a:r>
              <a:rPr lang="en-US" sz="2200" u="sng" dirty="0" smtClean="0">
                <a:solidFill>
                  <a:srgbClr val="00B0F0"/>
                </a:solidFill>
              </a:rPr>
              <a:t>words or picture description</a:t>
            </a:r>
            <a:r>
              <a:rPr lang="en-US" sz="2200" u="sng" dirty="0" smtClean="0"/>
              <a:t>.</a:t>
            </a:r>
          </a:p>
          <a:p>
            <a:pPr algn="just">
              <a:spcBef>
                <a:spcPts val="0"/>
              </a:spcBef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651641" y="688429"/>
            <a:ext cx="10825656" cy="730468"/>
            <a:chOff x="0" y="334"/>
            <a:chExt cx="8229600" cy="685130"/>
          </a:xfrm>
        </p:grpSpPr>
        <p:sp>
          <p:nvSpPr>
            <p:cNvPr id="7" name="Rounded Rectangle 6"/>
            <p:cNvSpPr/>
            <p:nvPr/>
          </p:nvSpPr>
          <p:spPr>
            <a:xfrm>
              <a:off x="0" y="334"/>
              <a:ext cx="8229600" cy="68513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33445" y="33779"/>
              <a:ext cx="8162710" cy="618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l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 smtClean="0"/>
                <a:t>Con….</a:t>
              </a:r>
              <a:endParaRPr lang="en-US" sz="3600" b="1" kern="1200" dirty="0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572" y="1466192"/>
            <a:ext cx="10562897" cy="4351283"/>
          </a:xfrm>
        </p:spPr>
        <p:txBody>
          <a:bodyPr>
            <a:noAutofit/>
          </a:bodyPr>
          <a:lstStyle/>
          <a:p>
            <a:pPr lvl="0" algn="just">
              <a:spcBef>
                <a:spcPts val="0"/>
              </a:spcBef>
              <a:buNone/>
            </a:pPr>
            <a:r>
              <a:rPr lang="en-US" b="1" dirty="0" smtClean="0"/>
              <a:t>4. Marketing Strategy Development</a:t>
            </a:r>
            <a:endParaRPr lang="en-US" dirty="0" smtClean="0"/>
          </a:p>
          <a:p>
            <a:pPr algn="just">
              <a:spcBef>
                <a:spcPts val="0"/>
              </a:spcBef>
            </a:pPr>
            <a:r>
              <a:rPr lang="en-US" dirty="0" smtClean="0"/>
              <a:t>The marketing strategy plan consists of three parts: </a:t>
            </a:r>
          </a:p>
          <a:p>
            <a:pPr marL="1437894" lvl="3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Market size, structure, behavior </a:t>
            </a:r>
          </a:p>
          <a:p>
            <a:pPr marL="1437894" lvl="3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Planned price, distribution strategy, and marketing budget of the 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year</a:t>
            </a:r>
          </a:p>
          <a:p>
            <a:pPr marL="1437894" lvl="3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Long run sales and profit goals, marketing mix strategy.</a:t>
            </a:r>
          </a:p>
          <a:p>
            <a:pPr lvl="0" algn="just">
              <a:spcBef>
                <a:spcPts val="0"/>
              </a:spcBef>
              <a:buNone/>
            </a:pPr>
            <a:r>
              <a:rPr lang="en-US" b="1" dirty="0" smtClean="0"/>
              <a:t>5. Business Analysis</a:t>
            </a:r>
            <a:endParaRPr lang="en-US" dirty="0" smtClean="0"/>
          </a:p>
          <a:p>
            <a:pPr lvl="1" algn="just">
              <a:spcBef>
                <a:spcPts val="0"/>
              </a:spcBef>
            </a:pPr>
            <a:r>
              <a:rPr lang="en-US" sz="2400" dirty="0" smtClean="0"/>
              <a:t>It is evaluating the proposal’s business attractiveness. </a:t>
            </a:r>
          </a:p>
          <a:p>
            <a:pPr lvl="1" algn="just">
              <a:spcBef>
                <a:spcPts val="0"/>
              </a:spcBef>
            </a:pPr>
            <a:r>
              <a:rPr lang="en-US" sz="2400" dirty="0" smtClean="0"/>
              <a:t>Management needs to prepare </a:t>
            </a:r>
            <a:r>
              <a:rPr lang="en-US" sz="2400" u="sng" dirty="0" smtClean="0">
                <a:solidFill>
                  <a:srgbClr val="FF0000"/>
                </a:solidFill>
              </a:rPr>
              <a:t>sales, cost and profit projections </a:t>
            </a:r>
            <a:r>
              <a:rPr lang="en-US" sz="2400" dirty="0" smtClean="0"/>
              <a:t>to determine whether they satisfy the company's objective or not. </a:t>
            </a:r>
          </a:p>
          <a:p>
            <a:pPr algn="just">
              <a:spcBef>
                <a:spcPts val="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651642" y="654270"/>
            <a:ext cx="10904482" cy="685130"/>
            <a:chOff x="0" y="334"/>
            <a:chExt cx="8229600" cy="685130"/>
          </a:xfrm>
        </p:grpSpPr>
        <p:sp>
          <p:nvSpPr>
            <p:cNvPr id="7" name="Rounded Rectangle 6"/>
            <p:cNvSpPr/>
            <p:nvPr/>
          </p:nvSpPr>
          <p:spPr>
            <a:xfrm>
              <a:off x="0" y="334"/>
              <a:ext cx="8229600" cy="68513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33445" y="33779"/>
              <a:ext cx="8162710" cy="618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l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 smtClean="0"/>
                <a:t>Con….</a:t>
              </a:r>
              <a:endParaRPr lang="en-US" sz="3600" b="1" kern="1200" dirty="0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76" y="1340069"/>
            <a:ext cx="10625958" cy="4729656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200" b="1" dirty="0" smtClean="0"/>
              <a:t>6. Product Development</a:t>
            </a:r>
            <a:endParaRPr lang="en-US" sz="2200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200" dirty="0" smtClean="0"/>
              <a:t>If product concept passes the business test, it moves to R&amp;D or engineering to be </a:t>
            </a:r>
            <a:r>
              <a:rPr lang="en-US" sz="2200" u="sng" dirty="0" smtClean="0">
                <a:solidFill>
                  <a:srgbClr val="FF0000"/>
                </a:solidFill>
              </a:rPr>
              <a:t>developed one or more physical version of the product concept.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200" dirty="0" smtClean="0"/>
              <a:t>Its goal is to find </a:t>
            </a:r>
            <a:r>
              <a:rPr lang="en-US" sz="2200" u="sng" dirty="0" smtClean="0">
                <a:solidFill>
                  <a:srgbClr val="FF0000"/>
                </a:solidFill>
              </a:rPr>
              <a:t>a prototype</a:t>
            </a:r>
            <a:r>
              <a:rPr lang="en-US" sz="2200" dirty="0" smtClean="0"/>
              <a:t> that the consumers/customers see as embodying the key attribute described in the product concept statement, 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200" b="1" dirty="0" smtClean="0"/>
              <a:t>7. Market Testing</a:t>
            </a:r>
            <a:endParaRPr lang="en-US" sz="2200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200" dirty="0" smtClean="0"/>
              <a:t>After management is satisfied with the </a:t>
            </a:r>
            <a:r>
              <a:rPr lang="en-US" sz="2200" u="sng" dirty="0" smtClean="0"/>
              <a:t>products’ functional and psychological performance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 smtClean="0"/>
              <a:t>the product is </a:t>
            </a:r>
            <a:r>
              <a:rPr lang="en-US" sz="2200" u="sng" dirty="0" smtClean="0">
                <a:solidFill>
                  <a:srgbClr val="FF0000"/>
                </a:solidFill>
              </a:rPr>
              <a:t>ready to be dressed up with the brand name</a:t>
            </a:r>
            <a:r>
              <a:rPr lang="en-US" sz="2200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77002"/>
            <a:ext cx="3860800" cy="244475"/>
          </a:xfrm>
        </p:spPr>
        <p:txBody>
          <a:bodyPr/>
          <a:lstStyle/>
          <a:p>
            <a:r>
              <a:rPr lang="en-US" smtClean="0"/>
              <a:t>By Gazu G. (MBA)</a:t>
            </a:r>
            <a:endParaRPr lang="en-US" dirty="0"/>
          </a:p>
        </p:txBody>
      </p:sp>
      <p:grpSp>
        <p:nvGrpSpPr>
          <p:cNvPr id="2" name="Group 5"/>
          <p:cNvGrpSpPr/>
          <p:nvPr/>
        </p:nvGrpSpPr>
        <p:grpSpPr>
          <a:xfrm>
            <a:off x="740979" y="704194"/>
            <a:ext cx="10657490" cy="714703"/>
            <a:chOff x="0" y="334"/>
            <a:chExt cx="8229600" cy="685130"/>
          </a:xfrm>
        </p:grpSpPr>
        <p:sp>
          <p:nvSpPr>
            <p:cNvPr id="7" name="Rounded Rectangle 6"/>
            <p:cNvSpPr/>
            <p:nvPr/>
          </p:nvSpPr>
          <p:spPr>
            <a:xfrm>
              <a:off x="0" y="334"/>
              <a:ext cx="8229600" cy="68513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33445" y="33779"/>
              <a:ext cx="8162710" cy="618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l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 smtClean="0"/>
                <a:t>Con….</a:t>
              </a:r>
              <a:endParaRPr lang="en-US" sz="3600" b="1" kern="1200" dirty="0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040" y="1545021"/>
            <a:ext cx="10594429" cy="4414345"/>
          </a:xfrm>
        </p:spPr>
        <p:txBody>
          <a:bodyPr>
            <a:noAutofit/>
          </a:bodyPr>
          <a:lstStyle/>
          <a:p>
            <a:pPr lvl="0" algn="just">
              <a:spcBef>
                <a:spcPts val="0"/>
              </a:spcBef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8. Commercialization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When (Timing):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commercializing,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market entry timing is critical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spcBef>
                <a:spcPts val="0"/>
              </a:spcBef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the company hears about a competitor nearing the end of its development work, it will face three choices. </a:t>
            </a:r>
          </a:p>
          <a:p>
            <a:pPr lvl="1" algn="just">
              <a:spcBef>
                <a:spcPts val="0"/>
              </a:spcBef>
            </a:pP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First Entry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>
              <a:spcBef>
                <a:spcPts val="0"/>
              </a:spcBef>
            </a:pP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Late Entry Strategy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has three advantages include:</a:t>
            </a:r>
          </a:p>
          <a:p>
            <a:pPr lvl="3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competition will have borne the cost of educating the market;</a:t>
            </a:r>
          </a:p>
          <a:p>
            <a:pPr lvl="3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competing product may reveal fault that the late entrant can avoid; and</a:t>
            </a:r>
          </a:p>
          <a:p>
            <a:pPr lvl="3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company can learn the size of the market. </a:t>
            </a:r>
          </a:p>
          <a:p>
            <a:pPr algn="just">
              <a:spcBef>
                <a:spcPts val="0"/>
              </a:spcBef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740979" y="704194"/>
            <a:ext cx="10657490" cy="714703"/>
            <a:chOff x="0" y="334"/>
            <a:chExt cx="8229600" cy="685130"/>
          </a:xfrm>
        </p:grpSpPr>
        <p:sp>
          <p:nvSpPr>
            <p:cNvPr id="7" name="Rounded Rectangle 6"/>
            <p:cNvSpPr/>
            <p:nvPr/>
          </p:nvSpPr>
          <p:spPr>
            <a:xfrm>
              <a:off x="0" y="334"/>
              <a:ext cx="8229600" cy="68513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33445" y="33779"/>
              <a:ext cx="8162710" cy="618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l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 smtClean="0"/>
                <a:t>Con….</a:t>
              </a:r>
              <a:endParaRPr lang="en-US" sz="3600" b="1" kern="1200" dirty="0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725213" y="717331"/>
          <a:ext cx="10799379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868" y="1576551"/>
            <a:ext cx="10699531" cy="4303985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Char char="ü"/>
            </a:pPr>
            <a:r>
              <a:rPr lang="en-US" dirty="0" smtClean="0"/>
              <a:t>Intellectual property is a legal definition of: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/>
              <a:t> ideas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/>
              <a:t>Inventions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/>
              <a:t>artistic works </a:t>
            </a:r>
          </a:p>
          <a:p>
            <a:pPr lvl="3"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 smtClean="0"/>
              <a:t>other commercially viable products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Intellectual property Includes: </a:t>
            </a:r>
          </a:p>
          <a:p>
            <a:pPr lvl="3" algn="just">
              <a:spcBef>
                <a:spcPts val="0"/>
              </a:spcBef>
            </a:pPr>
            <a:r>
              <a:rPr lang="en-US" sz="2400" dirty="0" smtClean="0"/>
              <a:t>patents </a:t>
            </a:r>
          </a:p>
          <a:p>
            <a:pPr lvl="3" algn="just">
              <a:spcBef>
                <a:spcPts val="0"/>
              </a:spcBef>
            </a:pPr>
            <a:r>
              <a:rPr lang="en-US" sz="2400" dirty="0" smtClean="0"/>
              <a:t>trademarks</a:t>
            </a:r>
          </a:p>
          <a:p>
            <a:pPr lvl="3" algn="just">
              <a:spcBef>
                <a:spcPts val="0"/>
              </a:spcBef>
            </a:pPr>
            <a:r>
              <a:rPr lang="en-US" sz="2400" dirty="0" smtClean="0"/>
              <a:t> copyrights</a:t>
            </a:r>
          </a:p>
          <a:p>
            <a:pPr lvl="3" algn="just">
              <a:spcBef>
                <a:spcPts val="0"/>
              </a:spcBef>
            </a:pPr>
            <a:r>
              <a:rPr lang="en-US" sz="2400" dirty="0" smtClean="0"/>
              <a:t>trade secrets represents </a:t>
            </a:r>
          </a:p>
          <a:p>
            <a:pPr algn="just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719959" y="730468"/>
          <a:ext cx="10972800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041" y="1876097"/>
            <a:ext cx="10515600" cy="4099034"/>
          </a:xfrm>
        </p:spPr>
        <p:txBody>
          <a:bodyPr>
            <a:no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Invents a new thing or improves an existing invention.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patent is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exclusive right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the inventor to enjoy the benefits resulting' from the possession of the patent.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Forms of  patent :</a:t>
            </a:r>
          </a:p>
          <a:p>
            <a:pPr lvl="2" algn="just"/>
            <a:r>
              <a:rPr lang="en-US" sz="2400" b="1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Utility Patent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protects any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new invention or functional improvements on existing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inventions.</a:t>
            </a:r>
          </a:p>
          <a:p>
            <a:pPr lvl="2" algn="just"/>
            <a:r>
              <a:rPr lang="en-US" sz="2400" b="1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Design Patent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protects the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appearance of an object and covers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new, original, ornamental, and unobvious designs for articles of manufacture.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41131" y="746234"/>
          <a:ext cx="10972800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338" y="1497724"/>
            <a:ext cx="10731061" cy="4256690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en-US" sz="2400" b="1" dirty="0" smtClean="0"/>
              <a:t>Processes</a:t>
            </a:r>
            <a:endParaRPr lang="en-US" sz="2400" dirty="0" smtClean="0"/>
          </a:p>
          <a:p>
            <a:pPr lvl="1" algn="just"/>
            <a:r>
              <a:rPr lang="en-US" sz="2400" dirty="0" smtClean="0"/>
              <a:t>Methods of production, research, testing, analysis, technologies with new applications.</a:t>
            </a:r>
          </a:p>
          <a:p>
            <a:pPr lvl="0" algn="just"/>
            <a:r>
              <a:rPr lang="en-US" sz="2400" b="1" dirty="0" smtClean="0"/>
              <a:t>Machines</a:t>
            </a:r>
            <a:endParaRPr lang="en-US" sz="2400" dirty="0" smtClean="0"/>
          </a:p>
          <a:p>
            <a:pPr lvl="1" algn="just"/>
            <a:r>
              <a:rPr lang="en-US" sz="2400" dirty="0" smtClean="0"/>
              <a:t>Products, instruments, physical objects.</a:t>
            </a:r>
          </a:p>
          <a:p>
            <a:pPr lvl="0" algn="just"/>
            <a:r>
              <a:rPr lang="en-US" sz="2400" b="1" dirty="0" smtClean="0"/>
              <a:t>Manufactures</a:t>
            </a:r>
            <a:r>
              <a:rPr lang="en-US" sz="2400" dirty="0" smtClean="0"/>
              <a:t> </a:t>
            </a:r>
          </a:p>
          <a:p>
            <a:pPr lvl="1" algn="just"/>
            <a:r>
              <a:rPr lang="en-US" sz="2400" dirty="0" smtClean="0"/>
              <a:t>Combinations of physical matter not naturally found.</a:t>
            </a:r>
          </a:p>
          <a:p>
            <a:pPr lvl="0" algn="just"/>
            <a:r>
              <a:rPr lang="en-US" sz="2400" b="1" dirty="0" smtClean="0"/>
              <a:t>Composition of matter</a:t>
            </a:r>
            <a:endParaRPr lang="en-US" sz="2400" dirty="0" smtClean="0"/>
          </a:p>
          <a:p>
            <a:pPr lvl="1" algn="just"/>
            <a:r>
              <a:rPr lang="en-US" sz="2400" dirty="0" smtClean="0"/>
              <a:t>Chemical compounds, medicines, etc.</a:t>
            </a:r>
          </a:p>
          <a:p>
            <a:pPr algn="just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625365" y="731838"/>
          <a:ext cx="10972800" cy="71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338" y="1702676"/>
            <a:ext cx="10731062" cy="4423488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/>
              <a:t>A trademark may be:</a:t>
            </a:r>
          </a:p>
          <a:p>
            <a:pPr lvl="1" algn="just">
              <a:lnSpc>
                <a:spcPct val="170000"/>
              </a:lnSpc>
            </a:pPr>
            <a:r>
              <a:rPr lang="en-US" sz="2400" dirty="0" smtClean="0">
                <a:solidFill>
                  <a:srgbClr val="00B050"/>
                </a:solidFill>
              </a:rPr>
              <a:t>a word, symbol, design, or some combination of such, </a:t>
            </a:r>
            <a:endParaRPr lang="en-US" sz="2400" dirty="0" smtClean="0"/>
          </a:p>
          <a:p>
            <a:pPr lvl="1" algn="just">
              <a:lnSpc>
                <a:spcPct val="170000"/>
              </a:lnSpc>
            </a:pPr>
            <a:r>
              <a:rPr lang="en-US" sz="2400" dirty="0" smtClean="0">
                <a:solidFill>
                  <a:srgbClr val="7030A0"/>
                </a:solidFill>
              </a:rPr>
              <a:t>it could be a slogan or even a particular sound </a:t>
            </a:r>
          </a:p>
          <a:p>
            <a:pPr algn="just">
              <a:lnSpc>
                <a:spcPct val="170000"/>
              </a:lnSpc>
            </a:pPr>
            <a:r>
              <a:rPr lang="en-US" dirty="0" smtClean="0"/>
              <a:t>It</a:t>
            </a:r>
            <a:r>
              <a:rPr lang="en-US" dirty="0" smtClean="0">
                <a:solidFill>
                  <a:schemeClr val="accent3"/>
                </a:solidFill>
              </a:rPr>
              <a:t> </a:t>
            </a:r>
            <a:r>
              <a:rPr lang="en-US" dirty="0" smtClean="0"/>
              <a:t>identifies the source or sponsorship of certain goods or services. </a:t>
            </a:r>
          </a:p>
          <a:p>
            <a:pPr algn="just">
              <a:lnSpc>
                <a:spcPct val="170000"/>
              </a:lnSpc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56897" y="716073"/>
          <a:ext cx="10972800" cy="71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338" y="1576552"/>
            <a:ext cx="10547131" cy="4146331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/>
              <a:t>Copyright is a right given to prevent others from </a:t>
            </a:r>
            <a:r>
              <a:rPr lang="en-US" sz="2400" u="sng" dirty="0" smtClean="0">
                <a:solidFill>
                  <a:srgbClr val="FF0000"/>
                </a:solidFill>
              </a:rPr>
              <a:t>printing,</a:t>
            </a:r>
            <a:r>
              <a:rPr lang="en-US" sz="2400" dirty="0" smtClean="0"/>
              <a:t> </a:t>
            </a:r>
            <a:r>
              <a:rPr lang="en-US" sz="2400" u="sng" dirty="0" smtClean="0">
                <a:solidFill>
                  <a:srgbClr val="7030A0"/>
                </a:solidFill>
              </a:rPr>
              <a:t>copying</a:t>
            </a:r>
            <a:r>
              <a:rPr lang="en-US" sz="2400" dirty="0" smtClean="0"/>
              <a:t>, or </a:t>
            </a:r>
            <a:r>
              <a:rPr lang="en-US" sz="2400" u="sng" dirty="0" smtClean="0">
                <a:solidFill>
                  <a:srgbClr val="00B050"/>
                </a:solidFill>
              </a:rPr>
              <a:t>publishing</a:t>
            </a:r>
            <a:r>
              <a:rPr lang="en-US" sz="2400" dirty="0" smtClean="0"/>
              <a:t> any original works of authorship.</a:t>
            </a:r>
          </a:p>
          <a:p>
            <a:pPr algn="just"/>
            <a:r>
              <a:rPr lang="en-US" sz="2400" dirty="0" smtClean="0"/>
              <a:t>Copyrights provide </a:t>
            </a:r>
            <a:r>
              <a:rPr lang="en-US" sz="2400" u="sng" dirty="0" smtClean="0">
                <a:solidFill>
                  <a:srgbClr val="FF0000"/>
                </a:solidFill>
              </a:rPr>
              <a:t>exclusive rights </a:t>
            </a:r>
            <a:r>
              <a:rPr lang="en-US" sz="2400" dirty="0" smtClean="0"/>
              <a:t>to creative individuals for the </a:t>
            </a:r>
            <a:r>
              <a:rPr lang="en-US" sz="2400" u="sng" dirty="0" smtClean="0">
                <a:solidFill>
                  <a:srgbClr val="00B0F0"/>
                </a:solidFill>
              </a:rPr>
              <a:t>protection of literary or artistic productions</a:t>
            </a:r>
            <a:r>
              <a:rPr lang="en-US" sz="2400" dirty="0" smtClean="0"/>
              <a:t>. </a:t>
            </a:r>
          </a:p>
          <a:p>
            <a:pPr algn="just"/>
            <a:r>
              <a:rPr lang="en-US" sz="2400" dirty="0" smtClean="0"/>
              <a:t>It protects original works of:</a:t>
            </a:r>
          </a:p>
          <a:p>
            <a:pPr lvl="1" algn="just"/>
            <a:r>
              <a:rPr lang="en-US" sz="2400" dirty="0" smtClean="0"/>
              <a:t>authorship including </a:t>
            </a:r>
            <a:r>
              <a:rPr lang="en-US" sz="2400" dirty="0" smtClean="0">
                <a:solidFill>
                  <a:srgbClr val="FF0000"/>
                </a:solidFill>
              </a:rPr>
              <a:t>literary, dramatic, musical.</a:t>
            </a:r>
          </a:p>
          <a:p>
            <a:pPr lvl="1" algn="just"/>
            <a:r>
              <a:rPr lang="en-US" sz="2400" dirty="0" smtClean="0"/>
              <a:t>artistic works</a:t>
            </a:r>
            <a:r>
              <a:rPr lang="en-US" sz="2400" dirty="0" smtClean="0">
                <a:solidFill>
                  <a:srgbClr val="FF0000"/>
                </a:solidFill>
              </a:rPr>
              <a:t>, such as poetry, novels, movies, songs, computer software, and architecture. 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72662" y="764627"/>
          <a:ext cx="10836166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06" y="1702676"/>
            <a:ext cx="10515601" cy="4162096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</a:pPr>
            <a:r>
              <a:rPr lang="en-US" dirty="0" smtClean="0"/>
              <a:t>Ethiopia became a party to the convention establishing the </a:t>
            </a:r>
            <a:r>
              <a:rPr lang="en-US" u="sng" dirty="0" smtClean="0">
                <a:solidFill>
                  <a:srgbClr val="FF0000"/>
                </a:solidFill>
              </a:rPr>
              <a:t>world Intellectual Property Organization </a:t>
            </a:r>
            <a:r>
              <a:rPr lang="en-US" dirty="0" smtClean="0"/>
              <a:t>(</a:t>
            </a:r>
            <a:r>
              <a:rPr lang="en-US" u="sng" dirty="0" smtClean="0">
                <a:solidFill>
                  <a:srgbClr val="7030A0"/>
                </a:solidFill>
              </a:rPr>
              <a:t>WIPO</a:t>
            </a:r>
            <a:r>
              <a:rPr lang="en-US" dirty="0" smtClean="0"/>
              <a:t>) in February 1998 </a:t>
            </a:r>
          </a:p>
          <a:p>
            <a:pPr algn="just">
              <a:spcBef>
                <a:spcPts val="1200"/>
              </a:spcBef>
            </a:pPr>
            <a:r>
              <a:rPr lang="en-US" dirty="0" smtClean="0"/>
              <a:t>some time the Country had joined the Nairobi Treaty on the Protection of the Olympic Symbol in 1981. </a:t>
            </a:r>
          </a:p>
          <a:p>
            <a:pPr algn="just">
              <a:spcBef>
                <a:spcPts val="1200"/>
              </a:spcBef>
            </a:pPr>
            <a:r>
              <a:rPr lang="en-US" dirty="0" smtClean="0"/>
              <a:t>It is a member of the Treaty establishing </a:t>
            </a:r>
            <a:r>
              <a:rPr lang="en-US" u="sng" dirty="0" smtClean="0">
                <a:solidFill>
                  <a:srgbClr val="FF0000"/>
                </a:solidFill>
              </a:rPr>
              <a:t>the Common Market for Eastern and Southern Africa</a:t>
            </a:r>
            <a:r>
              <a:rPr lang="en-US" dirty="0" smtClean="0"/>
              <a:t> (</a:t>
            </a:r>
            <a:r>
              <a:rPr lang="en-US" u="sng" dirty="0" smtClean="0">
                <a:solidFill>
                  <a:srgbClr val="7030A0"/>
                </a:solidFill>
              </a:rPr>
              <a:t>COMESA</a:t>
            </a:r>
            <a:r>
              <a:rPr lang="en-US" dirty="0" smtClean="0"/>
              <a:t>) which was formed in 1994, </a:t>
            </a:r>
            <a:r>
              <a:rPr lang="en-US" u="sng" dirty="0" smtClean="0">
                <a:solidFill>
                  <a:srgbClr val="0070C0"/>
                </a:solidFill>
              </a:rPr>
              <a:t>the Partnership Agreement between members</a:t>
            </a:r>
            <a:r>
              <a:rPr lang="en-US" dirty="0" smtClean="0"/>
              <a:t> of the </a:t>
            </a:r>
            <a:r>
              <a:rPr lang="en-US" u="sng" dirty="0" smtClean="0">
                <a:solidFill>
                  <a:srgbClr val="FF0000"/>
                </a:solidFill>
              </a:rPr>
              <a:t>African, Caribbean and Pacific </a:t>
            </a:r>
            <a:r>
              <a:rPr lang="en-US" dirty="0" smtClean="0"/>
              <a:t>(</a:t>
            </a:r>
            <a:r>
              <a:rPr lang="en-US" u="sng" dirty="0" smtClean="0">
                <a:solidFill>
                  <a:srgbClr val="7030A0"/>
                </a:solidFill>
              </a:rPr>
              <a:t>ACP</a:t>
            </a:r>
            <a:r>
              <a:rPr lang="en-US" dirty="0" smtClean="0"/>
              <a:t>) Group of States and </a:t>
            </a:r>
            <a:r>
              <a:rPr lang="en-US" u="sng" dirty="0" smtClean="0">
                <a:solidFill>
                  <a:srgbClr val="FF0000"/>
                </a:solidFill>
              </a:rPr>
              <a:t>the European Union </a:t>
            </a:r>
            <a:r>
              <a:rPr lang="en-US" dirty="0" smtClean="0"/>
              <a:t>(</a:t>
            </a:r>
            <a:r>
              <a:rPr lang="en-US" u="sng" dirty="0" smtClean="0">
                <a:solidFill>
                  <a:srgbClr val="7030A0"/>
                </a:solidFill>
              </a:rPr>
              <a:t>EU</a:t>
            </a:r>
            <a:r>
              <a:rPr lang="en-US" dirty="0" smtClean="0"/>
              <a:t>). </a:t>
            </a:r>
          </a:p>
          <a:p>
            <a:pPr algn="just">
              <a:spcBef>
                <a:spcPts val="1200"/>
              </a:spcBef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42883" y="740979"/>
          <a:ext cx="10850179" cy="754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510" y="1986455"/>
            <a:ext cx="10625959" cy="3846786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</a:pPr>
            <a:r>
              <a:rPr lang="en-US" dirty="0" smtClean="0"/>
              <a:t>The Ethiopian Government established the Ethiopian </a:t>
            </a:r>
            <a:r>
              <a:rPr lang="en-US" u="sng" dirty="0" smtClean="0">
                <a:solidFill>
                  <a:srgbClr val="FF0000"/>
                </a:solidFill>
              </a:rPr>
              <a:t>Intellectual Property Office in the year 2003</a:t>
            </a:r>
            <a:r>
              <a:rPr lang="en-US" dirty="0" smtClean="0"/>
              <a:t>.</a:t>
            </a:r>
          </a:p>
          <a:p>
            <a:pPr algn="just">
              <a:spcBef>
                <a:spcPts val="1200"/>
              </a:spcBef>
            </a:pPr>
            <a:r>
              <a:rPr lang="en-US" dirty="0" smtClean="0"/>
              <a:t>The existing laws and directives in Ethiopia in the field of Intellectual Property (IP) are: </a:t>
            </a:r>
          </a:p>
          <a:p>
            <a:pPr lvl="3" algn="just">
              <a:spcBef>
                <a:spcPts val="1200"/>
              </a:spcBef>
            </a:pPr>
            <a:r>
              <a:rPr lang="en-US" sz="2400" dirty="0" smtClean="0"/>
              <a:t>The Patent Proclamation and the Implementing Regulation</a:t>
            </a:r>
          </a:p>
          <a:p>
            <a:pPr lvl="3" algn="just">
              <a:spcBef>
                <a:spcPts val="1200"/>
              </a:spcBef>
            </a:pPr>
            <a:r>
              <a:rPr lang="en-US" sz="2400" dirty="0" smtClean="0"/>
              <a:t>The Copyright and Related Rights Proclamation </a:t>
            </a:r>
          </a:p>
          <a:p>
            <a:pPr lvl="3" algn="just">
              <a:spcBef>
                <a:spcPts val="1200"/>
              </a:spcBef>
            </a:pPr>
            <a:r>
              <a:rPr lang="en-US" sz="2400" dirty="0" smtClean="0"/>
              <a:t>The Trademark Registration Directive.</a:t>
            </a:r>
          </a:p>
          <a:p>
            <a:pPr algn="just">
              <a:spcBef>
                <a:spcPts val="12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725214" y="740979"/>
          <a:ext cx="10752083" cy="769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06" y="1434662"/>
            <a:ext cx="10515601" cy="427245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300" dirty="0" smtClean="0"/>
              <a:t>According to the proclamation in order to be granted a patent, </a:t>
            </a:r>
            <a:r>
              <a:rPr lang="en-US" sz="2300" u="sng" dirty="0" smtClean="0">
                <a:solidFill>
                  <a:srgbClr val="7030A0"/>
                </a:solidFill>
              </a:rPr>
              <a:t>an invention must fulfill three conditions- </a:t>
            </a:r>
          </a:p>
          <a:p>
            <a:pPr marL="1181862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 smtClean="0"/>
              <a:t>it must be new</a:t>
            </a:r>
          </a:p>
          <a:p>
            <a:pPr marL="1181862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 smtClean="0"/>
              <a:t>It should be capable of industrial application</a:t>
            </a:r>
          </a:p>
          <a:p>
            <a:pPr marL="1181862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 smtClean="0"/>
              <a:t>It must be "non-obvious”</a:t>
            </a:r>
          </a:p>
          <a:p>
            <a:pPr marL="624078" indent="-5143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300" dirty="0" smtClean="0"/>
              <a:t>The duration of a </a:t>
            </a:r>
            <a:r>
              <a:rPr lang="en-US" sz="2300" dirty="0" smtClean="0">
                <a:solidFill>
                  <a:srgbClr val="FF0000"/>
                </a:solidFill>
              </a:rPr>
              <a:t>patent is 15 years </a:t>
            </a:r>
            <a:r>
              <a:rPr lang="en-US" sz="2300" dirty="0" smtClean="0"/>
              <a:t>which may be </a:t>
            </a:r>
            <a:r>
              <a:rPr lang="en-US" sz="2300" dirty="0" smtClean="0">
                <a:solidFill>
                  <a:srgbClr val="FF0000"/>
                </a:solidFill>
              </a:rPr>
              <a:t>extended for a further period of five years </a:t>
            </a:r>
            <a:r>
              <a:rPr lang="en-US" sz="2300" dirty="0" smtClean="0"/>
              <a:t>if proof is furnished that the invention is properly worked in Ethiopia.</a:t>
            </a:r>
          </a:p>
          <a:p>
            <a:pPr marL="624078" indent="-514350" algn="just">
              <a:lnSpc>
                <a:spcPct val="150000"/>
              </a:lnSpc>
              <a:buNone/>
            </a:pPr>
            <a:endParaRPr lang="en-US" sz="23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56897" y="709448"/>
          <a:ext cx="10820400" cy="740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510" y="1387366"/>
            <a:ext cx="10610193" cy="4603531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proclamation excludes the following from patentability:-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Inventions contrary to public order or morality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Plant or animal varieties or essentially biological processes for the production    of plants or animals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Schemes, rules or methods for playing games or performing commercial and industrial    activities and computer programs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Discoveries, scientific theories and mathematical methods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Methods for treatment of the human or animal body by surgery or therapy as well as diagnostic methods practiced on the human or animal body.</a:t>
            </a:r>
          </a:p>
          <a:p>
            <a:pPr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09600" y="733097"/>
          <a:ext cx="10972800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338" y="1623848"/>
            <a:ext cx="10731062" cy="4477408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issued in the country in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1986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 the following objectives in that it helps:-</a:t>
            </a:r>
          </a:p>
          <a:p>
            <a:pPr lvl="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centrally deposit trademarks which are used by local and foreign enterprises to distinguish their goods or services;</a:t>
            </a:r>
          </a:p>
          <a:p>
            <a:pPr lvl="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distinguish the products or services of one enterprise from those of other enterprises and prevent consumers from being victims of unfair trade practices;</a:t>
            </a:r>
          </a:p>
          <a:p>
            <a:pPr lvl="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provide information on trademark ownership and right of use when disputes arise between parties;</a:t>
            </a:r>
          </a:p>
          <a:p>
            <a:pPr lvl="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provide required information on trademarks to government and individuals; </a:t>
            </a:r>
          </a:p>
          <a:p>
            <a:pPr lvl="0" algn="just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Protection is granted after publication of cautionary notice;</a:t>
            </a:r>
          </a:p>
          <a:p>
            <a:pPr algn="just">
              <a:spcBef>
                <a:spcPts val="0"/>
              </a:spcBef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688427" y="685800"/>
          <a:ext cx="10851932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76" y="1449978"/>
            <a:ext cx="10610193" cy="4493622"/>
          </a:xfrm>
        </p:spPr>
        <p:txBody>
          <a:bodyPr>
            <a:noAutofit/>
          </a:bodyPr>
          <a:lstStyle/>
          <a:p>
            <a:pPr algn="just"/>
            <a:r>
              <a:rPr lang="en-US" dirty="0" smtClean="0"/>
              <a:t>Is issued in 2004 and The Proclamation gives protection to:</a:t>
            </a:r>
          </a:p>
          <a:p>
            <a:pPr lvl="2" algn="just"/>
            <a:r>
              <a:rPr lang="en-US" sz="2400" dirty="0" smtClean="0"/>
              <a:t>Works of authors </a:t>
            </a:r>
            <a:r>
              <a:rPr lang="en-US" sz="2400" dirty="0" smtClean="0">
                <a:solidFill>
                  <a:srgbClr val="FF0000"/>
                </a:solidFill>
              </a:rPr>
              <a:t>who are nationals of or have their habitual residence in Ethiopia;</a:t>
            </a:r>
          </a:p>
          <a:p>
            <a:pPr lvl="2" algn="just"/>
            <a:r>
              <a:rPr lang="en-US" sz="2400" dirty="0" smtClean="0"/>
              <a:t>Works first published in Ethiopia; or works first published in another country and published </a:t>
            </a:r>
            <a:r>
              <a:rPr lang="en-US" sz="2400" dirty="0" smtClean="0">
                <a:solidFill>
                  <a:srgbClr val="FF0000"/>
                </a:solidFill>
              </a:rPr>
              <a:t>within thirty days in Ethiopia;</a:t>
            </a:r>
          </a:p>
          <a:p>
            <a:pPr lvl="2" algn="just"/>
            <a:r>
              <a:rPr lang="en-US" sz="2400" dirty="0" smtClean="0"/>
              <a:t>Audio-visual works whose producer has </a:t>
            </a:r>
            <a:r>
              <a:rPr lang="en-US" sz="2400" dirty="0" smtClean="0">
                <a:solidFill>
                  <a:srgbClr val="FF0000"/>
                </a:solidFill>
              </a:rPr>
              <a:t>his headquarter or habitual residence in Ethiopia; and</a:t>
            </a:r>
          </a:p>
          <a:p>
            <a:pPr lvl="2" algn="just"/>
            <a:r>
              <a:rPr lang="en-US" sz="2400" dirty="0" smtClean="0"/>
              <a:t>Works of architecture erected in Ethiopia and other artistic works incorporated in a building or other structure located in Ethiopia.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Gazu G. (MBA)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dArt 4"/>
          <p:cNvSpPr>
            <a:spLocks noChangeArrowheads="1" noChangeShapeType="1" noTextEdit="1"/>
          </p:cNvSpPr>
          <p:nvPr/>
        </p:nvSpPr>
        <p:spPr bwMode="auto">
          <a:xfrm>
            <a:off x="1954924" y="614856"/>
            <a:ext cx="9301655" cy="42566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fromWordArt="1">
            <a:prstTxWarp prst="textCascadeUp">
              <a:avLst>
                <a:gd name="adj" fmla="val 100000"/>
              </a:avLst>
            </a:prstTxWarp>
            <a:scene3d>
              <a:camera prst="legacyPerspectiveBottomLeft"/>
              <a:lightRig rig="legacyHarsh3" dir="t"/>
            </a:scene3d>
            <a:sp3d extrusionH="1218930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solidFill>
                  <a:srgbClr val="600655"/>
                </a:solidFill>
                <a:latin typeface="Impact"/>
              </a:rPr>
              <a:t>THANK YOU !!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BB9D-A5AF-40A7-85BC-1C4AF6B1CA68}" type="slidenum">
              <a:rPr lang="en-US" sz="2000" smtClean="0">
                <a:solidFill>
                  <a:srgbClr val="7030A0"/>
                </a:solidFill>
              </a:rPr>
              <a:pPr/>
              <a:t>52</a:t>
            </a:fld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000" b="1" smtClean="0">
                <a:solidFill>
                  <a:srgbClr val="7030A0"/>
                </a:solidFill>
              </a:rPr>
              <a:t>By Gazu G. (MBA)</a:t>
            </a:r>
            <a:endParaRPr lang="en-US" sz="20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>
    <p:sndAc>
      <p:stSnd>
        <p:snd r:embed="rId2" name="applaus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>
    <a:spDef>
      <a:spPr>
        <a:blipFill rotWithShape="0">
          <a:blip xmlns:r="http://schemas.openxmlformats.org/officeDocument/2006/relationships" r:embed="rId3" cstate="print"/>
          <a:stretch>
            <a:fillRect/>
          </a:stretch>
        </a:blipFill>
      </a:spPr>
      <a:bodyPr lIns="64005" tIns="32003" rIns="64005" bIns="32003"/>
      <a:lstStyle>
        <a:defPPr algn="ctr">
          <a:defRPr>
            <a:noFill/>
          </a:defRPr>
        </a:defPPr>
      </a:lstStyle>
    </a:spDef>
  </a:objectDefaults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438</TotalTime>
  <Words>3326</Words>
  <Application>Microsoft Office PowerPoint</Application>
  <PresentationFormat>Custom</PresentationFormat>
  <Paragraphs>483</Paragraphs>
  <Slides>52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Organic</vt:lpstr>
      <vt:lpstr>Slide 1</vt:lpstr>
      <vt:lpstr>Chapter Three</vt:lpstr>
      <vt:lpstr>Slide 3</vt:lpstr>
      <vt:lpstr>Slide 4</vt:lpstr>
      <vt:lpstr>These three basic legal forms are compared with regard to  </vt:lpstr>
      <vt:lpstr>Slide 6</vt:lpstr>
      <vt:lpstr> Small businesses defined  based on criteria of:  </vt:lpstr>
      <vt:lpstr> Role/Importance of MSEs in Developing Countries </vt:lpstr>
      <vt:lpstr>Classification of Micro and Small Enterprises</vt:lpstr>
      <vt:lpstr>CONT…</vt:lpstr>
      <vt:lpstr>CONT….</vt:lpstr>
      <vt:lpstr> Priority Sectors and Sub-Sectors for MSEs Engagement In Ethiopia </vt:lpstr>
      <vt:lpstr>CONT…</vt:lpstr>
      <vt:lpstr>CONT…</vt:lpstr>
      <vt:lpstr>Levels of MSEs in Ethiopia</vt:lpstr>
      <vt:lpstr>Setting up Small Scale Business</vt:lpstr>
      <vt:lpstr>CONT….</vt:lpstr>
      <vt:lpstr>1. Discovery</vt:lpstr>
      <vt:lpstr>2. Evaluation </vt:lpstr>
      <vt:lpstr>3. Exploitation</vt:lpstr>
      <vt:lpstr>Entrepreneurship vs. Environment</vt:lpstr>
      <vt:lpstr>CONT….</vt:lpstr>
      <vt:lpstr> Small Business Failure and Success Factors </vt:lpstr>
      <vt:lpstr>CONT…</vt:lpstr>
      <vt:lpstr>CONT…</vt:lpstr>
      <vt:lpstr>Main Supporting Packages for MSEs Development in Ethiopia</vt:lpstr>
      <vt:lpstr>Problems of Small Scale Business in Ethiopia</vt:lpstr>
      <vt:lpstr>Chapter Four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Admin</cp:lastModifiedBy>
  <cp:revision>232</cp:revision>
  <dcterms:created xsi:type="dcterms:W3CDTF">2024-03-10T09:18:48Z</dcterms:created>
  <dcterms:modified xsi:type="dcterms:W3CDTF">2024-04-02T09:28:12Z</dcterms:modified>
</cp:coreProperties>
</file>