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3" r:id="rId8"/>
    <p:sldId id="265" r:id="rId9"/>
    <p:sldId id="266" r:id="rId10"/>
    <p:sldId id="262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A3CF"/>
    <a:srgbClr val="DD2805"/>
    <a:srgbClr val="C6AC1C"/>
    <a:srgbClr val="18CA57"/>
    <a:srgbClr val="828D55"/>
    <a:srgbClr val="14CEA9"/>
    <a:srgbClr val="69796D"/>
    <a:srgbClr val="F39DF2"/>
    <a:srgbClr val="36AA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>
        <p:scale>
          <a:sx n="99" d="100"/>
          <a:sy n="99" d="100"/>
        </p:scale>
        <p:origin x="-5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rect l="0" t="0" r="0" b="0"/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rect l="0" t="0" r="0" b="0"/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rect l="0" t="0" r="0" b="0"/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rect l="0" t="0" r="0" b="0"/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rect l="0" t="0" r="0" b="0"/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rect l="0" t="0" r="0" b="0"/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rect l="0" t="0" r="0" b="0"/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rect l="0" t="0" r="0" b="0"/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rect l="0" t="0" r="0" b="0"/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rect l="0" t="0" r="0" b="0"/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rect l="0" t="0" r="0" b="0"/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rect l="0" t="0" r="0" b="0"/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rect l="0" t="0" r="0" b="0"/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rect l="0" t="0" r="0" b="0"/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rect l="0" t="0" r="0" b="0"/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rect l="0" t="0" r="0" b="0"/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rect l="0" t="0" r="0" b="0"/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rect l="0" t="0" r="0" b="0"/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rect l="0" t="0" r="0" b="0"/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rect l="0" t="0" r="0" b="0"/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955" y="2256790"/>
            <a:ext cx="11231245" cy="1346835"/>
          </a:xfrm>
        </p:spPr>
        <p:txBody>
          <a:bodyPr/>
          <a:lstStyle/>
          <a:p>
            <a:r>
              <a:rPr lang="en-US" b="1">
                <a:solidFill>
                  <a:srgbClr val="14CEA9"/>
                </a:solidFill>
                <a:latin typeface="Imprint MT Shadow" panose="04020605060303030202" charset="0"/>
                <a:ea typeface="SimSun" panose="02010600030101010101" pitchFamily="2" charset="-122"/>
                <a:cs typeface="Imprint MT Shadow" panose="04020605060303030202" charset="0"/>
                <a:sym typeface="+mn-ea"/>
              </a:rPr>
              <a:t>SOFTWARE EVOLUTION AND MAINTENANCE</a:t>
            </a:r>
            <a:endParaRPr lang="en-US" b="1">
              <a:solidFill>
                <a:srgbClr val="14CEA9"/>
              </a:solidFill>
              <a:latin typeface="Imprint MT Shadow" panose="04020605060303030202" charset="0"/>
              <a:ea typeface="SimSun" panose="02010600030101010101" pitchFamily="2" charset="-122"/>
              <a:cs typeface="Imprint MT Shadow" panose="04020605060303030202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85" y="3181985"/>
            <a:ext cx="8534400" cy="979170"/>
          </a:xfrm>
        </p:spPr>
        <p:txBody>
          <a:bodyPr/>
          <a:lstStyle/>
          <a:p>
            <a:r>
              <a:rPr lang="en-US">
                <a:latin typeface="Imprint MT Shadow" panose="04020605060303030202" charset="0"/>
                <a:cs typeface="Imprint MT Shadow" panose="04020605060303030202" charset="0"/>
              </a:rPr>
              <a:t>CHAPTER FIVE</a:t>
            </a:r>
            <a:endParaRPr lang="en-US">
              <a:latin typeface="Imprint MT Shadow" panose="04020605060303030202" charset="0"/>
              <a:cs typeface="Imprint MT Shadow" panose="04020605060303030202" charset="0"/>
            </a:endParaRPr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37100" y="762319"/>
            <a:ext cx="1486967" cy="132773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1591945" y="4043680"/>
            <a:ext cx="8245475" cy="80581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solidFill>
                  <a:schemeClr val="tx2"/>
                </a:solidFill>
                <a:latin typeface="Imprint MT Shadow" panose="04020605060303030202" charset="0"/>
                <a:ea typeface="SimSun" panose="02010600030101010101" pitchFamily="2" charset="-122"/>
                <a:cs typeface="Imprint MT Shadow" panose="04020605060303030202" charset="0"/>
              </a:rPr>
              <a:t>MAINTENANCE AND REENGINEERING</a:t>
            </a:r>
            <a:endParaRPr sz="2800" b="1" dirty="0">
              <a:solidFill>
                <a:schemeClr val="tx2"/>
              </a:solidFill>
              <a:latin typeface="Imprint MT Shadow" panose="04020605060303030202" charset="0"/>
              <a:ea typeface="SimSun" panose="02010600030101010101" pitchFamily="2" charset="-122"/>
              <a:cs typeface="Imprint MT Shadow" panose="04020605060303030202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465445" y="5288915"/>
            <a:ext cx="6096000" cy="815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n-US" b="1" dirty="0">
                <a:sym typeface="+mn-ea"/>
              </a:rPr>
              <a:t> </a:t>
            </a:r>
            <a:r>
              <a:rPr lang="en-US" sz="2800" b="1" dirty="0">
                <a:sym typeface="+mn-ea"/>
              </a:rPr>
              <a:t>Prepared by: </a:t>
            </a:r>
            <a:r>
              <a:rPr lang="en-US" sz="2800" b="1" dirty="0" smtClean="0">
                <a:sym typeface="+mn-ea"/>
              </a:rPr>
              <a:t>D A</a:t>
            </a:r>
            <a:endParaRPr lang="en-US" sz="2800" b="1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3045"/>
            <a:ext cx="12192635" cy="731520"/>
          </a:xfrm>
        </p:spPr>
        <p:txBody>
          <a:bodyPr/>
          <a:lstStyle/>
          <a:p>
            <a:pPr algn="ctr"/>
            <a:r>
              <a:rPr lang="en-US" alt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REENGINEERING</a:t>
            </a:r>
            <a:endParaRPr lang="en-US" altLang="en-US" b="1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12192000" cy="5791200"/>
          </a:xfrm>
        </p:spPr>
        <p:txBody>
          <a:bodyPr/>
          <a:lstStyle/>
          <a:p>
            <a:r>
              <a:rPr lang="en-US" altLang="en-US" sz="4000" dirty="0" smtClean="0">
                <a:latin typeface="Times New Roman" panose="02020603050405020304" charset="0"/>
                <a:cs typeface="Times New Roman" panose="02020603050405020304" charset="0"/>
              </a:rPr>
              <a:t>Reengineering, in the context of software, </a:t>
            </a:r>
            <a:r>
              <a:rPr lang="en-US" sz="4000" dirty="0" smtClean="0"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lang="en-US" sz="4000" dirty="0">
                <a:latin typeface="Times New Roman" panose="02020603050405020304" charset="0"/>
                <a:cs typeface="Times New Roman" panose="02020603050405020304" charset="0"/>
              </a:rPr>
              <a:t>the examination, analysis, and restructuring of an existing software system to reconstitute it in a new form and the subsequent implementation of the new </a:t>
            </a:r>
            <a:r>
              <a:rPr lang="en-US" sz="4000" dirty="0" smtClean="0">
                <a:latin typeface="Times New Roman" panose="02020603050405020304" charset="0"/>
                <a:cs typeface="Times New Roman" panose="02020603050405020304" charset="0"/>
              </a:rPr>
              <a:t>form. </a:t>
            </a:r>
            <a:endParaRPr lang="en-GB" sz="4000" dirty="0"/>
          </a:p>
          <a:p>
            <a:pPr>
              <a:buFont typeface="Wingdings" panose="05000000000000000000" charset="0"/>
              <a:buChar char="Ø"/>
            </a:pPr>
            <a:r>
              <a:rPr lang="en-US" sz="3600" dirty="0"/>
              <a:t>reengineering is done to convert an existing “bad” system into a “good” system </a:t>
            </a:r>
            <a:br>
              <a:rPr lang="en-US" sz="4000" dirty="0"/>
            </a:br>
            <a:r>
              <a:rPr lang="en-US" altLang="en-US" sz="4000" dirty="0" smtClean="0">
                <a:latin typeface="Times New Roman" panose="02020603050405020304" charset="0"/>
                <a:cs typeface="Times New Roman" panose="02020603050405020304" charset="0"/>
              </a:rPr>
              <a:t>It </a:t>
            </a:r>
            <a:r>
              <a:rPr lang="en-US" altLang="en-US" sz="4000" dirty="0">
                <a:latin typeface="Times New Roman" panose="02020603050405020304" charset="0"/>
                <a:cs typeface="Times New Roman" panose="02020603050405020304" charset="0"/>
              </a:rPr>
              <a:t>aims to improve the system's quality, performance, maintainability, and scalability. </a:t>
            </a:r>
            <a:endParaRPr lang="en-US" altLang="en-US" sz="4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4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4300"/>
            <a:ext cx="12192000" cy="674370"/>
          </a:xfrm>
        </p:spPr>
        <p:txBody>
          <a:bodyPr/>
          <a:lstStyle/>
          <a:p>
            <a:r>
              <a:rPr lang="en-US" sz="4400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Cont...</a:t>
            </a:r>
            <a:endParaRPr lang="en-US" sz="4400" b="1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8670"/>
            <a:ext cx="12192000" cy="606996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rgbClr val="00B0F0"/>
                </a:solidFill>
              </a:rPr>
              <a:t>Types of Reengineering</a:t>
            </a:r>
            <a:endParaRPr lang="en-US" altLang="en-US" b="1" dirty="0">
              <a:solidFill>
                <a:srgbClr val="00B0F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 b="1" dirty="0">
                <a:solidFill>
                  <a:srgbClr val="EDA3CF"/>
                </a:solidFill>
              </a:rPr>
              <a:t>1. Restructuring: </a:t>
            </a:r>
            <a:endParaRPr lang="en-US" altLang="en-US" b="1" dirty="0">
              <a:solidFill>
                <a:srgbClr val="EDA3CF"/>
              </a:solidFill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dirty="0"/>
              <a:t>changing the structure or format of the code or data without changing its behavior</a:t>
            </a:r>
            <a:r>
              <a:rPr lang="en-US" dirty="0" smtClean="0"/>
              <a:t>.</a:t>
            </a:r>
            <a:endParaRPr lang="en-US" altLang="en-US" dirty="0"/>
          </a:p>
          <a:p>
            <a:pPr>
              <a:buFont typeface="Wingdings" panose="05000000000000000000" charset="0"/>
              <a:buChar char="ü"/>
            </a:pPr>
            <a:r>
              <a:rPr lang="en-US" altLang="en-US" dirty="0"/>
              <a:t>reorganizing the code to improve </a:t>
            </a:r>
            <a:r>
              <a:rPr lang="en-US" altLang="en-US" dirty="0" smtClean="0"/>
              <a:t>readability and maintainability.</a:t>
            </a:r>
            <a:endParaRPr lang="en-US" altLang="en-US" dirty="0" smtClean="0"/>
          </a:p>
          <a:p>
            <a:pPr marL="0" indent="0">
              <a:buNone/>
            </a:pPr>
            <a:r>
              <a:rPr lang="en-US" altLang="en-US" b="1" dirty="0" smtClean="0">
                <a:solidFill>
                  <a:srgbClr val="EDA3CF"/>
                </a:solidFill>
              </a:rPr>
              <a:t>2</a:t>
            </a:r>
            <a:r>
              <a:rPr lang="en-US" altLang="en-US" b="1" dirty="0">
                <a:solidFill>
                  <a:srgbClr val="EDA3CF"/>
                </a:solidFill>
              </a:rPr>
              <a:t>. Reverse Engineering:</a:t>
            </a:r>
            <a:endParaRPr lang="en-US" altLang="en-US" b="1" dirty="0">
              <a:solidFill>
                <a:srgbClr val="EDA3CF"/>
              </a:solidFill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dirty="0" smtClean="0"/>
              <a:t>It the </a:t>
            </a:r>
            <a:r>
              <a:rPr lang="en-US" dirty="0"/>
              <a:t>process of analyzing an existing software system to understand how it works, especially when its design, </a:t>
            </a:r>
            <a:r>
              <a:rPr lang="en-US" dirty="0" smtClean="0"/>
              <a:t>or documentation</a:t>
            </a:r>
            <a:r>
              <a:rPr lang="en-US" dirty="0"/>
              <a:t>, </a:t>
            </a:r>
            <a:r>
              <a:rPr lang="en-US" dirty="0" smtClean="0"/>
              <a:t>is </a:t>
            </a:r>
            <a:r>
              <a:rPr lang="en-US" dirty="0"/>
              <a:t>missing or unclear.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3665"/>
            <a:ext cx="12192000" cy="762000"/>
          </a:xfrm>
        </p:spPr>
        <p:txBody>
          <a:bodyPr/>
          <a:lstStyle/>
          <a:p>
            <a:r>
              <a:rPr lang="en-US" sz="4400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 sz="4400" b="1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5175"/>
            <a:ext cx="12192000" cy="609346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EDA3CF"/>
                </a:solidFill>
              </a:rPr>
              <a:t>4</a:t>
            </a:r>
            <a:r>
              <a:rPr lang="en-US" b="1" dirty="0" smtClean="0">
                <a:solidFill>
                  <a:srgbClr val="EDA3CF"/>
                </a:solidFill>
              </a:rPr>
              <a:t>.</a:t>
            </a:r>
            <a:r>
              <a:rPr lang="en-US" dirty="0" smtClean="0"/>
              <a:t> </a:t>
            </a:r>
            <a:r>
              <a:rPr lang="en-US" altLang="en-US" b="1" dirty="0">
                <a:solidFill>
                  <a:srgbClr val="EDA3CF"/>
                </a:solidFill>
              </a:rPr>
              <a:t>Forward Engineering:</a:t>
            </a:r>
            <a:endParaRPr lang="en-US" altLang="en-US" b="1" dirty="0">
              <a:solidFill>
                <a:srgbClr val="EDA3CF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dirty="0"/>
              <a:t>This is the process of designing and implementing the </a:t>
            </a:r>
            <a:r>
              <a:rPr lang="en-US" altLang="en-US" i="1" dirty="0"/>
              <a:t>new system</a:t>
            </a:r>
            <a:r>
              <a:rPr lang="en-US" altLang="en-US" dirty="0"/>
              <a:t> based on the understanding gained during reverse engineering. </a:t>
            </a:r>
            <a:endParaRPr lang="en-US" altLang="en-US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dirty="0"/>
              <a:t> This involves creating </a:t>
            </a:r>
            <a:r>
              <a:rPr lang="en-US" altLang="en-US" i="1" dirty="0"/>
              <a:t>new code</a:t>
            </a:r>
            <a:r>
              <a:rPr lang="en-US" altLang="en-US" dirty="0"/>
              <a:t>, </a:t>
            </a:r>
            <a:r>
              <a:rPr lang="en-US" altLang="en-US" i="1" dirty="0"/>
              <a:t>using better design principles and technologies</a:t>
            </a:r>
            <a:endParaRPr lang="en-US" altLang="en-US" i="1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dirty="0"/>
              <a:t>Implementing improved functionality.</a:t>
            </a:r>
            <a:endParaRPr lang="en-US" altLang="en-US" dirty="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b="1" dirty="0">
                <a:solidFill>
                  <a:srgbClr val="EDA3CF"/>
                </a:solidFill>
              </a:rPr>
              <a:t>4. Redesign:</a:t>
            </a:r>
            <a:endParaRPr lang="en-US" altLang="en-US" b="1" dirty="0">
              <a:solidFill>
                <a:srgbClr val="EDA3CF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dirty="0"/>
              <a:t>This involves</a:t>
            </a:r>
            <a:r>
              <a:rPr lang="en-US" altLang="en-US" i="1" dirty="0"/>
              <a:t> completely re-architecting the system</a:t>
            </a:r>
            <a:r>
              <a:rPr lang="en-US" altLang="en-US" dirty="0"/>
              <a:t>, often changing its overall design and functionality. 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35"/>
            <a:ext cx="12192635" cy="891540"/>
          </a:xfrm>
        </p:spPr>
        <p:txBody>
          <a:bodyPr/>
          <a:lstStyle/>
          <a:p>
            <a:r>
              <a:rPr lang="en-US" sz="4400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 sz="4400" b="1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65" y="1014095"/>
            <a:ext cx="12192000" cy="6094095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en-US" sz="3600" b="1" dirty="0">
                <a:solidFill>
                  <a:srgbClr val="EDA3CF"/>
                </a:solidFill>
              </a:rPr>
              <a:t>Reasons for Reengineering</a:t>
            </a:r>
            <a:endParaRPr lang="en-US" altLang="en-US" sz="3600" b="1" dirty="0">
              <a:solidFill>
                <a:srgbClr val="EDA3CF"/>
              </a:solidFill>
            </a:endParaRPr>
          </a:p>
          <a:p>
            <a:pPr lvl="2" algn="l">
              <a:buFont typeface="Wingdings" panose="05000000000000000000" charset="0"/>
              <a:buChar char="ü"/>
            </a:pPr>
            <a:r>
              <a:rPr lang="en-US" altLang="en-US" sz="3600" dirty="0"/>
              <a:t>Improved </a:t>
            </a:r>
            <a:r>
              <a:rPr lang="en-US" altLang="en-US" sz="3600" dirty="0" smtClean="0"/>
              <a:t>Maintainability</a:t>
            </a:r>
            <a:endParaRPr lang="en-US" altLang="en-US" sz="3600" dirty="0" smtClean="0"/>
          </a:p>
          <a:p>
            <a:pPr lvl="2">
              <a:buFont typeface="Wingdings" panose="05000000000000000000" charset="0"/>
              <a:buChar char="ü"/>
            </a:pPr>
            <a:r>
              <a:rPr lang="en-US" sz="3600" dirty="0"/>
              <a:t>Documentation is missing</a:t>
            </a:r>
            <a:endParaRPr lang="en-US" altLang="en-US" sz="3600" dirty="0"/>
          </a:p>
          <a:p>
            <a:pPr lvl="2" algn="l">
              <a:buFont typeface="Wingdings" panose="05000000000000000000" charset="0"/>
              <a:buChar char="ü"/>
            </a:pPr>
            <a:r>
              <a:rPr lang="en-US" altLang="en-US" sz="3600" dirty="0"/>
              <a:t> Enhanced Performance</a:t>
            </a:r>
            <a:endParaRPr lang="en-US" altLang="en-US" sz="3600" dirty="0"/>
          </a:p>
          <a:p>
            <a:pPr lvl="2" algn="l">
              <a:buFont typeface="Wingdings" panose="05000000000000000000" charset="0"/>
              <a:buChar char="ü"/>
            </a:pPr>
            <a:r>
              <a:rPr lang="en-US" altLang="en-US" sz="3600" dirty="0"/>
              <a:t>Increased Scalability</a:t>
            </a:r>
            <a:endParaRPr lang="en-US" altLang="en-US" sz="3600" dirty="0"/>
          </a:p>
          <a:p>
            <a:pPr lvl="2">
              <a:buFont typeface="Wingdings" panose="05000000000000000000" charset="0"/>
              <a:buChar char="ü"/>
            </a:pPr>
            <a:r>
              <a:rPr lang="en-US" sz="3600" dirty="0" smtClean="0"/>
              <a:t>Technology </a:t>
            </a:r>
            <a:r>
              <a:rPr lang="en-US" sz="3600" dirty="0"/>
              <a:t>becomes outdated</a:t>
            </a:r>
            <a:endParaRPr lang="en-US" altLang="en-US" sz="3600" dirty="0"/>
          </a:p>
          <a:p>
            <a:pPr lvl="2" algn="l">
              <a:buFont typeface="Wingdings" panose="05000000000000000000" charset="0"/>
              <a:buChar char="ü"/>
            </a:pPr>
            <a:r>
              <a:rPr lang="en-US" altLang="en-US" sz="3600" dirty="0"/>
              <a:t> Improved Functionality</a:t>
            </a:r>
            <a:endParaRPr lang="en-US" altLang="en-US" sz="3600" dirty="0"/>
          </a:p>
          <a:p>
            <a:pPr lvl="2" algn="l">
              <a:buFont typeface="Wingdings" panose="05000000000000000000" charset="0"/>
              <a:buChar char="ü"/>
            </a:pPr>
            <a:r>
              <a:rPr lang="en-US" altLang="en-US" sz="3600" dirty="0"/>
              <a:t> Reduced Costs</a:t>
            </a:r>
            <a:endParaRPr lang="en-US" altLang="en-US" sz="3600" dirty="0"/>
          </a:p>
          <a:p>
            <a:pPr algn="l">
              <a:buFont typeface="Wingdings" panose="05000000000000000000" charset="0"/>
              <a:buChar char="ü"/>
            </a:pPr>
            <a:endParaRPr lang="en-US" altLang="en-US" dirty="0"/>
          </a:p>
          <a:p>
            <a:pPr marL="0" indent="0" algn="l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264795"/>
            <a:ext cx="12192635" cy="758190"/>
          </a:xfrm>
        </p:spPr>
        <p:txBody>
          <a:bodyPr/>
          <a:lstStyle/>
          <a:p>
            <a:pPr algn="ctr"/>
            <a:r>
              <a:rPr lang="en-US" altLang="en-US" sz="4000" b="1">
                <a:solidFill>
                  <a:srgbClr val="00B0F0"/>
                </a:solidFill>
              </a:rPr>
              <a:t>Reverse engineering</a:t>
            </a:r>
            <a:endParaRPr lang="en-US" altLang="en-US" sz="4000" b="1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10615"/>
            <a:ext cx="12192000" cy="5587365"/>
          </a:xfrm>
        </p:spPr>
        <p:txBody>
          <a:bodyPr/>
          <a:lstStyle/>
          <a:p>
            <a:r>
              <a:rPr lang="en-US" altLang="en-US" sz="3600" dirty="0"/>
              <a:t>Reverse engineering </a:t>
            </a:r>
            <a:r>
              <a:rPr lang="en-US" sz="4400" dirty="0" smtClean="0"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lang="en-US" sz="4400" dirty="0">
                <a:latin typeface="Times New Roman" panose="02020603050405020304" charset="0"/>
                <a:cs typeface="Times New Roman" panose="02020603050405020304" charset="0"/>
              </a:rPr>
              <a:t>an activity to create an easier to understand and more abstract form of the </a:t>
            </a:r>
            <a:r>
              <a:rPr lang="en-US" sz="4400" dirty="0" smtClean="0">
                <a:latin typeface="Times New Roman" panose="02020603050405020304" charset="0"/>
                <a:cs typeface="Times New Roman" panose="02020603050405020304" charset="0"/>
              </a:rPr>
              <a:t>system.</a:t>
            </a:r>
            <a:endParaRPr lang="en-US" altLang="en-US" sz="4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4400" dirty="0">
                <a:latin typeface="Times New Roman" panose="02020603050405020304" charset="0"/>
                <a:cs typeface="Times New Roman" panose="02020603050405020304" charset="0"/>
              </a:rPr>
              <a:t>the goal is to create </a:t>
            </a:r>
            <a:r>
              <a:rPr lang="en-US" altLang="en-US" sz="4400" i="1" dirty="0">
                <a:latin typeface="Times New Roman" panose="02020603050405020304" charset="0"/>
                <a:cs typeface="Times New Roman" panose="02020603050405020304" charset="0"/>
              </a:rPr>
              <a:t>models</a:t>
            </a:r>
            <a:r>
              <a:rPr lang="en-US" altLang="en-US" sz="4400" dirty="0">
                <a:latin typeface="Times New Roman" panose="02020603050405020304" charset="0"/>
                <a:cs typeface="Times New Roman" panose="02020603050405020304" charset="0"/>
              </a:rPr>
              <a:t> and </a:t>
            </a:r>
            <a:r>
              <a:rPr lang="en-US" altLang="en-US" sz="4400" i="1" dirty="0">
                <a:latin typeface="Times New Roman" panose="02020603050405020304" charset="0"/>
                <a:cs typeface="Times New Roman" panose="02020603050405020304" charset="0"/>
              </a:rPr>
              <a:t>documentation</a:t>
            </a:r>
            <a:r>
              <a:rPr lang="en-US" altLang="en-US" sz="4400" dirty="0">
                <a:latin typeface="Times New Roman" panose="02020603050405020304" charset="0"/>
                <a:cs typeface="Times New Roman" panose="02020603050405020304" charset="0"/>
              </a:rPr>
              <a:t> that can be used for various purposes.</a:t>
            </a:r>
            <a:endParaRPr lang="en-US" altLang="en-US" sz="4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9075"/>
            <a:ext cx="12192000" cy="820420"/>
          </a:xfrm>
        </p:spPr>
        <p:txBody>
          <a:bodyPr/>
          <a:lstStyle/>
          <a:p>
            <a:r>
              <a:rPr lang="en-US" sz="4400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 sz="4400" b="1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40130"/>
            <a:ext cx="12192000" cy="570039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rgbClr val="00B0F0"/>
                </a:solidFill>
              </a:rPr>
              <a:t>Techniques Used in Reverse Engineering</a:t>
            </a:r>
            <a:endParaRPr lang="en-US" altLang="en-US" b="1" dirty="0">
              <a:solidFill>
                <a:srgbClr val="00B0F0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b="1" dirty="0">
                <a:solidFill>
                  <a:srgbClr val="EDA3CF"/>
                </a:solidFill>
              </a:rPr>
              <a:t>Disassembly:</a:t>
            </a:r>
            <a:r>
              <a:rPr lang="en-US" altLang="en-US" dirty="0"/>
              <a:t> Converting machine code (binary code) into assembly language, which is a more human-readable representation of the program's instructions.</a:t>
            </a:r>
            <a:endParaRPr lang="en-US" altLang="en-US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b="1" dirty="0" err="1" smtClean="0">
                <a:solidFill>
                  <a:srgbClr val="EDA3CF"/>
                </a:solidFill>
              </a:rPr>
              <a:t>Decompilation</a:t>
            </a:r>
            <a:r>
              <a:rPr lang="en-US" altLang="en-US" b="1" dirty="0" smtClean="0">
                <a:solidFill>
                  <a:srgbClr val="EDA3CF"/>
                </a:solidFill>
              </a:rPr>
              <a:t>:</a:t>
            </a:r>
            <a:r>
              <a:rPr lang="en-US" altLang="en-US" dirty="0" smtClean="0"/>
              <a:t> </a:t>
            </a:r>
            <a:r>
              <a:rPr lang="en-US" altLang="en-US" dirty="0"/>
              <a:t>Converting </a:t>
            </a:r>
            <a:r>
              <a:rPr lang="en-US" dirty="0"/>
              <a:t>compiled machine </a:t>
            </a:r>
            <a:r>
              <a:rPr lang="en-US" dirty="0" smtClean="0"/>
              <a:t>code </a:t>
            </a:r>
            <a:r>
              <a:rPr lang="en-US" altLang="en-US" dirty="0" smtClean="0"/>
              <a:t>into </a:t>
            </a:r>
            <a:r>
              <a:rPr lang="en-US" altLang="en-US" dirty="0"/>
              <a:t>a higher-level programming language, such as C or Java. </a:t>
            </a:r>
            <a:endParaRPr lang="en-US" altLang="en-US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b="1" dirty="0">
                <a:solidFill>
                  <a:srgbClr val="EDA3CF"/>
                </a:solidFill>
              </a:rPr>
              <a:t>Static Analysis:</a:t>
            </a:r>
            <a:r>
              <a:rPr lang="en-US" altLang="en-US" dirty="0"/>
              <a:t> Examining the code without executing it.</a:t>
            </a:r>
            <a:endParaRPr lang="en-US" altLang="en-US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b="1" dirty="0">
                <a:solidFill>
                  <a:srgbClr val="EDA3CF"/>
                </a:solidFill>
              </a:rPr>
              <a:t>Dynamic Analysis:</a:t>
            </a:r>
            <a:r>
              <a:rPr lang="en-US" altLang="en-US" dirty="0"/>
              <a:t> Executing the code and observing its behavior. </a:t>
            </a:r>
            <a:endParaRPr lang="en-US" altLang="en-US" dirty="0"/>
          </a:p>
          <a:p>
            <a:pPr marL="0" indent="0">
              <a:buFont typeface="Wingdings" panose="05000000000000000000" charset="0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21055"/>
          </a:xfrm>
        </p:spPr>
        <p:txBody>
          <a:bodyPr/>
          <a:lstStyle/>
          <a:p>
            <a:r>
              <a:rPr lang="en-US" sz="4000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 sz="4000" b="1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" y="953135"/>
            <a:ext cx="12192000" cy="562737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rgbClr val="00B0F0"/>
                </a:solidFill>
              </a:rPr>
              <a:t>Reasons for Reverse Engineering</a:t>
            </a:r>
            <a:endParaRPr lang="en-US" altLang="en-US" b="1" dirty="0">
              <a:solidFill>
                <a:srgbClr val="00B0F0"/>
              </a:solidFill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 dirty="0"/>
              <a:t>Creating Compatible Products</a:t>
            </a:r>
            <a:endParaRPr lang="en-US" altLang="en-US" sz="36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 dirty="0"/>
              <a:t>Identifying Security Vulnerabilities</a:t>
            </a:r>
            <a:endParaRPr lang="en-US" altLang="en-US" sz="36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 dirty="0"/>
              <a:t>Software Maintenance</a:t>
            </a:r>
            <a:endParaRPr lang="en-US" altLang="en-US" sz="36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 dirty="0" smtClean="0"/>
              <a:t>Improving </a:t>
            </a:r>
            <a:r>
              <a:rPr lang="en-US" altLang="en-US" sz="3600" dirty="0"/>
              <a:t>Performance</a:t>
            </a:r>
            <a:endParaRPr lang="en-US" altLang="en-US" sz="36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 dirty="0" smtClean="0"/>
              <a:t> To Fixing </a:t>
            </a:r>
            <a:r>
              <a:rPr lang="en-US" altLang="en-US" sz="3600" dirty="0"/>
              <a:t>Bugs</a:t>
            </a:r>
            <a:endParaRPr lang="en-US" altLang="en-US" sz="36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 dirty="0"/>
              <a:t>Learning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4075"/>
          </a:xfrm>
        </p:spPr>
        <p:txBody>
          <a:bodyPr/>
          <a:lstStyle/>
          <a:p>
            <a:r>
              <a:rPr lang="en-US" sz="4400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</a:t>
            </a:r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" y="942340"/>
            <a:ext cx="12192000" cy="539115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rgbClr val="EDA3CF"/>
                </a:solidFill>
              </a:rPr>
              <a:t>Challenges in Reengineering</a:t>
            </a:r>
            <a:endParaRPr lang="en-US" altLang="en-US" b="1" dirty="0">
              <a:solidFill>
                <a:srgbClr val="EDA3CF"/>
              </a:solidFill>
            </a:endParaRPr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/>
              <a:t>Complexity</a:t>
            </a:r>
            <a:endParaRPr lang="en-US" altLang="en-US" sz="36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/>
              <a:t>Cost</a:t>
            </a:r>
            <a:endParaRPr lang="en-US" altLang="en-US" sz="36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 smtClean="0"/>
              <a:t>Risk</a:t>
            </a:r>
            <a:endParaRPr lang="en-US" altLang="en-US" sz="36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/>
              <a:t> </a:t>
            </a:r>
            <a:r>
              <a:rPr lang="en-US" altLang="en-US" sz="3600" dirty="0" smtClean="0"/>
              <a:t>Integration</a:t>
            </a:r>
            <a:endParaRPr lang="en-US" altLang="en-US" sz="3600" dirty="0" smtClean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/>
              <a:t>Data Migration</a:t>
            </a:r>
            <a:endParaRPr lang="en-US" altLang="en-US" sz="3600" dirty="0"/>
          </a:p>
          <a:p>
            <a:pPr marL="914400" lvl="2" indent="0">
              <a:buFont typeface="Wingdings" panose="05000000000000000000" charset="0"/>
              <a:buNone/>
            </a:pPr>
            <a:endParaRPr lang="en-US" alt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1135"/>
            <a:ext cx="12192000" cy="875665"/>
          </a:xfrm>
        </p:spPr>
        <p:txBody>
          <a:bodyPr/>
          <a:lstStyle/>
          <a:p>
            <a:pPr algn="ctr"/>
            <a:r>
              <a:rPr lang="en-US" altLang="en-US" b="1">
                <a:solidFill>
                  <a:srgbClr val="00B0F0"/>
                </a:solidFill>
              </a:rPr>
              <a:t>Program analysis</a:t>
            </a:r>
            <a:endParaRPr lang="en-US" altLang="en-US" b="1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3640"/>
            <a:ext cx="12192000" cy="56743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b="1"/>
              <a:t>Program analysis</a:t>
            </a:r>
            <a:r>
              <a:rPr lang="en-US" altLang="en-US"/>
              <a:t> is used to automatically </a:t>
            </a:r>
            <a:r>
              <a:rPr lang="en-US" altLang="en-US" i="1"/>
              <a:t>understand</a:t>
            </a:r>
            <a:r>
              <a:rPr lang="en-US" altLang="en-US"/>
              <a:t> and reason about the behavior of computer programs.</a:t>
            </a:r>
            <a:endParaRPr lang="en-US" altLang="en-US"/>
          </a:p>
          <a:p>
            <a:pPr>
              <a:lnSpc>
                <a:spcPct val="150000"/>
              </a:lnSpc>
            </a:pPr>
            <a:r>
              <a:rPr lang="en-US" altLang="en-US"/>
              <a:t>examining the source code to extract information about its properties and characteristics.</a:t>
            </a:r>
            <a:endParaRPr lang="en-US" altLang="en-US"/>
          </a:p>
          <a:p>
            <a:pPr>
              <a:lnSpc>
                <a:spcPct val="150000"/>
              </a:lnSpc>
            </a:pPr>
            <a:r>
              <a:rPr lang="en-US" altLang="en-US"/>
              <a:t>The goal is to gain insights into the program's functionality, performance, and correctness. 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6605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76605"/>
            <a:ext cx="12279630" cy="608139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000" b="1" dirty="0">
                <a:solidFill>
                  <a:srgbClr val="00B0F0"/>
                </a:solidFill>
              </a:rPr>
              <a:t>Types of Program Analysis</a:t>
            </a:r>
            <a:endParaRPr lang="en-US" altLang="en-US" sz="30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en-US" sz="3000" b="1" dirty="0">
                <a:solidFill>
                  <a:srgbClr val="EDA3CF"/>
                </a:solidFill>
              </a:rPr>
              <a:t>1. Static Analysis:</a:t>
            </a:r>
            <a:endParaRPr lang="en-US" altLang="en-US" sz="3000" b="1" dirty="0">
              <a:solidFill>
                <a:srgbClr val="EDA3CF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3000" dirty="0"/>
              <a:t>This analyzes the program's source code</a:t>
            </a:r>
            <a:r>
              <a:rPr lang="en-US" altLang="en-US" sz="3000" i="1" dirty="0"/>
              <a:t> without actually executing it.</a:t>
            </a:r>
            <a:r>
              <a:rPr lang="en-US" altLang="en-US" sz="3000" dirty="0"/>
              <a:t> </a:t>
            </a:r>
            <a:endParaRPr lang="en-US" altLang="en-US" sz="3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3000" dirty="0"/>
              <a:t>It's performed </a:t>
            </a:r>
            <a:r>
              <a:rPr lang="en-US" altLang="en-US" sz="3000" dirty="0" smtClean="0"/>
              <a:t>before </a:t>
            </a:r>
            <a:r>
              <a:rPr lang="en-US" altLang="en-US" sz="3000" dirty="0"/>
              <a:t>runtime </a:t>
            </a:r>
            <a:endParaRPr lang="en-US" altLang="en-US" sz="3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3000" dirty="0"/>
              <a:t>Aims to identify potential errors, inefficiencies in the code.</a:t>
            </a:r>
            <a:endParaRPr lang="en-US" altLang="en-US" sz="3000" dirty="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3000" b="1" dirty="0">
                <a:solidFill>
                  <a:srgbClr val="EDA3CF"/>
                </a:solidFill>
              </a:rPr>
              <a:t>2. Dynamic Analysis:</a:t>
            </a:r>
            <a:endParaRPr lang="en-US" altLang="en-US" sz="3000" b="1" dirty="0">
              <a:solidFill>
                <a:srgbClr val="EDA3CF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3000" dirty="0"/>
              <a:t>This involves executing the program and observing its behavior during runtime.</a:t>
            </a:r>
            <a:endParaRPr lang="en-US" altLang="en-US" sz="3000" dirty="0"/>
          </a:p>
          <a:p>
            <a:pPr>
              <a:buFont typeface="Wingdings" panose="05000000000000000000" charset="0"/>
              <a:buChar char="Ø"/>
            </a:pPr>
            <a:r>
              <a:rPr lang="en-US" altLang="en-US" sz="3000" dirty="0"/>
              <a:t>uses technique like debugging to gather runtime data.</a:t>
            </a:r>
            <a:endParaRPr lang="en-US" alt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35"/>
            <a:ext cx="12192635" cy="758825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8190"/>
            <a:ext cx="12192000" cy="609981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rgbClr val="00B0F0"/>
                </a:solidFill>
              </a:rPr>
              <a:t>Applications of Program Analysis</a:t>
            </a:r>
            <a:endParaRPr lang="en-US" alt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en-US" dirty="0"/>
              <a:t>Program analysis techniques are widely used in various software engineering tasks, including:</a:t>
            </a:r>
            <a:endParaRPr lang="en-US" altLang="en-US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200" dirty="0"/>
              <a:t>Debugging</a:t>
            </a:r>
            <a:endParaRPr lang="en-US" altLang="en-US" sz="32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200" dirty="0"/>
              <a:t>Testing</a:t>
            </a:r>
            <a:endParaRPr lang="en-US" altLang="en-US" sz="32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200" dirty="0"/>
              <a:t>Optimization</a:t>
            </a:r>
            <a:endParaRPr lang="en-US" altLang="en-US" sz="32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200" dirty="0"/>
              <a:t>Security Analysis</a:t>
            </a:r>
            <a:endParaRPr lang="en-US" altLang="en-US" sz="32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200" dirty="0"/>
              <a:t>Software Maintenance</a:t>
            </a:r>
            <a:endParaRPr lang="en-US" altLang="en-US" sz="32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200" dirty="0"/>
              <a:t>Code Refactoring</a:t>
            </a:r>
            <a:endParaRPr lang="en-US" altLang="en-US" sz="3200" dirty="0"/>
          </a:p>
          <a:p>
            <a:pPr marL="914400" lvl="2" indent="0">
              <a:buFont typeface="Wingdings" panose="05000000000000000000" charset="0"/>
              <a:buNone/>
            </a:pPr>
            <a:endParaRPr lang="en-US" alt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" y="321945"/>
            <a:ext cx="12192000" cy="821055"/>
          </a:xfrm>
        </p:spPr>
        <p:txBody>
          <a:bodyPr/>
          <a:lstStyle/>
          <a:p>
            <a:pPr algn="ctr"/>
            <a:r>
              <a:rPr lang="en-US" altLang="en-US" b="1">
                <a:solidFill>
                  <a:srgbClr val="00B0F0"/>
                </a:solidFill>
              </a:rPr>
              <a:t>Architecture recovery</a:t>
            </a:r>
            <a:endParaRPr lang="en-US" altLang="en-US" b="1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18895"/>
            <a:ext cx="12192000" cy="5450205"/>
          </a:xfrm>
        </p:spPr>
        <p:txBody>
          <a:bodyPr/>
          <a:lstStyle/>
          <a:p>
            <a:r>
              <a:rPr lang="en-US" altLang="en-US" sz="3600" dirty="0">
                <a:solidFill>
                  <a:srgbClr val="EDA3CF"/>
                </a:solidFill>
              </a:rPr>
              <a:t>Architecture </a:t>
            </a:r>
            <a:r>
              <a:rPr lang="en-US" altLang="en-US" sz="3600" dirty="0" smtClean="0">
                <a:solidFill>
                  <a:srgbClr val="EDA3CF"/>
                </a:solidFill>
              </a:rPr>
              <a:t>recovery:-</a:t>
            </a:r>
            <a:r>
              <a:rPr lang="en-US" altLang="en-US" sz="3600" dirty="0" smtClean="0"/>
              <a:t> </a:t>
            </a:r>
            <a:r>
              <a:rPr lang="en-US" sz="4000" dirty="0" smtClean="0">
                <a:latin typeface="Times New Roman" panose="02020603050405020304" charset="0"/>
                <a:cs typeface="Times New Roman" panose="02020603050405020304" charset="0"/>
              </a:rPr>
              <a:t>it is the process of reconstructing the architecture of a software system from its existing implementation </a:t>
            </a:r>
            <a:r>
              <a:rPr lang="en-US" altLang="en-US" sz="4000" dirty="0" smtClean="0">
                <a:latin typeface="Times New Roman" panose="02020603050405020304" charset="0"/>
                <a:cs typeface="Times New Roman" panose="02020603050405020304" charset="0"/>
              </a:rPr>
              <a:t>when the original design documentation is missing, incomplete, outdated, or simply inaccurate.</a:t>
            </a:r>
            <a:endParaRPr lang="en-US" altLang="en-US" sz="4000" dirty="0" smtClean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4000" dirty="0">
                <a:latin typeface="Times New Roman" panose="02020603050405020304" charset="0"/>
                <a:cs typeface="Times New Roman" panose="02020603050405020304" charset="0"/>
              </a:rPr>
              <a:t>is the process of </a:t>
            </a:r>
            <a:r>
              <a:rPr lang="en-US" altLang="en-US" sz="4000" i="1" dirty="0">
                <a:latin typeface="Times New Roman" panose="02020603050405020304" charset="0"/>
                <a:cs typeface="Times New Roman" panose="02020603050405020304" charset="0"/>
              </a:rPr>
              <a:t>reconstructing </a:t>
            </a:r>
            <a:r>
              <a:rPr lang="en-US" altLang="en-US" sz="4000" dirty="0">
                <a:latin typeface="Times New Roman" panose="02020603050405020304" charset="0"/>
                <a:cs typeface="Times New Roman" panose="02020603050405020304" charset="0"/>
              </a:rPr>
              <a:t>the  </a:t>
            </a:r>
            <a:r>
              <a:rPr lang="en-US" altLang="en-US" sz="4000" i="1" dirty="0">
                <a:latin typeface="Times New Roman" panose="02020603050405020304" charset="0"/>
                <a:cs typeface="Times New Roman" panose="02020603050405020304" charset="0"/>
              </a:rPr>
              <a:t>architecture of a software system</a:t>
            </a:r>
            <a:r>
              <a:rPr lang="en-US" altLang="en-US" sz="4000" dirty="0">
                <a:latin typeface="Times New Roman" panose="02020603050405020304" charset="0"/>
                <a:cs typeface="Times New Roman" panose="02020603050405020304" charset="0"/>
              </a:rPr>
              <a:t> from its implementation details.</a:t>
            </a:r>
            <a:r>
              <a:rPr lang="en-US" sz="4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4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1445"/>
            <a:ext cx="12192000" cy="718185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10920"/>
            <a:ext cx="12192000" cy="562737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rgbClr val="EDA3CF"/>
                </a:solidFill>
              </a:rPr>
              <a:t>Reasons for Architecture Recovery</a:t>
            </a:r>
            <a:endParaRPr lang="en-US" altLang="en-US" b="1" dirty="0">
              <a:solidFill>
                <a:srgbClr val="EDA3CF"/>
              </a:solidFill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 dirty="0"/>
              <a:t>Missing or Inaccurate Documentation</a:t>
            </a:r>
            <a:endParaRPr lang="en-US" altLang="en-US" sz="36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 dirty="0"/>
              <a:t> Supporting Evolution and Maintenance</a:t>
            </a:r>
            <a:endParaRPr lang="en-US" altLang="en-US" sz="36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 dirty="0"/>
              <a:t>Facilitating </a:t>
            </a:r>
            <a:r>
              <a:rPr lang="en-US" altLang="en-US" sz="3600" dirty="0" smtClean="0"/>
              <a:t>Software </a:t>
            </a:r>
            <a:r>
              <a:rPr lang="en-US" altLang="en-US" sz="3600" dirty="0"/>
              <a:t>Modernization</a:t>
            </a:r>
            <a:endParaRPr lang="en-US" altLang="en-US" sz="36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 dirty="0"/>
              <a:t>Risk </a:t>
            </a:r>
            <a:r>
              <a:rPr lang="en-US" altLang="en-US" sz="3600" dirty="0" smtClean="0"/>
              <a:t>Assessment( e.g. dependence of components </a:t>
            </a:r>
            <a:r>
              <a:rPr lang="en-US" altLang="en-US" sz="3600" dirty="0" err="1" smtClean="0"/>
              <a:t>vs</a:t>
            </a:r>
            <a:r>
              <a:rPr lang="en-US" altLang="en-US" sz="3600" dirty="0" smtClean="0"/>
              <a:t> maintenance)</a:t>
            </a:r>
            <a:endParaRPr lang="en-US" altLang="en-US" sz="36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 dirty="0"/>
              <a:t>Component Identification and Reuse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1445"/>
            <a:ext cx="12192000" cy="837565"/>
          </a:xfrm>
        </p:spPr>
        <p:txBody>
          <a:bodyPr/>
          <a:lstStyle/>
          <a:p>
            <a:r>
              <a:rPr lang="en-US" sz="4000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 sz="4000" b="1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72515"/>
            <a:ext cx="12192000" cy="544957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rgbClr val="EDA3CF"/>
                </a:solidFill>
              </a:rPr>
              <a:t>Challenges in Architecture Recovery</a:t>
            </a:r>
            <a:endParaRPr lang="en-US" altLang="en-US" b="1" dirty="0">
              <a:solidFill>
                <a:srgbClr val="EDA3CF"/>
              </a:solidFill>
            </a:endParaRPr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/>
              <a:t>Complexity</a:t>
            </a:r>
            <a:endParaRPr lang="en-US" altLang="en-US" sz="36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 smtClean="0"/>
              <a:t>Ambiguity(source </a:t>
            </a:r>
            <a:r>
              <a:rPr lang="en-US" altLang="en-US" sz="3600" dirty="0"/>
              <a:t>code </a:t>
            </a:r>
            <a:r>
              <a:rPr lang="en-US" altLang="en-US" sz="3600" dirty="0" smtClean="0"/>
              <a:t>Ambiguity)</a:t>
            </a:r>
            <a:endParaRPr lang="en-US" altLang="en-US" sz="36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 smtClean="0"/>
              <a:t>Time </a:t>
            </a:r>
            <a:r>
              <a:rPr lang="en-US" altLang="en-US" sz="3600" dirty="0"/>
              <a:t>and Cost</a:t>
            </a:r>
            <a:endParaRPr lang="en-US" altLang="en-US" sz="36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/>
              <a:t>Maintenance of the Recovered </a:t>
            </a:r>
            <a:r>
              <a:rPr lang="en-US" altLang="en-US" sz="3600" dirty="0" smtClean="0"/>
              <a:t>Architecture(evolve architecture over time)</a:t>
            </a:r>
            <a:endParaRPr lang="en-US" altLang="en-US" sz="3600" dirty="0" smtClean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/>
              <a:t>Incomplete Information</a:t>
            </a:r>
            <a:endParaRPr lang="en-US" altLang="en-US" sz="3600" dirty="0"/>
          </a:p>
          <a:p>
            <a:pPr lvl="2">
              <a:buFont typeface="Wingdings" panose="05000000000000000000" charset="0"/>
              <a:buChar char="ü"/>
            </a:pPr>
            <a:endParaRPr lang="en-US" alt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1135"/>
            <a:ext cx="12192000" cy="781050"/>
          </a:xfrm>
        </p:spPr>
        <p:txBody>
          <a:bodyPr/>
          <a:lstStyle/>
          <a:p>
            <a:pPr algn="ctr"/>
            <a:r>
              <a:rPr lang="en-US" altLang="en-US" b="1">
                <a:solidFill>
                  <a:srgbClr val="00B0F0"/>
                </a:solidFill>
              </a:rPr>
              <a:t>Software Complexity and Maintenance Metrics</a:t>
            </a:r>
            <a:endParaRPr lang="en-US" altLang="en-US" b="1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2185"/>
            <a:ext cx="12192000" cy="5885815"/>
          </a:xfrm>
        </p:spPr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/>
              <a:t>Software complexity significantly impacts the </a:t>
            </a:r>
            <a:r>
              <a:rPr lang="en-US" altLang="en-US" i="1"/>
              <a:t>cost</a:t>
            </a:r>
            <a:r>
              <a:rPr lang="en-US" altLang="en-US"/>
              <a:t> and </a:t>
            </a:r>
            <a:r>
              <a:rPr lang="en-US" altLang="en-US" i="1"/>
              <a:t>effort</a:t>
            </a:r>
            <a:r>
              <a:rPr lang="en-US" altLang="en-US"/>
              <a:t> required for maintenance. 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Higher complexity leads to </a:t>
            </a:r>
            <a:r>
              <a:rPr lang="en-US" altLang="en-US" i="1"/>
              <a:t>increased difficulty</a:t>
            </a:r>
            <a:r>
              <a:rPr lang="en-US" altLang="en-US"/>
              <a:t> in understanding, modifying, and testing the software,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 resulting in more bugs, longer downtime, and higher maintenance costs. 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Metrics are used to quantify complexity and help predict maintenance challenges.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81050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1050"/>
            <a:ext cx="12192000" cy="6076950"/>
          </a:xfrm>
        </p:spPr>
        <p:txBody>
          <a:bodyPr/>
          <a:lstStyle/>
          <a:p>
            <a:r>
              <a:rPr lang="en-US" altLang="en-US" sz="2800" b="1">
                <a:solidFill>
                  <a:srgbClr val="00B0F0"/>
                </a:solidFill>
              </a:rPr>
              <a:t>Measuring Software Complexity</a:t>
            </a:r>
            <a:endParaRPr lang="en-US" altLang="en-US" sz="2800" b="1">
              <a:solidFill>
                <a:srgbClr val="00B0F0"/>
              </a:solidFill>
            </a:endParaRPr>
          </a:p>
          <a:p>
            <a:r>
              <a:rPr lang="en-US" altLang="en-US" sz="2800"/>
              <a:t>Several metrics can measure software complexity, broadly categorized into:</a:t>
            </a:r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 b="1">
                <a:solidFill>
                  <a:srgbClr val="EDA3CF"/>
                </a:solidFill>
              </a:rPr>
              <a:t>Code Metrics: </a:t>
            </a:r>
            <a:r>
              <a:rPr lang="en-US" altLang="en-US" sz="2800"/>
              <a:t>These metrics </a:t>
            </a:r>
            <a:r>
              <a:rPr lang="en-US" altLang="en-US" sz="2800" i="1"/>
              <a:t>analyze the source code</a:t>
            </a:r>
            <a:r>
              <a:rPr lang="en-US" altLang="en-US" sz="2800"/>
              <a:t> itself to assess complexity. e.g LOC</a:t>
            </a:r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 b="1">
                <a:solidFill>
                  <a:srgbClr val="EDA3CF"/>
                </a:solidFill>
              </a:rPr>
              <a:t>Design Metrics:</a:t>
            </a:r>
            <a:r>
              <a:rPr lang="en-US" altLang="en-US" sz="2800"/>
              <a:t> These metrics assess the complexity of the </a:t>
            </a:r>
            <a:r>
              <a:rPr lang="en-US" altLang="en-US" sz="2800" i="1"/>
              <a:t>software's design</a:t>
            </a:r>
            <a:r>
              <a:rPr lang="en-US" altLang="en-US" sz="2800"/>
              <a:t> and </a:t>
            </a:r>
            <a:r>
              <a:rPr lang="en-US" altLang="en-US" sz="2800" i="1"/>
              <a:t>architecture</a:t>
            </a:r>
            <a:r>
              <a:rPr lang="en-US" altLang="en-US" sz="2800"/>
              <a:t>. e.g Number of Classes</a:t>
            </a:r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 b="1">
                <a:solidFill>
                  <a:srgbClr val="EDA3CF"/>
                </a:solidFill>
              </a:rPr>
              <a:t>Data Metrics</a:t>
            </a:r>
            <a:endParaRPr lang="en-US" altLang="en-US" sz="2800" b="1">
              <a:solidFill>
                <a:srgbClr val="EDA3CF"/>
              </a:solidFill>
            </a:endParaRPr>
          </a:p>
          <a:p>
            <a:pPr lvl="1">
              <a:buFont typeface="Wingdings" panose="05000000000000000000" charset="0"/>
              <a:buChar char="§"/>
            </a:pPr>
            <a:r>
              <a:rPr lang="en-US" altLang="en-US">
                <a:solidFill>
                  <a:srgbClr val="DD2805"/>
                </a:solidFill>
              </a:rPr>
              <a:t>Data Volume:</a:t>
            </a:r>
            <a:r>
              <a:rPr lang="en-US" altLang="en-US"/>
              <a:t> Large amounts of data can increase complexity, </a:t>
            </a:r>
            <a:endParaRPr lang="en-US" altLang="en-US"/>
          </a:p>
          <a:p>
            <a:pPr lvl="1">
              <a:buFont typeface="Wingdings" panose="05000000000000000000" charset="0"/>
              <a:buChar char="§"/>
            </a:pPr>
            <a:r>
              <a:rPr lang="en-US" altLang="en-US">
                <a:solidFill>
                  <a:srgbClr val="DD2805"/>
                </a:solidFill>
              </a:rPr>
              <a:t>Data Coupling:</a:t>
            </a:r>
            <a:r>
              <a:rPr lang="en-US" altLang="en-US">
                <a:solidFill>
                  <a:srgbClr val="C6AC1C"/>
                </a:solidFill>
              </a:rPr>
              <a:t> </a:t>
            </a:r>
            <a:r>
              <a:rPr lang="en-US" altLang="en-US"/>
              <a:t>The degree to which different parts of the system </a:t>
            </a:r>
            <a:r>
              <a:rPr lang="en-US" altLang="en-US" i="1"/>
              <a:t>share data. </a:t>
            </a:r>
            <a:endParaRPr lang="en-US" altLang="en-US" i="1"/>
          </a:p>
          <a:p>
            <a:pPr>
              <a:buFont typeface="Wingdings" panose="05000000000000000000" charset="0"/>
              <a:buChar char="Ø"/>
            </a:pPr>
            <a:endParaRPr lang="en-US" altLang="en-US" i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35"/>
            <a:ext cx="12191365" cy="861695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61060"/>
            <a:ext cx="12192000" cy="599694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B0F0"/>
                </a:solidFill>
              </a:rPr>
              <a:t>Maintenance Metrics</a:t>
            </a:r>
            <a:endParaRPr lang="en-US" altLang="en-US" b="1">
              <a:solidFill>
                <a:srgbClr val="00B0F0"/>
              </a:solidFill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/>
              <a:t>Mean Time To Repair (MTTR)</a:t>
            </a:r>
            <a:endParaRPr lang="en-US" altLang="en-US" sz="360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/>
              <a:t>Mean Time Between Failures (MTBF)</a:t>
            </a:r>
            <a:endParaRPr lang="en-US" altLang="en-US" sz="360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/>
              <a:t>Number of Defects</a:t>
            </a:r>
            <a:endParaRPr lang="en-US" altLang="en-US" sz="360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/>
              <a:t>Defect Density</a:t>
            </a:r>
            <a:endParaRPr lang="en-US" altLang="en-US" sz="360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/>
              <a:t>Maintenance Effort</a:t>
            </a:r>
            <a:endParaRPr lang="en-US" altLang="en-US" sz="360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/>
              <a:t>Maintenance Cost</a:t>
            </a:r>
            <a:endParaRPr lang="en-US" altLang="en-US"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6450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6450"/>
            <a:ext cx="12192000" cy="605091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B0F0"/>
                </a:solidFill>
              </a:rPr>
              <a:t>Using Metrics for Maintenance Prediction</a:t>
            </a:r>
            <a:endParaRPr lang="en-US" altLang="en-US" b="1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en-US" sz="3600"/>
              <a:t>By analyzing these metrics, organizations can:</a:t>
            </a:r>
            <a:endParaRPr lang="en-US" altLang="en-US" sz="3600"/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3600"/>
              <a:t>Identify complex areas</a:t>
            </a:r>
            <a:endParaRPr lang="en-US" altLang="en-US" sz="3600"/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3600"/>
              <a:t>Predict maintenance effort</a:t>
            </a:r>
            <a:endParaRPr lang="en-US" altLang="en-US" sz="3600"/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3600"/>
              <a:t>Prioritize maintenance tasks</a:t>
            </a:r>
            <a:endParaRPr lang="en-US" altLang="en-US" sz="3600"/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3600"/>
              <a:t>Improve design and coding practices</a:t>
            </a:r>
            <a:endParaRPr lang="en-US" altLang="en-US" sz="3600"/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3600"/>
              <a:t>Evaluate the effectiveness of refactoring efforts</a:t>
            </a:r>
            <a:endParaRPr lang="en-US" altLang="en-US"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4060"/>
          </a:xfrm>
        </p:spPr>
        <p:txBody>
          <a:bodyPr/>
          <a:lstStyle/>
          <a:p>
            <a:pPr algn="ctr"/>
            <a:r>
              <a:rPr lang="en-US" altLang="en-US" b="1">
                <a:solidFill>
                  <a:srgbClr val="00B0F0"/>
                </a:solidFill>
              </a:rPr>
              <a:t>Program Visualization</a:t>
            </a:r>
            <a:endParaRPr lang="en-US" altLang="en-US" b="1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4060"/>
            <a:ext cx="12192000" cy="6123305"/>
          </a:xfrm>
        </p:spPr>
        <p:txBody>
          <a:bodyPr/>
          <a:lstStyle/>
          <a:p>
            <a:r>
              <a:rPr lang="en-US" altLang="en-US" dirty="0">
                <a:solidFill>
                  <a:srgbClr val="EDA3CF"/>
                </a:solidFill>
              </a:rPr>
              <a:t>Program visualization</a:t>
            </a:r>
            <a:r>
              <a:rPr lang="en-US" altLang="en-US" dirty="0"/>
              <a:t> is the process of </a:t>
            </a:r>
            <a:r>
              <a:rPr lang="en-US" altLang="en-US" i="1" dirty="0"/>
              <a:t>graphically representing </a:t>
            </a:r>
            <a:r>
              <a:rPr lang="en-US" altLang="en-US" dirty="0"/>
              <a:t>the </a:t>
            </a:r>
            <a:r>
              <a:rPr lang="en-US" altLang="en-US" i="1" dirty="0"/>
              <a:t>structure</a:t>
            </a:r>
            <a:r>
              <a:rPr lang="en-US" altLang="en-US" dirty="0"/>
              <a:t>, </a:t>
            </a:r>
            <a:r>
              <a:rPr lang="en-US" altLang="en-US" i="1" dirty="0"/>
              <a:t>behavior</a:t>
            </a:r>
            <a:r>
              <a:rPr lang="en-US" altLang="en-US" dirty="0"/>
              <a:t>, or </a:t>
            </a:r>
            <a:r>
              <a:rPr lang="en-US" altLang="en-US" i="1" dirty="0"/>
              <a:t>execution</a:t>
            </a:r>
            <a:r>
              <a:rPr lang="en-US" altLang="en-US" dirty="0"/>
              <a:t> of a computer program.</a:t>
            </a:r>
            <a:endParaRPr lang="en-US" altLang="en-US" dirty="0"/>
          </a:p>
          <a:p>
            <a:r>
              <a:rPr lang="en-US" altLang="en-US" dirty="0"/>
              <a:t> It's a powerful technique used to improve understanding, analysis, debugging, and maintenance of software. 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b="1" dirty="0">
                <a:solidFill>
                  <a:srgbClr val="EDA3CF"/>
                </a:solidFill>
              </a:rPr>
              <a:t>Purposes of Program Visualization</a:t>
            </a:r>
            <a:endParaRPr lang="en-US" altLang="en-US" b="1" dirty="0">
              <a:solidFill>
                <a:srgbClr val="EDA3CF"/>
              </a:solidFill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000" dirty="0"/>
              <a:t>Understanding Program Structure</a:t>
            </a:r>
            <a:endParaRPr lang="en-US" altLang="en-US" sz="30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000" dirty="0"/>
              <a:t>Debugging and Fault Localization</a:t>
            </a:r>
            <a:endParaRPr lang="en-US" altLang="en-US" sz="30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000" dirty="0"/>
              <a:t>Performance Analysis</a:t>
            </a:r>
            <a:endParaRPr lang="en-US" altLang="en-US" sz="30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000" dirty="0"/>
              <a:t>Software Maintenance</a:t>
            </a:r>
            <a:endParaRPr lang="en-US" altLang="en-US" sz="3000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000" dirty="0"/>
              <a:t>Education and Training</a:t>
            </a:r>
            <a:endParaRPr lang="en-US" alt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5005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38530"/>
            <a:ext cx="12192000" cy="578739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rgbClr val="00B0F0"/>
                </a:solidFill>
              </a:rPr>
              <a:t>Types of Program Visualization</a:t>
            </a:r>
            <a:endParaRPr lang="en-US" alt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en-US" b="1" dirty="0" smtClean="0">
                <a:solidFill>
                  <a:srgbClr val="EDA3CF"/>
                </a:solidFill>
              </a:rPr>
              <a:t>• </a:t>
            </a:r>
            <a:r>
              <a:rPr lang="en-US" dirty="0" smtClean="0">
                <a:solidFill>
                  <a:srgbClr val="EDA3CF"/>
                </a:solidFill>
              </a:rPr>
              <a:t>Flowcharts: </a:t>
            </a:r>
            <a:r>
              <a:rPr lang="en-US" dirty="0" smtClean="0"/>
              <a:t>it used to describe</a:t>
            </a:r>
            <a:r>
              <a:rPr lang="en-US" dirty="0" smtClean="0">
                <a:solidFill>
                  <a:srgbClr val="EDA3CF"/>
                </a:solidFill>
              </a:rPr>
              <a:t> </a:t>
            </a:r>
            <a:r>
              <a:rPr lang="en-US" sz="2800" dirty="0"/>
              <a:t>t</a:t>
            </a:r>
            <a:r>
              <a:rPr lang="en-US" sz="2800" dirty="0" smtClean="0"/>
              <a:t>he </a:t>
            </a:r>
            <a:r>
              <a:rPr lang="en-US" sz="2800" dirty="0"/>
              <a:t>step-by-step flow of a program or </a:t>
            </a:r>
            <a:r>
              <a:rPr lang="en-US" sz="2800" dirty="0" smtClean="0"/>
              <a:t>algorithm.</a:t>
            </a:r>
            <a:endParaRPr lang="en-US" sz="2800" b="1" dirty="0">
              <a:solidFill>
                <a:srgbClr val="EDA3C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800" b="1" dirty="0" smtClean="0">
                <a:solidFill>
                  <a:srgbClr val="EDA3CF"/>
                </a:solidFill>
              </a:rPr>
              <a:t>Control </a:t>
            </a:r>
            <a:r>
              <a:rPr lang="en-US" altLang="en-US" sz="2800" b="1" dirty="0">
                <a:solidFill>
                  <a:srgbClr val="EDA3CF"/>
                </a:solidFill>
              </a:rPr>
              <a:t>Flow Graphs (CFG):</a:t>
            </a:r>
            <a:r>
              <a:rPr lang="en-US" altLang="en-US" sz="2800" dirty="0"/>
              <a:t> </a:t>
            </a:r>
            <a:r>
              <a:rPr lang="en-US" altLang="en-US" sz="2800" dirty="0" smtClean="0"/>
              <a:t>it describe </a:t>
            </a:r>
            <a:r>
              <a:rPr lang="en-US" altLang="en-US" sz="2800" dirty="0"/>
              <a:t>h</a:t>
            </a:r>
            <a:r>
              <a:rPr lang="en-US" sz="2800" dirty="0" smtClean="0"/>
              <a:t>ow </a:t>
            </a:r>
            <a:r>
              <a:rPr lang="en-US" sz="2800" dirty="0"/>
              <a:t>the program </a:t>
            </a:r>
            <a:r>
              <a:rPr lang="en-US" sz="2800" b="1" dirty="0"/>
              <a:t>branches</a:t>
            </a:r>
            <a:r>
              <a:rPr lang="en-US" sz="2800" dirty="0"/>
              <a:t>, </a:t>
            </a:r>
            <a:r>
              <a:rPr lang="en-US" sz="2800" b="1" dirty="0"/>
              <a:t>loops</a:t>
            </a:r>
            <a:r>
              <a:rPr lang="en-US" sz="2800" dirty="0"/>
              <a:t>, and </a:t>
            </a:r>
            <a:r>
              <a:rPr lang="en-US" sz="2800" b="1" dirty="0"/>
              <a:t>moves</a:t>
            </a:r>
            <a:r>
              <a:rPr lang="en-US" sz="2800" dirty="0"/>
              <a:t> from one statement/block to another</a:t>
            </a:r>
            <a:r>
              <a:rPr lang="en-US" sz="2800" dirty="0" smtClean="0"/>
              <a:t>.</a:t>
            </a:r>
            <a:endParaRPr lang="en-US" altLang="en-US" sz="2800" dirty="0"/>
          </a:p>
          <a:p>
            <a:pPr marL="0" indent="0">
              <a:buNone/>
            </a:pPr>
            <a:r>
              <a:rPr lang="en-US" altLang="en-US" sz="2800" b="1" dirty="0">
                <a:solidFill>
                  <a:srgbClr val="EDA3CF"/>
                </a:solidFill>
              </a:rPr>
              <a:t>• Data Flow Graphs (DFG):</a:t>
            </a:r>
            <a:r>
              <a:rPr lang="en-US" altLang="en-US" sz="2800" dirty="0"/>
              <a:t> Show how data flows through a program, highlighting data dependencies and transformations. </a:t>
            </a:r>
            <a:endParaRPr lang="en-US" altLang="en-US" sz="2800" dirty="0"/>
          </a:p>
          <a:p>
            <a:pPr marL="0" indent="0">
              <a:buNone/>
            </a:pPr>
            <a:r>
              <a:rPr lang="en-US" altLang="en-US" sz="2800" b="1" dirty="0">
                <a:solidFill>
                  <a:srgbClr val="EDA3CF"/>
                </a:solidFill>
              </a:rPr>
              <a:t>• Call Graphs:</a:t>
            </a:r>
            <a:r>
              <a:rPr lang="en-US" altLang="en-US" sz="2800" dirty="0"/>
              <a:t> Illustrate the </a:t>
            </a:r>
            <a:r>
              <a:rPr lang="en-US" altLang="en-US" sz="2800" i="1" dirty="0"/>
              <a:t>relationships between functions or methods</a:t>
            </a:r>
            <a:r>
              <a:rPr lang="en-US" altLang="en-US" sz="2800" dirty="0"/>
              <a:t>, showing which functions call other functions. </a:t>
            </a:r>
            <a:endParaRPr lang="en-US" altLang="en-US" sz="2800" dirty="0"/>
          </a:p>
          <a:p>
            <a:pPr marL="0" indent="0">
              <a:buNone/>
            </a:pPr>
            <a:r>
              <a:rPr lang="en-US" altLang="en-US" sz="2800" b="1" dirty="0">
                <a:solidFill>
                  <a:srgbClr val="EDA3CF"/>
                </a:solidFill>
              </a:rPr>
              <a:t>• UML Diagrams:</a:t>
            </a:r>
            <a:r>
              <a:rPr lang="en-US" altLang="en-US" sz="2800" dirty="0"/>
              <a:t> Unified Modeling Language diagrams (e.g., class diagrams, sequence diagrams, state diagrams) provide a high-level representation of a program's </a:t>
            </a:r>
            <a:r>
              <a:rPr lang="en-US" altLang="en-US" sz="2800" i="1" dirty="0" smtClean="0"/>
              <a:t>structure, behavior and interaction</a:t>
            </a:r>
            <a:r>
              <a:rPr lang="en-US" altLang="en-US" sz="2800" dirty="0" smtClean="0"/>
              <a:t>.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6605"/>
          </a:xfrm>
        </p:spPr>
        <p:txBody>
          <a:bodyPr/>
          <a:lstStyle/>
          <a:p>
            <a:pPr algn="ctr"/>
            <a:r>
              <a:rPr lang="en-US" altLang="en-US" b="1">
                <a:solidFill>
                  <a:srgbClr val="00B0F0"/>
                </a:solidFill>
              </a:rPr>
              <a:t>Forward Engineering</a:t>
            </a:r>
            <a:endParaRPr lang="en-US" altLang="en-US" b="1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74370"/>
            <a:ext cx="12192000" cy="6081395"/>
          </a:xfrm>
        </p:spPr>
        <p:txBody>
          <a:bodyPr/>
          <a:lstStyle/>
          <a:p>
            <a:r>
              <a:rPr lang="en-US" altLang="en-US" sz="2700" dirty="0">
                <a:solidFill>
                  <a:srgbClr val="00B0F0"/>
                </a:solidFill>
              </a:rPr>
              <a:t>Forward engineering</a:t>
            </a:r>
            <a:r>
              <a:rPr lang="en-US" altLang="en-US" sz="2700" dirty="0"/>
              <a:t> is the traditional approach to software development where you start with high-level requirements and gradually move towards a working system.</a:t>
            </a:r>
            <a:endParaRPr lang="en-US" altLang="en-US" sz="2700" dirty="0"/>
          </a:p>
          <a:p>
            <a:r>
              <a:rPr lang="en-US" altLang="en-US" sz="2700" dirty="0"/>
              <a:t> It's the opposite of reverse engineering, which starts with an existing system and tries to understand its design.</a:t>
            </a:r>
            <a:endParaRPr lang="en-US" altLang="en-US" sz="2700" dirty="0"/>
          </a:p>
          <a:p>
            <a:r>
              <a:rPr lang="en-US" altLang="en-US" sz="2700" dirty="0">
                <a:solidFill>
                  <a:srgbClr val="EDA3CF"/>
                </a:solidFill>
              </a:rPr>
              <a:t>Stages of Forward Engineering</a:t>
            </a:r>
            <a:endParaRPr lang="en-US" altLang="en-US" sz="2700" dirty="0">
              <a:solidFill>
                <a:srgbClr val="EDA3CF"/>
              </a:solidFill>
            </a:endParaRPr>
          </a:p>
          <a:p>
            <a:pPr lvl="2">
              <a:buFont typeface="Wingdings" panose="05000000000000000000" charset="0"/>
              <a:buChar char="Ø"/>
            </a:pPr>
            <a:r>
              <a:rPr lang="en-US" altLang="en-US" sz="2700" dirty="0"/>
              <a:t> Requirements Gathering and Analysis</a:t>
            </a:r>
            <a:endParaRPr lang="en-US" altLang="en-US" sz="2700" dirty="0"/>
          </a:p>
          <a:p>
            <a:pPr lvl="2">
              <a:buFont typeface="Wingdings" panose="05000000000000000000" charset="0"/>
              <a:buChar char="Ø"/>
            </a:pPr>
            <a:r>
              <a:rPr lang="en-US" altLang="en-US" sz="2700" dirty="0"/>
              <a:t>System </a:t>
            </a:r>
            <a:r>
              <a:rPr lang="en-US" altLang="en-US" sz="2700" dirty="0" smtClean="0"/>
              <a:t>Design(</a:t>
            </a:r>
            <a:r>
              <a:rPr lang="en-US" sz="2800" dirty="0"/>
              <a:t>High-Level </a:t>
            </a:r>
            <a:r>
              <a:rPr lang="en-US" sz="2800" dirty="0" smtClean="0"/>
              <a:t>Design)</a:t>
            </a:r>
            <a:endParaRPr lang="en-US" altLang="en-US" sz="2700" dirty="0"/>
          </a:p>
          <a:p>
            <a:pPr lvl="2">
              <a:buFont typeface="Wingdings" panose="05000000000000000000" charset="0"/>
              <a:buChar char="Ø"/>
            </a:pPr>
            <a:r>
              <a:rPr lang="en-US" altLang="en-US" sz="2700" dirty="0"/>
              <a:t>Detailed </a:t>
            </a:r>
            <a:r>
              <a:rPr lang="en-US" altLang="en-US" sz="2700" dirty="0" smtClean="0"/>
              <a:t>Design(</a:t>
            </a:r>
            <a:r>
              <a:rPr lang="en-US" altLang="en-US" sz="2800" dirty="0" smtClean="0"/>
              <a:t>low</a:t>
            </a:r>
            <a:r>
              <a:rPr lang="en-US" sz="2800" dirty="0" smtClean="0"/>
              <a:t>-Level Design)</a:t>
            </a:r>
            <a:endParaRPr lang="en-US" altLang="en-US" sz="2700" dirty="0"/>
          </a:p>
          <a:p>
            <a:pPr lvl="2">
              <a:buFont typeface="Wingdings" panose="05000000000000000000" charset="0"/>
              <a:buChar char="Ø"/>
            </a:pPr>
            <a:r>
              <a:rPr lang="en-US" altLang="en-US" sz="2700" dirty="0"/>
              <a:t>Implementation (Coding)</a:t>
            </a:r>
            <a:endParaRPr lang="en-US" altLang="en-US" sz="2700" dirty="0"/>
          </a:p>
          <a:p>
            <a:pPr lvl="2">
              <a:buFont typeface="Wingdings" panose="05000000000000000000" charset="0"/>
              <a:buChar char="Ø"/>
            </a:pPr>
            <a:r>
              <a:rPr lang="en-US" altLang="en-US" sz="2700" dirty="0"/>
              <a:t>Testing</a:t>
            </a:r>
            <a:endParaRPr lang="en-US" altLang="en-US" sz="2700" dirty="0"/>
          </a:p>
          <a:p>
            <a:pPr lvl="2">
              <a:buFont typeface="Wingdings" panose="05000000000000000000" charset="0"/>
              <a:buChar char="Ø"/>
            </a:pPr>
            <a:r>
              <a:rPr lang="en-US" altLang="en-US" sz="2700" dirty="0"/>
              <a:t>Deployment</a:t>
            </a:r>
            <a:endParaRPr lang="en-US" altLang="en-US" sz="2700" dirty="0"/>
          </a:p>
          <a:p>
            <a:pPr lvl="2">
              <a:buFont typeface="Wingdings" panose="05000000000000000000" charset="0"/>
              <a:buChar char="Ø"/>
            </a:pPr>
            <a:r>
              <a:rPr lang="en-US" altLang="en-US" sz="2700" dirty="0"/>
              <a:t>Maintenance</a:t>
            </a:r>
            <a:endParaRPr lang="en-US" altLang="en-US" sz="2700" dirty="0"/>
          </a:p>
          <a:p>
            <a:pPr marL="0" indent="0">
              <a:buNone/>
            </a:pPr>
            <a:endParaRPr lang="en-US" altLang="en-US" sz="2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7395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47395"/>
            <a:ext cx="12192000" cy="611060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rgbClr val="00B0F0"/>
                </a:solidFill>
              </a:rPr>
              <a:t>Methodologies Used in Forward Engineering</a:t>
            </a:r>
            <a:endParaRPr lang="en-US" alt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en-US" dirty="0"/>
              <a:t>Several software development methodologies guide the forward engineering process, including: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b="1" dirty="0">
                <a:solidFill>
                  <a:srgbClr val="EDA3CF"/>
                </a:solidFill>
              </a:rPr>
              <a:t>Waterfall Model:</a:t>
            </a:r>
            <a:r>
              <a:rPr lang="en-US" altLang="en-US" dirty="0"/>
              <a:t> A linear sequential approach where each stage must be completed before the next begins.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b="1" dirty="0">
                <a:solidFill>
                  <a:srgbClr val="EDA3CF"/>
                </a:solidFill>
              </a:rPr>
              <a:t>Iterative and Incremental Development: </a:t>
            </a:r>
            <a:r>
              <a:rPr lang="en-US" altLang="en-US" dirty="0"/>
              <a:t>The system is developed in iterations, with each iteration producing an incrementally more complete version of the software.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b="1" dirty="0">
                <a:solidFill>
                  <a:srgbClr val="EDA3CF"/>
                </a:solidFill>
              </a:rPr>
              <a:t>Agile Methodologies:</a:t>
            </a:r>
            <a:r>
              <a:rPr lang="en-US" altLang="en-US" dirty="0"/>
              <a:t> Emphasis on iterative development, collaboration, flexibility, and frequent feedback.</a:t>
            </a: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0260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10260"/>
            <a:ext cx="12192000" cy="6047740"/>
          </a:xfrm>
        </p:spPr>
        <p:txBody>
          <a:bodyPr/>
          <a:lstStyle/>
          <a:p>
            <a:r>
              <a:rPr lang="en-US" altLang="en-US" b="1" dirty="0">
                <a:solidFill>
                  <a:srgbClr val="EDA3CF"/>
                </a:solidFill>
              </a:rPr>
              <a:t>Advantages of Forward Engineering</a:t>
            </a:r>
            <a:endParaRPr lang="en-US" altLang="en-US" b="1" dirty="0">
              <a:solidFill>
                <a:srgbClr val="EDA3CF"/>
              </a:solidFill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en-US" altLang="en-US" dirty="0"/>
              <a:t>Structured Approach</a:t>
            </a:r>
            <a:endParaRPr lang="en-US" altLang="en-US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dirty="0"/>
              <a:t>Clear Documentation</a:t>
            </a:r>
            <a:endParaRPr lang="en-US" altLang="en-US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dirty="0"/>
              <a:t>Early Problem Detection</a:t>
            </a:r>
            <a:endParaRPr lang="en-US" altLang="en-US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dirty="0"/>
              <a:t>Reduced </a:t>
            </a:r>
            <a:r>
              <a:rPr lang="en-US" altLang="en-US" dirty="0" smtClean="0"/>
              <a:t>Risk(test reduced will be rise)</a:t>
            </a:r>
            <a:endParaRPr lang="en-US" altLang="en-US" dirty="0"/>
          </a:p>
          <a:p>
            <a:r>
              <a:rPr lang="en-US" altLang="en-US" b="1" dirty="0">
                <a:solidFill>
                  <a:srgbClr val="EDA3CF"/>
                </a:solidFill>
              </a:rPr>
              <a:t>Disadvantages of Forward Engineering</a:t>
            </a:r>
            <a:endParaRPr lang="en-US" altLang="en-US" b="1" dirty="0">
              <a:solidFill>
                <a:srgbClr val="EDA3CF"/>
              </a:solidFill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en-US" altLang="en-US" dirty="0"/>
              <a:t>Inflexibility</a:t>
            </a:r>
            <a:endParaRPr lang="en-US" altLang="en-US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dirty="0"/>
              <a:t>Time-Consuming</a:t>
            </a:r>
            <a:endParaRPr lang="en-US" altLang="en-US" dirty="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dirty="0"/>
              <a:t>Late User Feedback</a:t>
            </a: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6050"/>
            <a:ext cx="12192000" cy="733425"/>
          </a:xfrm>
        </p:spPr>
        <p:txBody>
          <a:bodyPr/>
          <a:lstStyle/>
          <a:p>
            <a:pPr algn="ctr"/>
            <a:r>
              <a:rPr lang="en-US" altLang="en-US" sz="3800" b="1">
                <a:solidFill>
                  <a:srgbClr val="00B0F0"/>
                </a:solidFill>
              </a:rPr>
              <a:t>Refactoring</a:t>
            </a:r>
            <a:endParaRPr lang="en-US" altLang="en-US" sz="3800" b="1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79475"/>
            <a:ext cx="12192000" cy="5978525"/>
          </a:xfrm>
        </p:spPr>
        <p:txBody>
          <a:bodyPr/>
          <a:lstStyle/>
          <a:p>
            <a:r>
              <a:rPr lang="en-US" altLang="en-US" sz="2800">
                <a:solidFill>
                  <a:srgbClr val="EDA3CF"/>
                </a:solidFill>
              </a:rPr>
              <a:t>Refactoring</a:t>
            </a:r>
            <a:r>
              <a:rPr lang="en-US" altLang="en-US" sz="2800"/>
              <a:t> is the process of restructuring existing computer code altering its internal structure without changing its external behavior. </a:t>
            </a:r>
            <a:endParaRPr lang="en-US" altLang="en-US" sz="2800"/>
          </a:p>
          <a:p>
            <a:r>
              <a:rPr lang="en-US" altLang="en-US" sz="2800"/>
              <a:t>The goal is to improve the code's design, readability, maintainability, and performance without affecting its functionality.</a:t>
            </a:r>
            <a:endParaRPr lang="en-US" altLang="en-US" sz="2800"/>
          </a:p>
          <a:p>
            <a:r>
              <a:rPr lang="en-US" altLang="en-US" sz="2800" b="1">
                <a:solidFill>
                  <a:srgbClr val="EDA3CF"/>
                </a:solidFill>
              </a:rPr>
              <a:t> Goals of Refactoring</a:t>
            </a:r>
            <a:endParaRPr lang="en-US" altLang="en-US" sz="2800" b="1">
              <a:solidFill>
                <a:srgbClr val="EDA3CF"/>
              </a:solidFill>
            </a:endParaRPr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2800"/>
              <a:t>Improved Readability</a:t>
            </a:r>
            <a:endParaRPr lang="en-US" altLang="en-US" sz="280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2800"/>
              <a:t>Increased Maintainability</a:t>
            </a:r>
            <a:endParaRPr lang="en-US" altLang="en-US" sz="280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2800"/>
              <a:t>Enhanced Performance</a:t>
            </a:r>
            <a:endParaRPr lang="en-US" altLang="en-US" sz="280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2800"/>
              <a:t>Reduced Complexity</a:t>
            </a:r>
            <a:endParaRPr lang="en-US" altLang="en-US" sz="280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2800"/>
              <a:t>Improved Testability</a:t>
            </a:r>
            <a:endParaRPr lang="en-US" altLang="en-US" sz="280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2800"/>
              <a:t>Better Design</a:t>
            </a:r>
            <a:endParaRPr lang="en-US" altLang="en-US" sz="2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23595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23595"/>
            <a:ext cx="12192000" cy="603377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000" b="1">
                <a:solidFill>
                  <a:srgbClr val="00B0F0"/>
                </a:solidFill>
              </a:rPr>
              <a:t>When to Refactor:</a:t>
            </a:r>
            <a:endParaRPr lang="en-US" altLang="en-US" sz="3000" b="1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en-US" sz="3000"/>
              <a:t>Refactoring should be done proactively and regularly, not just when there's a problem. Good times include: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 b="1">
                <a:solidFill>
                  <a:srgbClr val="EDA3CF"/>
                </a:solidFill>
              </a:rPr>
              <a:t>Adding New Functionality:</a:t>
            </a:r>
            <a:r>
              <a:rPr lang="en-US" altLang="en-US" sz="3000"/>
              <a:t> Before adding new features, refactor the code to make it easier to integrate the new functionality.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 b="1">
                <a:solidFill>
                  <a:srgbClr val="EDA3CF"/>
                </a:solidFill>
              </a:rPr>
              <a:t>Fixing Bugs: </a:t>
            </a:r>
            <a:r>
              <a:rPr lang="en-US" altLang="en-US" sz="3000"/>
              <a:t>When fixing bugs, often refactoring the surrounding code improves readability.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 b="1">
                <a:solidFill>
                  <a:srgbClr val="EDA3CF"/>
                </a:solidFill>
              </a:rPr>
              <a:t> Code Reviews:</a:t>
            </a:r>
            <a:r>
              <a:rPr lang="en-US" altLang="en-US" sz="3000"/>
              <a:t> Refactoring is often identified during code reviews.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 b="1">
                <a:solidFill>
                  <a:srgbClr val="EDA3CF"/>
                </a:solidFill>
              </a:rPr>
              <a:t>Scheduled Refactoring:</a:t>
            </a:r>
            <a:r>
              <a:rPr lang="en-US" altLang="en-US" sz="3000"/>
              <a:t> Dedicate specific time for refactoring as part of a sprint or iteration.</a:t>
            </a:r>
            <a:endParaRPr lang="en-US" altLang="en-US" sz="3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3505"/>
            <a:ext cx="12192000" cy="718185"/>
          </a:xfrm>
        </p:spPr>
        <p:txBody>
          <a:bodyPr/>
          <a:lstStyle/>
          <a:p>
            <a:pPr algn="ctr"/>
            <a:r>
              <a:rPr lang="en-US" altLang="en-US" b="1">
                <a:solidFill>
                  <a:srgbClr val="00B0F0"/>
                </a:solidFill>
              </a:rPr>
              <a:t>Code Transformation</a:t>
            </a:r>
            <a:endParaRPr lang="en-US" altLang="en-US" b="1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21690"/>
            <a:ext cx="12192000" cy="5918835"/>
          </a:xfrm>
        </p:spPr>
        <p:txBody>
          <a:bodyPr/>
          <a:lstStyle/>
          <a:p>
            <a:r>
              <a:rPr lang="en-US" altLang="en-US" sz="3000" dirty="0"/>
              <a:t>Code transformation is the process of automatically </a:t>
            </a:r>
            <a:r>
              <a:rPr lang="en-US" altLang="en-US" sz="3000" i="1" dirty="0"/>
              <a:t>modifying source code</a:t>
            </a:r>
            <a:r>
              <a:rPr lang="en-US" altLang="en-US" sz="3000" dirty="0"/>
              <a:t> </a:t>
            </a:r>
            <a:r>
              <a:rPr lang="en-US" altLang="en-US" sz="3000" i="1" dirty="0"/>
              <a:t>to achieve a specific goal</a:t>
            </a:r>
            <a:r>
              <a:rPr lang="en-US" altLang="en-US" sz="3000" dirty="0"/>
              <a:t>. </a:t>
            </a:r>
            <a:endParaRPr lang="en-US" altLang="en-US" sz="3000" dirty="0"/>
          </a:p>
          <a:p>
            <a:r>
              <a:rPr lang="en-US" altLang="en-US" sz="3000" dirty="0"/>
              <a:t>Transformations can be applied to</a:t>
            </a:r>
            <a:r>
              <a:rPr lang="en-US" altLang="en-US" sz="3000" i="1" dirty="0"/>
              <a:t> improve code quality</a:t>
            </a:r>
            <a:r>
              <a:rPr lang="en-US" altLang="en-US" sz="3000" dirty="0"/>
              <a:t>, </a:t>
            </a:r>
            <a:r>
              <a:rPr lang="en-US" altLang="en-US" sz="3000" i="1" dirty="0"/>
              <a:t>enhance performance</a:t>
            </a:r>
            <a:r>
              <a:rPr lang="en-US" altLang="en-US" sz="3000" dirty="0"/>
              <a:t>, </a:t>
            </a:r>
            <a:r>
              <a:rPr lang="en-US" altLang="en-US" sz="3000" i="1" dirty="0"/>
              <a:t>adapt to new platforms</a:t>
            </a:r>
            <a:r>
              <a:rPr lang="en-US" altLang="en-US" sz="3000" dirty="0"/>
              <a:t>, or prepare code for further analysis.</a:t>
            </a:r>
            <a:endParaRPr lang="en-US" altLang="en-US" sz="3000" dirty="0"/>
          </a:p>
          <a:p>
            <a:pPr marL="0" indent="0">
              <a:buNone/>
            </a:pPr>
            <a:r>
              <a:rPr lang="en-US" altLang="en-US" sz="3000" b="1" dirty="0">
                <a:solidFill>
                  <a:srgbClr val="EDA3CF"/>
                </a:solidFill>
              </a:rPr>
              <a:t>Types of Code Transformations</a:t>
            </a:r>
            <a:endParaRPr lang="en-US" altLang="en-US" sz="3000" b="1" dirty="0">
              <a:solidFill>
                <a:srgbClr val="EDA3CF"/>
              </a:solidFill>
            </a:endParaRPr>
          </a:p>
          <a:p>
            <a:pPr marL="0" indent="0">
              <a:buNone/>
            </a:pPr>
            <a:r>
              <a:rPr lang="en-US" altLang="en-US" sz="3000" dirty="0"/>
              <a:t>Code transformations can be broadly categorized based on their purpose:</a:t>
            </a:r>
            <a:endParaRPr lang="en-US" altLang="en-US" sz="3000" dirty="0"/>
          </a:p>
          <a:p>
            <a:pPr marL="0" indent="0">
              <a:buNone/>
            </a:pPr>
            <a:r>
              <a:rPr lang="en-US" altLang="en-US" sz="3000" dirty="0">
                <a:solidFill>
                  <a:srgbClr val="EDA3CF"/>
                </a:solidFill>
              </a:rPr>
              <a:t>Refactoring Transformations:</a:t>
            </a:r>
            <a:r>
              <a:rPr lang="en-US" altLang="en-US" sz="3000" dirty="0"/>
              <a:t> These aim to </a:t>
            </a:r>
            <a:r>
              <a:rPr lang="en-US" altLang="en-US" sz="3000" i="1" dirty="0"/>
              <a:t>improve the internal structure</a:t>
            </a:r>
            <a:r>
              <a:rPr lang="en-US" altLang="en-US" sz="3000" dirty="0"/>
              <a:t> and </a:t>
            </a:r>
            <a:r>
              <a:rPr lang="en-US" altLang="en-US" sz="3000" i="1" dirty="0"/>
              <a:t>design</a:t>
            </a:r>
            <a:r>
              <a:rPr lang="en-US" altLang="en-US" sz="3000" dirty="0"/>
              <a:t> of the code without changing its external behavior.  </a:t>
            </a:r>
            <a:endParaRPr lang="en-US" altLang="en-US" sz="3000" dirty="0"/>
          </a:p>
          <a:p>
            <a:pPr>
              <a:buFont typeface="Wingdings" panose="05000000000000000000" charset="0"/>
              <a:buChar char="§"/>
            </a:pPr>
            <a:r>
              <a:rPr lang="en-US" altLang="en-US" sz="3000" dirty="0"/>
              <a:t>Examples include renaming variables, removing duplicated code.  </a:t>
            </a:r>
            <a:endParaRPr lang="en-US" altLang="en-US" sz="3000" dirty="0"/>
          </a:p>
          <a:p>
            <a:pPr>
              <a:buFont typeface="Wingdings" panose="05000000000000000000" charset="0"/>
              <a:buChar char="§"/>
            </a:pPr>
            <a:r>
              <a:rPr lang="en-US" altLang="en-US" sz="3000" dirty="0"/>
              <a:t>The goal is to enhance readability, maintainability, and efficiency.</a:t>
            </a:r>
            <a:endParaRPr lang="en-US" altLang="en-US" sz="3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6600"/>
          </a:xfrm>
        </p:spPr>
        <p:txBody>
          <a:bodyPr/>
          <a:lstStyle/>
          <a:p>
            <a:r>
              <a:rPr lang="en-US" sz="4000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 sz="4000" b="1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6600"/>
            <a:ext cx="12192000" cy="6121400"/>
          </a:xfrm>
        </p:spPr>
        <p:txBody>
          <a:bodyPr/>
          <a:lstStyle/>
          <a:p>
            <a:r>
              <a:rPr lang="en-US" altLang="en-US" dirty="0"/>
              <a:t> </a:t>
            </a:r>
            <a:r>
              <a:rPr lang="en-US" altLang="en-US" dirty="0">
                <a:solidFill>
                  <a:srgbClr val="EDA3CF"/>
                </a:solidFill>
              </a:rPr>
              <a:t>Optimization Transformations:</a:t>
            </a:r>
            <a:r>
              <a:rPr lang="en-US" altLang="en-US" dirty="0"/>
              <a:t> </a:t>
            </a:r>
            <a:r>
              <a:rPr lang="en-US" altLang="en-US" dirty="0" smtClean="0"/>
              <a:t>it applied </a:t>
            </a:r>
            <a:r>
              <a:rPr lang="en-US" altLang="en-US" dirty="0"/>
              <a:t>to improve the performance of a program, such as reducing execution time, memory usage, or energy consumption, without changing the program’s behavior</a:t>
            </a:r>
            <a:r>
              <a:rPr lang="en-US" altLang="en-US" sz="3600" dirty="0" smtClean="0"/>
              <a:t>.</a:t>
            </a:r>
            <a:endParaRPr lang="en-US" altLang="en-US" sz="3600" dirty="0" smtClean="0"/>
          </a:p>
          <a:p>
            <a:r>
              <a:rPr lang="en-US" altLang="en-US" dirty="0" smtClean="0">
                <a:solidFill>
                  <a:srgbClr val="EDA3CF"/>
                </a:solidFill>
              </a:rPr>
              <a:t>Translation </a:t>
            </a:r>
            <a:r>
              <a:rPr lang="en-US" altLang="en-US" dirty="0">
                <a:solidFill>
                  <a:srgbClr val="EDA3CF"/>
                </a:solidFill>
              </a:rPr>
              <a:t>Transformations:</a:t>
            </a:r>
            <a:r>
              <a:rPr lang="en-US" altLang="en-US" dirty="0"/>
              <a:t> These convert code </a:t>
            </a:r>
            <a:r>
              <a:rPr lang="en-US" altLang="en-US" i="1" dirty="0"/>
              <a:t>from one programming language to another</a:t>
            </a:r>
            <a:r>
              <a:rPr lang="en-US" altLang="en-US" dirty="0"/>
              <a:t>.  </a:t>
            </a:r>
            <a:endParaRPr lang="en-US" altLang="en-US" dirty="0"/>
          </a:p>
          <a:p>
            <a:r>
              <a:rPr lang="en-US" altLang="en-US" dirty="0"/>
              <a:t>This is useful for migrating code to a </a:t>
            </a:r>
            <a:r>
              <a:rPr lang="en-US" altLang="en-US" i="1" dirty="0"/>
              <a:t>new platform </a:t>
            </a:r>
            <a:r>
              <a:rPr lang="en-US" altLang="en-US" dirty="0"/>
              <a:t>or adopting a more </a:t>
            </a:r>
            <a:r>
              <a:rPr lang="en-US" altLang="en-US" i="1" dirty="0"/>
              <a:t>modern language</a:t>
            </a:r>
            <a:r>
              <a:rPr lang="en-US" altLang="en-US" dirty="0"/>
              <a:t>.</a:t>
            </a:r>
            <a:endParaRPr lang="en-US" altLang="en-US" dirty="0"/>
          </a:p>
          <a:p>
            <a:r>
              <a:rPr lang="en-US" altLang="en-US" dirty="0">
                <a:solidFill>
                  <a:srgbClr val="EDA3CF"/>
                </a:solidFill>
              </a:rPr>
              <a:t>Adaptation Transformations:</a:t>
            </a:r>
            <a:r>
              <a:rPr lang="en-US" altLang="en-US" dirty="0"/>
              <a:t> These modify code </a:t>
            </a:r>
            <a:r>
              <a:rPr lang="en-US" altLang="en-US" i="1" dirty="0"/>
              <a:t>to adapt it to a new environment</a:t>
            </a:r>
            <a:r>
              <a:rPr lang="en-US" altLang="en-US" dirty="0"/>
              <a:t>, platform, or operating system.  </a:t>
            </a:r>
            <a:endParaRPr lang="en-US" altLang="en-US" dirty="0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0" y="736600"/>
            <a:ext cx="12192000" cy="6121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 </a:t>
            </a:r>
            <a:r>
              <a:rPr lang="en-US" altLang="en-US" dirty="0">
                <a:solidFill>
                  <a:srgbClr val="EDA3CF"/>
                </a:solidFill>
              </a:rPr>
              <a:t>Optimization Transformations:</a:t>
            </a:r>
            <a:r>
              <a:rPr lang="en-US" altLang="en-US" dirty="0"/>
              <a:t> </a:t>
            </a:r>
            <a:r>
              <a:rPr lang="en-US" altLang="en-US" dirty="0" smtClean="0"/>
              <a:t>it applied </a:t>
            </a:r>
            <a:r>
              <a:rPr lang="en-US" altLang="en-US" dirty="0"/>
              <a:t>to improve the performance of a program, such as reducing execution time, memory usage, or energy consumption, without changing the program’s behavior</a:t>
            </a:r>
            <a:r>
              <a:rPr lang="en-US" altLang="en-US" sz="3600" dirty="0" smtClean="0"/>
              <a:t>.</a:t>
            </a:r>
            <a:endParaRPr lang="en-US" altLang="en-US" sz="3600" dirty="0" smtClean="0"/>
          </a:p>
          <a:p>
            <a:r>
              <a:rPr lang="en-US" altLang="en-US" dirty="0" smtClean="0">
                <a:solidFill>
                  <a:srgbClr val="EDA3CF"/>
                </a:solidFill>
              </a:rPr>
              <a:t>Translation </a:t>
            </a:r>
            <a:r>
              <a:rPr lang="en-US" altLang="en-US" dirty="0">
                <a:solidFill>
                  <a:srgbClr val="EDA3CF"/>
                </a:solidFill>
              </a:rPr>
              <a:t>Transformations:</a:t>
            </a:r>
            <a:r>
              <a:rPr lang="en-US" altLang="en-US" dirty="0"/>
              <a:t> These convert code </a:t>
            </a:r>
            <a:r>
              <a:rPr lang="en-US" altLang="en-US" i="1" dirty="0"/>
              <a:t>from one programming language to another</a:t>
            </a:r>
            <a:r>
              <a:rPr lang="en-US" altLang="en-US" dirty="0"/>
              <a:t>.  </a:t>
            </a:r>
            <a:endParaRPr lang="en-US" altLang="en-US" dirty="0"/>
          </a:p>
          <a:p>
            <a:r>
              <a:rPr lang="en-US" altLang="en-US" dirty="0"/>
              <a:t>This is useful for migrating code to a </a:t>
            </a:r>
            <a:r>
              <a:rPr lang="en-US" altLang="en-US" i="1" dirty="0"/>
              <a:t>new platform </a:t>
            </a:r>
            <a:r>
              <a:rPr lang="en-US" altLang="en-US" dirty="0"/>
              <a:t>or adopting a more </a:t>
            </a:r>
            <a:r>
              <a:rPr lang="en-US" altLang="en-US" i="1" dirty="0"/>
              <a:t>modern language</a:t>
            </a:r>
            <a:r>
              <a:rPr lang="en-US" altLang="en-US" dirty="0"/>
              <a:t>.</a:t>
            </a:r>
            <a:endParaRPr lang="en-US" altLang="en-US" dirty="0"/>
          </a:p>
          <a:p>
            <a:r>
              <a:rPr lang="en-US" altLang="en-US" dirty="0">
                <a:solidFill>
                  <a:srgbClr val="EDA3CF"/>
                </a:solidFill>
              </a:rPr>
              <a:t>Adaptation Transformations:</a:t>
            </a:r>
            <a:r>
              <a:rPr lang="en-US" altLang="en-US" dirty="0"/>
              <a:t> These modify code </a:t>
            </a:r>
            <a:r>
              <a:rPr lang="en-US" altLang="en-US" i="1" dirty="0"/>
              <a:t>to adapt it to a new environment</a:t>
            </a:r>
            <a:r>
              <a:rPr lang="en-US" altLang="en-US" dirty="0"/>
              <a:t>, platform, or operating system.  </a:t>
            </a: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4870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64870"/>
            <a:ext cx="12192000" cy="5993765"/>
          </a:xfrm>
        </p:spPr>
        <p:txBody>
          <a:bodyPr/>
          <a:lstStyle/>
          <a:p>
            <a:r>
              <a:rPr lang="en-US" altLang="en-US" b="1" dirty="0">
                <a:solidFill>
                  <a:srgbClr val="EDA3CF"/>
                </a:solidFill>
              </a:rPr>
              <a:t>Applications of Code Transformation</a:t>
            </a:r>
            <a:endParaRPr lang="en-US" altLang="en-US" b="1" dirty="0">
              <a:solidFill>
                <a:srgbClr val="EDA3CF"/>
              </a:solidFill>
            </a:endParaRPr>
          </a:p>
          <a:p>
            <a:r>
              <a:rPr lang="en-US" altLang="en-US" dirty="0"/>
              <a:t>Code transformation plays a vital role in:</a:t>
            </a:r>
            <a:endParaRPr lang="en-US" altLang="en-US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/>
              <a:t>Software Maintenance</a:t>
            </a:r>
            <a:endParaRPr lang="en-US" altLang="en-US" sz="36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/>
              <a:t>Software Modernization</a:t>
            </a:r>
            <a:endParaRPr lang="en-US" altLang="en-US" sz="36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/>
              <a:t>Software Optimization</a:t>
            </a:r>
            <a:endParaRPr lang="en-US" altLang="en-US" sz="36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/>
              <a:t>Software Security</a:t>
            </a:r>
            <a:endParaRPr lang="en-US" altLang="en-US" sz="36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 dirty="0"/>
              <a:t>Program Analysis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655"/>
            <a:ext cx="12192000" cy="752475"/>
          </a:xfrm>
        </p:spPr>
        <p:txBody>
          <a:bodyPr/>
          <a:lstStyle/>
          <a:p>
            <a:pPr algn="ctr"/>
            <a:r>
              <a:rPr lang="en-US" altLang="en-US" sz="3700" b="1">
                <a:solidFill>
                  <a:srgbClr val="00B0F0"/>
                </a:solidFill>
              </a:rPr>
              <a:t>Web-enabling</a:t>
            </a:r>
            <a:endParaRPr lang="en-US" altLang="en-US" sz="3700" b="1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16635"/>
            <a:ext cx="12192635" cy="5842000"/>
          </a:xfrm>
        </p:spPr>
        <p:txBody>
          <a:bodyPr/>
          <a:lstStyle/>
          <a:p>
            <a:r>
              <a:rPr lang="en-US" altLang="en-US" sz="3600"/>
              <a:t>Web-enabling is the process of </a:t>
            </a:r>
            <a:r>
              <a:rPr lang="en-US" altLang="en-US" sz="3600" i="1"/>
              <a:t>modifying existing applications </a:t>
            </a:r>
            <a:r>
              <a:rPr lang="en-US" altLang="en-US" sz="3600"/>
              <a:t>or </a:t>
            </a:r>
            <a:r>
              <a:rPr lang="en-US" altLang="en-US" sz="3600" i="1"/>
              <a:t>systems</a:t>
            </a:r>
            <a:r>
              <a:rPr lang="en-US" altLang="en-US" sz="3600"/>
              <a:t> to make them </a:t>
            </a:r>
            <a:r>
              <a:rPr lang="en-US" altLang="en-US" sz="3600" i="1"/>
              <a:t>accessible</a:t>
            </a:r>
            <a:r>
              <a:rPr lang="en-US" altLang="en-US" sz="3600"/>
              <a:t> via the </a:t>
            </a:r>
            <a:r>
              <a:rPr lang="en-US" altLang="en-US" sz="3600" i="1"/>
              <a:t>World Wide Web</a:t>
            </a:r>
            <a:r>
              <a:rPr lang="en-US" altLang="en-US" sz="3600"/>
              <a:t>(WWW).</a:t>
            </a:r>
            <a:endParaRPr lang="en-US" altLang="en-US" sz="3600"/>
          </a:p>
          <a:p>
            <a:r>
              <a:rPr lang="en-US" altLang="en-US" sz="3600"/>
              <a:t> It involves</a:t>
            </a:r>
            <a:r>
              <a:rPr lang="en-US" altLang="en-US" sz="3600" i="1"/>
              <a:t> integrating the application with web technologies</a:t>
            </a:r>
            <a:r>
              <a:rPr lang="en-US" altLang="en-US" sz="3600"/>
              <a:t> to allow users to interact with it through a web browser.</a:t>
            </a:r>
            <a:endParaRPr lang="en-US" altLang="en-US" sz="3600"/>
          </a:p>
          <a:p>
            <a:r>
              <a:rPr lang="en-US" altLang="en-US" sz="3600"/>
              <a:t>This makes the application more </a:t>
            </a:r>
            <a:r>
              <a:rPr lang="en-US" altLang="en-US" sz="3600" i="1"/>
              <a:t>accessible</a:t>
            </a:r>
            <a:r>
              <a:rPr lang="en-US" altLang="en-US" sz="3600"/>
              <a:t>, </a:t>
            </a:r>
            <a:r>
              <a:rPr lang="en-US" altLang="en-US" sz="3600" i="1"/>
              <a:t>usable</a:t>
            </a:r>
            <a:r>
              <a:rPr lang="en-US" altLang="en-US" sz="3600"/>
              <a:t>, and </a:t>
            </a:r>
            <a:r>
              <a:rPr lang="en-US" altLang="en-US" sz="3600" i="1"/>
              <a:t>scalable</a:t>
            </a:r>
            <a:r>
              <a:rPr lang="en-US" altLang="en-US" sz="3600"/>
              <a:t>.</a:t>
            </a:r>
            <a:endParaRPr lang="en-US" altLang="en-US" sz="3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" y="394970"/>
            <a:ext cx="12192000" cy="839470"/>
          </a:xfrm>
        </p:spPr>
        <p:txBody>
          <a:bodyPr/>
          <a:lstStyle/>
          <a:p>
            <a:r>
              <a:rPr lang="en-US" sz="4000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 sz="4000" b="1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25575"/>
            <a:ext cx="12192000" cy="54324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B0F0"/>
                </a:solidFill>
              </a:rPr>
              <a:t>Benefits of Web-Enabling</a:t>
            </a:r>
            <a:endParaRPr lang="en-US" altLang="en-US" b="1">
              <a:solidFill>
                <a:srgbClr val="00B0F0"/>
              </a:solidFill>
            </a:endParaRPr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/>
              <a:t>Improved Accessibility</a:t>
            </a:r>
            <a:endParaRPr lang="en-US" altLang="en-US" sz="360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/>
              <a:t>Increased Usability</a:t>
            </a:r>
            <a:endParaRPr lang="en-US" altLang="en-US" sz="360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/>
              <a:t>Enhanced Scalability</a:t>
            </a:r>
            <a:endParaRPr lang="en-US" altLang="en-US" sz="360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/>
              <a:t>Reduced Costs</a:t>
            </a:r>
            <a:endParaRPr lang="en-US" altLang="en-US" sz="3600"/>
          </a:p>
          <a:p>
            <a:pPr lvl="1">
              <a:buFont typeface="Wingdings" panose="05000000000000000000" charset="0"/>
              <a:buChar char="ü"/>
            </a:pPr>
            <a:r>
              <a:rPr lang="en-US" altLang="en-US" sz="3600"/>
              <a:t>Better Collaboration</a:t>
            </a:r>
            <a:endParaRPr lang="en-US" altLang="en-US"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9075"/>
            <a:ext cx="12192000" cy="781685"/>
          </a:xfrm>
        </p:spPr>
        <p:txBody>
          <a:bodyPr/>
          <a:lstStyle/>
          <a:p>
            <a:pPr algn="ctr"/>
            <a:r>
              <a:rPr lang="en-US" altLang="en-US" b="1">
                <a:solidFill>
                  <a:srgbClr val="00B0F0"/>
                </a:solidFill>
              </a:rPr>
              <a:t>Software Reengineering Strategies and Management</a:t>
            </a:r>
            <a:endParaRPr lang="en-US" altLang="en-US" b="1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1221105"/>
            <a:ext cx="12192635" cy="5446395"/>
          </a:xfrm>
        </p:spPr>
        <p:txBody>
          <a:bodyPr/>
          <a:lstStyle/>
          <a:p>
            <a:r>
              <a:rPr lang="en-US" altLang="en-US" sz="3600"/>
              <a:t>Software reengineering strategies and management involve a systematic approach to improving existing software systems.</a:t>
            </a:r>
            <a:endParaRPr lang="en-US" altLang="en-US" sz="3600"/>
          </a:p>
          <a:p>
            <a:r>
              <a:rPr lang="en-US" altLang="en-US" sz="3600"/>
              <a:t>It's more than just fixing bugs; it's about fundamentally improving the </a:t>
            </a:r>
            <a:r>
              <a:rPr lang="en-US" altLang="en-US" sz="3600" i="1"/>
              <a:t>system's architecture</a:t>
            </a:r>
            <a:r>
              <a:rPr lang="en-US" altLang="en-US" sz="3600"/>
              <a:t>, </a:t>
            </a:r>
            <a:r>
              <a:rPr lang="en-US" altLang="en-US" sz="3600" i="1"/>
              <a:t>design</a:t>
            </a:r>
            <a:r>
              <a:rPr lang="en-US" altLang="en-US" sz="3600"/>
              <a:t>, and </a:t>
            </a:r>
            <a:r>
              <a:rPr lang="en-US" altLang="en-US" sz="3600" i="1"/>
              <a:t>codebase.</a:t>
            </a:r>
            <a:endParaRPr lang="en-US" altLang="en-US" sz="3600"/>
          </a:p>
          <a:p>
            <a:r>
              <a:rPr lang="en-US" altLang="en-US" sz="3600"/>
              <a:t>Effective management is crucial for successful reengineering.</a:t>
            </a:r>
            <a:endParaRPr lang="en-US" altLang="en-US" sz="3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0260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10260"/>
            <a:ext cx="12192000" cy="604774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600" b="1">
                <a:solidFill>
                  <a:srgbClr val="EDA3CF"/>
                </a:solidFill>
              </a:rPr>
              <a:t>Software Reengineering Strategies</a:t>
            </a:r>
            <a:endParaRPr lang="en-US" altLang="en-US" sz="3600" b="1">
              <a:solidFill>
                <a:srgbClr val="EDA3CF"/>
              </a:solidFill>
            </a:endParaRPr>
          </a:p>
          <a:p>
            <a:pPr marL="0" indent="0">
              <a:buNone/>
            </a:pPr>
            <a:r>
              <a:rPr lang="en-US" altLang="en-US" sz="3600"/>
              <a:t>Several strategies guide the reengineering process, often employed in combination:</a:t>
            </a:r>
            <a:endParaRPr lang="en-US" altLang="en-US" sz="360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/>
              <a:t>Restructuring</a:t>
            </a:r>
            <a:endParaRPr lang="en-US" altLang="en-US" sz="360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/>
              <a:t>Reverse Engineering</a:t>
            </a:r>
            <a:endParaRPr lang="en-US" altLang="en-US" sz="360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/>
              <a:t>Forward Engineering</a:t>
            </a:r>
            <a:endParaRPr lang="en-US" altLang="en-US" sz="360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/>
              <a:t>Redesign</a:t>
            </a:r>
            <a:endParaRPr lang="en-US" altLang="en-US" sz="360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600"/>
              <a:t>Data Migration</a:t>
            </a:r>
            <a:endParaRPr lang="en-US" altLang="en-US" sz="3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8030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48030"/>
            <a:ext cx="12192000" cy="611060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000" b="1" dirty="0">
                <a:solidFill>
                  <a:srgbClr val="EDA3CF"/>
                </a:solidFill>
              </a:rPr>
              <a:t>Software Reengineering Management</a:t>
            </a:r>
            <a:endParaRPr lang="en-US" altLang="en-US" sz="3000" b="1" dirty="0">
              <a:solidFill>
                <a:srgbClr val="EDA3CF"/>
              </a:solidFill>
            </a:endParaRPr>
          </a:p>
          <a:p>
            <a:pPr marL="0" indent="0">
              <a:buNone/>
            </a:pPr>
            <a:r>
              <a:rPr lang="en-US" altLang="en-US" sz="3000" dirty="0"/>
              <a:t>Effective management is crucial for the success of any reengineering project. Key aspects include:</a:t>
            </a:r>
            <a:endParaRPr lang="en-US" altLang="en-US" sz="30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000" dirty="0"/>
              <a:t>Project Planning</a:t>
            </a:r>
            <a:endParaRPr lang="en-US" altLang="en-US" sz="30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000" dirty="0"/>
              <a:t>Team Selection</a:t>
            </a:r>
            <a:endParaRPr lang="en-US" altLang="en-US" sz="30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000" dirty="0"/>
              <a:t> Resource Allocation</a:t>
            </a:r>
            <a:endParaRPr lang="en-US" altLang="en-US" sz="30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000" dirty="0"/>
              <a:t>Communication and Collaboration</a:t>
            </a:r>
            <a:endParaRPr lang="en-US" altLang="en-US" sz="30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000" dirty="0"/>
              <a:t>Testing and Quality Assurance</a:t>
            </a:r>
            <a:endParaRPr lang="en-US" altLang="en-US" sz="30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000" dirty="0"/>
              <a:t>Risk Management</a:t>
            </a:r>
            <a:endParaRPr lang="en-US" altLang="en-US" sz="30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000" dirty="0"/>
              <a:t>Change Management</a:t>
            </a:r>
            <a:endParaRPr lang="en-US" altLang="en-US" sz="3000" dirty="0"/>
          </a:p>
          <a:p>
            <a:pPr lvl="2">
              <a:buFont typeface="Wingdings" panose="05000000000000000000" charset="0"/>
              <a:buChar char="ü"/>
            </a:pPr>
            <a:r>
              <a:rPr lang="en-US" altLang="en-US" sz="3000" dirty="0"/>
              <a:t>Documentation</a:t>
            </a:r>
            <a:endParaRPr lang="en-US" altLang="en-US" sz="3000" dirty="0"/>
          </a:p>
          <a:p>
            <a:pPr marL="0" indent="0">
              <a:buNone/>
            </a:pPr>
            <a:endParaRPr lang="en-US" altLang="en-US" sz="3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 rot="20820000">
            <a:off x="568325" y="1800860"/>
            <a:ext cx="10214610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THE END OF </a:t>
            </a:r>
            <a:endParaRPr lang="en-US" altLang="zh-CN" sz="7200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pPr algn="ctr"/>
            <a:r>
              <a:rPr lang="en-US" altLang="zh-CN" sz="7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THE COURSE</a:t>
            </a:r>
            <a:endParaRPr lang="en-US" altLang="zh-CN" sz="7200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pPr algn="ctr"/>
            <a:r>
              <a:rPr lang="en-US" altLang="zh-CN" sz="7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THANK YOU!!!!</a:t>
            </a:r>
            <a:endParaRPr lang="en-US" altLang="zh-CN" sz="7200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11530</Words>
  <Application>WPS Presentation</Application>
  <PresentationFormat>Custom</PresentationFormat>
  <Paragraphs>329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Arial</vt:lpstr>
      <vt:lpstr>SimSun</vt:lpstr>
      <vt:lpstr>Wingdings</vt:lpstr>
      <vt:lpstr>Imprint MT Shadow</vt:lpstr>
      <vt:lpstr>Times New Roman</vt:lpstr>
      <vt:lpstr>Wingdings</vt:lpstr>
      <vt:lpstr>Microsoft YaHei</vt:lpstr>
      <vt:lpstr>Arial Unicode MS</vt:lpstr>
      <vt:lpstr>Calibri</vt:lpstr>
      <vt:lpstr>Art_mountaineering</vt:lpstr>
      <vt:lpstr>SOFTWARE EVOLUTION AND MAINTENANCE</vt:lpstr>
      <vt:lpstr>REENGINEERING</vt:lpstr>
      <vt:lpstr>Cont...</vt:lpstr>
      <vt:lpstr>Cont...</vt:lpstr>
      <vt:lpstr>Cont...</vt:lpstr>
      <vt:lpstr>Reverse engineering</vt:lpstr>
      <vt:lpstr>Cont...</vt:lpstr>
      <vt:lpstr>Cont...</vt:lpstr>
      <vt:lpstr>Cont...</vt:lpstr>
      <vt:lpstr>Program analysis</vt:lpstr>
      <vt:lpstr>Cont...</vt:lpstr>
      <vt:lpstr>Cont...</vt:lpstr>
      <vt:lpstr>Architecture recovery</vt:lpstr>
      <vt:lpstr>Cont...</vt:lpstr>
      <vt:lpstr>Cont...</vt:lpstr>
      <vt:lpstr>Software Complexity and Maintenance Metrics</vt:lpstr>
      <vt:lpstr>Cont...</vt:lpstr>
      <vt:lpstr>Cont...</vt:lpstr>
      <vt:lpstr>Cont...</vt:lpstr>
      <vt:lpstr>Program Visualization</vt:lpstr>
      <vt:lpstr>Cont...</vt:lpstr>
      <vt:lpstr>Forward Engineering</vt:lpstr>
      <vt:lpstr>Cont...</vt:lpstr>
      <vt:lpstr>Cont...</vt:lpstr>
      <vt:lpstr>Refactoring</vt:lpstr>
      <vt:lpstr>Cont...</vt:lpstr>
      <vt:lpstr>Code Transformation</vt:lpstr>
      <vt:lpstr>Cont...</vt:lpstr>
      <vt:lpstr>Cont...</vt:lpstr>
      <vt:lpstr>Web-enabling</vt:lpstr>
      <vt:lpstr>Cont...</vt:lpstr>
      <vt:lpstr>Software Reengineering Strategies and Management</vt:lpstr>
      <vt:lpstr>Cont...</vt:lpstr>
      <vt:lpstr>Cont...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EVOLUTION AND MAINTENANCE</dc:title>
  <dc:creator>TSION AYALEW</dc:creator>
  <cp:lastModifiedBy>Belina Chala</cp:lastModifiedBy>
  <cp:revision>137</cp:revision>
  <dcterms:created xsi:type="dcterms:W3CDTF">2024-12-11T13:11:00Z</dcterms:created>
  <dcterms:modified xsi:type="dcterms:W3CDTF">2025-12-24T16:08:49Z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0806A42E0E0542BE8785891D51CB6AE2_11</vt:lpwstr>
  </property>
  <property fmtid="{D5CDD505-2E9C-101B-9397-08002B2CF9AE}" pid="3" name="KSOProductBuildVer">
    <vt:lpwstr>1033-12.2.0.23155</vt:lpwstr>
  </property>
</Properties>
</file>