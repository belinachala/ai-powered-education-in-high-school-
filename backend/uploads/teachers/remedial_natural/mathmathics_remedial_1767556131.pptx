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8" r:id="rId10"/>
    <p:sldId id="262" r:id="rId11"/>
    <p:sldId id="263" r:id="rId12"/>
    <p:sldId id="264" r:id="rId13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800" b="1">
                <a:solidFill>
                  <a:srgbClr val="00B0F0"/>
                </a:solidFill>
              </a:rPr>
              <a:t>   Bule Hora University</a:t>
            </a:r>
            <a:endParaRPr lang="en-US" sz="4800" b="1">
              <a:solidFill>
                <a:srgbClr val="00B0F0"/>
              </a:solidFill>
            </a:endParaRPr>
          </a:p>
        </p:txBody>
      </p:sp>
      <p:pic>
        <p:nvPicPr>
          <p:cNvPr id="4" name="Picture 1" descr="C:\Users\Administrator\Downloads\download (1).jf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15" y="236220"/>
            <a:ext cx="1569085" cy="118173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45795" y="2148840"/>
            <a:ext cx="8613140" cy="55245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07000"/>
              </a:lnSpc>
              <a:spcAft>
                <a:spcPts val="800"/>
              </a:spcAft>
            </a:pPr>
            <a:r>
              <a:rPr sz="2800" b="1">
                <a:solidFill>
                  <a:srgbClr val="7030A0"/>
                </a:solidFill>
                <a:latin typeface="Tw Cen MT" panose="020B0602020104020603"/>
                <a:ea typeface="Tw Cen MT" panose="020B0602020104020603"/>
              </a:rPr>
              <a:t>Department of Electrical and Computer Engineering</a:t>
            </a:r>
            <a:endParaRPr sz="2800" b="1">
              <a:solidFill>
                <a:srgbClr val="7030A0"/>
              </a:solidFill>
              <a:latin typeface="Tw Cen MT" panose="020B0602020104020603"/>
              <a:ea typeface="Tw Cen MT" panose="020B0602020104020603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16000" y="2646045"/>
            <a:ext cx="7112000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spcAft>
                <a:spcPct val="0"/>
              </a:spcAft>
            </a:pPr>
            <a:r>
              <a:rPr sz="2800" b="1">
                <a:solidFill>
                  <a:srgbClr val="00B050"/>
                </a:solidFill>
                <a:latin typeface="Times New Roman" panose="02020603050405020304"/>
                <a:ea typeface="Calibri" panose="020F0502020204030204"/>
              </a:rPr>
              <a:t>Assignment for Electromagnetic field(EMF)</a:t>
            </a:r>
            <a:endParaRPr sz="2800" b="1">
              <a:solidFill>
                <a:srgbClr val="00B050"/>
              </a:solidFill>
              <a:latin typeface="Times New Roman" panose="02020603050405020304"/>
              <a:ea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25600" y="3167698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3600" b="1">
                <a:solidFill>
                  <a:srgbClr val="7030A0"/>
                </a:solidFill>
                <a:latin typeface="Calibri" panose="020F0502020204030204"/>
                <a:ea typeface="SimSun" panose="02010600030101010101" pitchFamily="2" charset="-122"/>
              </a:rPr>
              <a:t>Group1</a:t>
            </a:r>
            <a:r>
              <a:rPr lang="en-US" sz="3600" b="1">
                <a:solidFill>
                  <a:srgbClr val="7030A0"/>
                </a:solidFill>
                <a:latin typeface="Calibri" panose="020F0502020204030204"/>
                <a:ea typeface="SimSun" panose="02010600030101010101" pitchFamily="2" charset="-122"/>
              </a:rPr>
              <a:t> Members:</a:t>
            </a:r>
            <a:endParaRPr lang="en-US" sz="3600" b="1">
              <a:solidFill>
                <a:srgbClr val="7030A0"/>
              </a:solidFill>
              <a:latin typeface="Calibri" panose="020F0502020204030204"/>
              <a:ea typeface="SimSun" panose="02010600030101010101" pitchFamily="2" charset="-122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467485" y="3855720"/>
            <a:ext cx="6557645" cy="30651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sz="1400" b="1">
                <a:latin typeface="Calibri" panose="020F0502020204030204"/>
                <a:ea typeface="SimSun" panose="02010600030101010101" pitchFamily="2" charset="-122"/>
              </a:rPr>
              <a:t> </a:t>
            </a:r>
            <a:r>
              <a:rPr lang="en-US" b="1">
                <a:latin typeface="Calibri" panose="020F0502020204030204"/>
                <a:ea typeface="SimSun" panose="02010600030101010101" pitchFamily="2" charset="-122"/>
              </a:rPr>
              <a:t> </a:t>
            </a:r>
            <a:r>
              <a:rPr lang="en-US" b="1">
                <a:highlight>
                  <a:srgbClr val="C0C0C0"/>
                </a:highlight>
                <a:latin typeface="Calibri" panose="020F0502020204030204"/>
                <a:ea typeface="SimSun" panose="02010600030101010101" pitchFamily="2" charset="-122"/>
              </a:rPr>
              <a:t> </a:t>
            </a:r>
            <a:r>
              <a:rPr lang="en-US" sz="2000" b="1">
                <a:solidFill>
                  <a:srgbClr val="0070C0"/>
                </a:solidFill>
                <a:highlight>
                  <a:srgbClr val="C0C0C0"/>
                </a:highlight>
                <a:latin typeface="Calibri" panose="020F0502020204030204"/>
                <a:ea typeface="SimSun" panose="02010600030101010101" pitchFamily="2" charset="-122"/>
              </a:rPr>
              <a:t>Name                                               ID  </a:t>
            </a:r>
            <a:endParaRPr lang="en-US" b="1">
              <a:highlight>
                <a:srgbClr val="C0C0C0"/>
              </a:highlight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sz="14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1.lamessa mosisa..................0274/16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2.Robika Daba.......................0173/16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3.Gezu Diriba.........................0411/16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4.Ifa Garoma..........................0050/16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5.Ebiso Bati.............................0273/16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6.Nafyad Bayisa......................0171/16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Calibri" panose="020F0502020204030204"/>
                <a:ea typeface="SimSun" panose="02010600030101010101" pitchFamily="2" charset="-122"/>
              </a:rPr>
              <a:t>7.Gelana motii........................0154/16</a:t>
            </a:r>
            <a:endParaRPr lang="en-US" altLang="en-US" sz="2000" b="1">
              <a:latin typeface="Calibri" panose="020F0502020204030204"/>
              <a:ea typeface="SimSun" panose="02010600030101010101" pitchFamily="2" charset="-122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62940" y="1441450"/>
            <a:ext cx="8595995" cy="68389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>
              <a:lnSpc>
                <a:spcPct val="107000"/>
              </a:lnSpc>
              <a:spcAft>
                <a:spcPts val="800"/>
              </a:spcAft>
            </a:pPr>
            <a:r>
              <a:rPr sz="3600" b="1">
                <a:solidFill>
                  <a:srgbClr val="FF0000"/>
                </a:solidFill>
                <a:latin typeface="Tw Cen MT" panose="020B0602020104020603"/>
                <a:ea typeface="Tw Cen MT" panose="020B0602020104020603"/>
              </a:rPr>
              <a:t>College of Engineering and Technology</a:t>
            </a:r>
            <a:endParaRPr sz="3600" b="1">
              <a:solidFill>
                <a:srgbClr val="FF0000"/>
              </a:solidFill>
              <a:latin typeface="Tw Cen MT" panose="020B0602020104020603"/>
              <a:ea typeface="Tw Cen MT" panose="020B06020201040206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65" y="274638"/>
            <a:ext cx="822960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Faraday’s Laws of Electromagnetic </a:t>
            </a:r>
            <a:r>
              <a:rPr lang="en-US" sz="3600" b="1">
                <a:solidFill>
                  <a:schemeClr val="accent2"/>
                </a:solidFill>
              </a:rPr>
              <a:t>i</a:t>
            </a:r>
            <a:r>
              <a:rPr sz="3600" b="1">
                <a:solidFill>
                  <a:schemeClr val="accent2"/>
                </a:solidFill>
              </a:rPr>
              <a:t>nduction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3970"/>
            <a:ext cx="8329295" cy="4509135"/>
          </a:xfrm>
        </p:spPr>
        <p:txBody>
          <a:bodyPr/>
          <a:lstStyle/>
          <a:p>
            <a:endParaRPr sz="2400" b="1"/>
          </a:p>
          <a:p>
            <a:r>
              <a:rPr sz="2400" b="1"/>
              <a:t>Faraday’s law explains how a changing magnetic field induces an electromotive force (EMF) in a closed loop.</a:t>
            </a:r>
            <a:endParaRPr sz="2400" b="1"/>
          </a:p>
          <a:p>
            <a:r>
              <a:rPr sz="2400" b="1"/>
              <a:t>A time-varying magnetic flux through any surface produces a circulating electric field around its boundary.</a:t>
            </a:r>
            <a:endParaRPr sz="2400" b="1"/>
          </a:p>
          <a:p>
            <a:r>
              <a:rPr sz="2400" b="1"/>
              <a:t>This phenomenon forms the basis of generators, transformers, and inductive systems.</a:t>
            </a:r>
            <a:endParaRPr sz="2400" b="1"/>
          </a:p>
          <a:p>
            <a:r>
              <a:rPr sz="2400" b="1"/>
              <a:t>Integral form relates induced EMF to rate of change of magnetic flux.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768"/>
            <a:ext cx="822960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Point Form and (Faraday’s Law)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4465"/>
            <a:ext cx="8229600" cy="4525963"/>
          </a:xfrm>
        </p:spPr>
        <p:txBody>
          <a:bodyPr/>
          <a:lstStyle/>
          <a:p>
            <a:endParaRPr sz="2400" b="1"/>
          </a:p>
          <a:p>
            <a:r>
              <a:rPr sz="2400" b="1"/>
              <a:t>Differential form: curl of E = negative rate of change of B.</a:t>
            </a:r>
            <a:endParaRPr sz="2400" b="1"/>
          </a:p>
          <a:p>
            <a:r>
              <a:rPr sz="2400" b="1"/>
              <a:t>Electric field results from magnetic field changes, not charge separation.</a:t>
            </a:r>
            <a:endParaRPr sz="2400" b="1"/>
          </a:p>
          <a:p>
            <a:r>
              <a:rPr sz="2400" b="1"/>
              <a:t>Stokes’ theorem converts line integral to surface integral.</a:t>
            </a:r>
            <a:endParaRPr sz="2400" b="1"/>
          </a:p>
          <a:p>
            <a:r>
              <a:rPr sz="2400" b="1"/>
              <a:t>If integral holds for all surfaces, it must hold at every point.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9144000" cy="1143000"/>
          </a:xfrm>
        </p:spPr>
        <p:txBody>
          <a:bodyPr>
            <a:noAutofit/>
          </a:bodyPr>
          <a:lstStyle/>
          <a:p>
            <a:r>
              <a:rPr sz="3200" b="1">
                <a:solidFill>
                  <a:schemeClr val="accent2"/>
                </a:solidFill>
              </a:rPr>
              <a:t>Maxwell’s Fourth Equation (Curl E = – dB/dt)</a:t>
            </a:r>
            <a:endParaRPr sz="32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35" y="1417955"/>
            <a:ext cx="8435340" cy="4530090"/>
          </a:xfrm>
        </p:spPr>
        <p:txBody>
          <a:bodyPr/>
          <a:lstStyle/>
          <a:p>
            <a:endParaRPr sz="2400" b="1"/>
          </a:p>
          <a:p>
            <a:r>
              <a:rPr sz="2400" b="1"/>
              <a:t>This is the differential form of Faraday’s law.</a:t>
            </a:r>
            <a:endParaRPr sz="2400" b="1"/>
          </a:p>
          <a:p>
            <a:r>
              <a:rPr sz="2400" b="1"/>
              <a:t>A time-varying magnetic field generates a circulating electric field.</a:t>
            </a:r>
            <a:endParaRPr sz="2400" b="1"/>
          </a:p>
          <a:p>
            <a:r>
              <a:rPr sz="2400" b="1"/>
              <a:t>Induced electric field forms closed loops, not from electric charges.</a:t>
            </a:r>
            <a:endParaRPr sz="2400" b="1"/>
          </a:p>
          <a:p>
            <a:r>
              <a:rPr sz="2400" b="1"/>
              <a:t>Fundamental for understanding electromagnetic wave generation.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888492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Point Relationship &amp;</a:t>
            </a:r>
            <a:r>
              <a:rPr lang="en-US" sz="3600" b="1">
                <a:solidFill>
                  <a:schemeClr val="accent2"/>
                </a:solidFill>
              </a:rPr>
              <a:t> </a:t>
            </a:r>
            <a:r>
              <a:rPr sz="3600" b="1">
                <a:solidFill>
                  <a:schemeClr val="accent2"/>
                </a:solidFill>
              </a:rPr>
              <a:t>(Maxwell’s Equation)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2415"/>
            <a:ext cx="8419465" cy="3876675"/>
          </a:xfrm>
        </p:spPr>
        <p:txBody>
          <a:bodyPr/>
          <a:lstStyle/>
          <a:p>
            <a:pPr algn="l"/>
            <a:r>
              <a:rPr lang="en-US" sz="2400" b="1"/>
              <a:t> </a:t>
            </a:r>
            <a:r>
              <a:rPr sz="2400" b="1"/>
              <a:t>Gives point-by-point relationship between changing B-fields and E-fields.</a:t>
            </a:r>
            <a:endParaRPr sz="2400" b="1"/>
          </a:p>
          <a:p>
            <a:pPr algn="l"/>
            <a:r>
              <a:rPr sz="2400" b="1"/>
              <a:t>A curling electric field appears where magnetic field varies with time.</a:t>
            </a:r>
            <a:endParaRPr sz="2400" b="1"/>
          </a:p>
          <a:p>
            <a:pPr algn="l"/>
            <a:r>
              <a:rPr sz="2400" b="1"/>
              <a:t>Derivation uses Stokes’ theorem to convert loop integral to surface integral.</a:t>
            </a:r>
            <a:endParaRPr sz="2400" b="1"/>
          </a:p>
          <a:p>
            <a:pPr algn="l"/>
            <a:r>
              <a:rPr lang="en-US" sz="2400" b="1"/>
              <a:t> </a:t>
            </a:r>
            <a:r>
              <a:rPr sz="2400" b="1"/>
              <a:t>Maxwell used this to unify electric &amp; magnetic behavior.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15" y="274955"/>
            <a:ext cx="8554085" cy="1143000"/>
          </a:xfrm>
        </p:spPr>
        <p:txBody>
          <a:bodyPr/>
          <a:lstStyle/>
          <a:p>
            <a:r>
              <a:rPr sz="3200" b="1">
                <a:solidFill>
                  <a:schemeClr val="accent2"/>
                </a:solidFill>
              </a:rPr>
              <a:t>Statically and Dynamically Induced EMF</a:t>
            </a:r>
            <a:endParaRPr sz="32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9000" cy="4526280"/>
          </a:xfrm>
        </p:spPr>
        <p:txBody>
          <a:bodyPr/>
          <a:lstStyle/>
          <a:p>
            <a:endParaRPr sz="2400" b="1"/>
          </a:p>
          <a:p>
            <a:r>
              <a:rPr sz="2400" b="1"/>
              <a:t>Induced EMF can occur in two ways.</a:t>
            </a:r>
            <a:endParaRPr sz="2400" b="1"/>
          </a:p>
          <a:p>
            <a:r>
              <a:rPr sz="2400" b="1"/>
              <a:t>Static (Motional) EMF: conductor moves in constant magnetic field.</a:t>
            </a:r>
            <a:endParaRPr sz="2400" b="1"/>
          </a:p>
          <a:p>
            <a:r>
              <a:rPr sz="2400" b="1"/>
              <a:t>Magnetic force separates charges → EMF.</a:t>
            </a:r>
            <a:endParaRPr sz="2400" b="1"/>
          </a:p>
          <a:p>
            <a:r>
              <a:rPr sz="2400" b="1"/>
              <a:t>Depends on velocity, field strength, orientation.</a:t>
            </a:r>
            <a:endParaRPr sz="2400" b="1"/>
          </a:p>
          <a:p>
            <a:r>
              <a:rPr sz="2400" b="1"/>
              <a:t>Used in generators and rotating machines.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Dynamic </a:t>
            </a:r>
            <a:r>
              <a:rPr sz="3600" b="1">
                <a:solidFill>
                  <a:schemeClr val="accent6"/>
                </a:solidFill>
              </a:rPr>
              <a:t>EMF </a:t>
            </a:r>
            <a:r>
              <a:rPr sz="3600" b="1">
                <a:solidFill>
                  <a:schemeClr val="accent2"/>
                </a:solidFill>
              </a:rPr>
              <a:t>&amp; Applications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1725"/>
            <a:ext cx="8229600" cy="5024755"/>
          </a:xfrm>
        </p:spPr>
        <p:txBody>
          <a:bodyPr>
            <a:normAutofit/>
          </a:bodyPr>
          <a:lstStyle/>
          <a:p>
            <a:endParaRPr sz="2400" b="1"/>
          </a:p>
          <a:p>
            <a:r>
              <a:rPr sz="2400" b="1"/>
              <a:t>Dynamic EMF occurs even if conductor is stationary.</a:t>
            </a:r>
            <a:endParaRPr sz="2400" b="1"/>
          </a:p>
          <a:p>
            <a:r>
              <a:rPr sz="2400" b="1"/>
              <a:t>Arises from time-varying magnetic field linking conductor.</a:t>
            </a:r>
            <a:endParaRPr sz="2400" b="1"/>
          </a:p>
          <a:p>
            <a:r>
              <a:rPr sz="2400" b="1"/>
              <a:t>Based on Faraday’s law.</a:t>
            </a:r>
            <a:endParaRPr sz="2400" b="1"/>
          </a:p>
          <a:p>
            <a:r>
              <a:rPr sz="2400" b="1"/>
              <a:t>Applications: transformers, electrical machines, induction systems.</a:t>
            </a:r>
            <a:endParaRPr sz="2400" b="1"/>
          </a:p>
          <a:p>
            <a:r>
              <a:rPr sz="2400" b="1"/>
              <a:t>Parameters: field strength, conductor length, loop radius, flux rate.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90" y="224790"/>
            <a:ext cx="8390890" cy="892810"/>
          </a:xfrm>
        </p:spPr>
        <p:txBody>
          <a:bodyPr/>
          <a:p>
            <a:r>
              <a:rPr lang="en-US" sz="3200" b="1">
                <a:solidFill>
                  <a:schemeClr val="accent6"/>
                </a:solidFill>
              </a:rPr>
              <a:t>mathimathical derivation and example</a:t>
            </a:r>
            <a:endParaRPr lang="en-US" sz="3200" b="1">
              <a:solidFill>
                <a:schemeClr val="accent6"/>
              </a:solidFill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680" y="1348105"/>
            <a:ext cx="4358005" cy="4445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" y="1677035"/>
            <a:ext cx="5272405" cy="148717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-282575" y="34947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914400" indent="-228600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Times New Roman" panose="02020603050405020304"/>
              </a:rPr>
              <a:t>Magnetic force on a charge:</a:t>
            </a:r>
            <a:endParaRPr sz="160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0" y="312007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685800" indent="0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None/>
              <a:tabLst>
                <a:tab pos="457200" algn="l"/>
              </a:tabLst>
            </a:pPr>
            <a:r>
              <a:rPr lang="en-US" b="1">
                <a:latin typeface="Times New Roman" panose="02020603050405020304"/>
                <a:ea typeface="Times New Roman" panose="02020603050405020304"/>
              </a:rPr>
              <a:t>Derivetion</a:t>
            </a:r>
            <a:endParaRPr lang="en-US" b="1"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65" y="3800475"/>
            <a:ext cx="2865120" cy="37973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-282575" y="4163060"/>
            <a:ext cx="5177155" cy="595630"/>
          </a:xfrm>
          <a:prstGeom prst="rect">
            <a:avLst/>
          </a:prstGeom>
        </p:spPr>
        <p:txBody>
          <a:bodyPr wrap="square">
            <a:noAutofit/>
          </a:bodyPr>
          <a:p>
            <a:pPr marL="914400" indent="-228600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 startAt="2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Times New Roman" panose="02020603050405020304"/>
              </a:rPr>
              <a:t>Work done to move a charge along</a:t>
            </a:r>
            <a:endParaRPr sz="1600">
              <a:latin typeface="Times New Roman" panose="02020603050405020304"/>
              <a:ea typeface="Times New Roman" panose="02020603050405020304"/>
            </a:endParaRPr>
          </a:p>
          <a:p>
            <a:pPr marL="685800" indent="0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None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Times New Roman" panose="02020603050405020304"/>
              </a:rPr>
              <a:t> the conductor:</a:t>
            </a:r>
            <a:endParaRPr sz="1600"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0" y="4816475"/>
            <a:ext cx="3514090" cy="45466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-282575" y="5271135"/>
            <a:ext cx="4218305" cy="425450"/>
          </a:xfrm>
          <a:prstGeom prst="rect">
            <a:avLst/>
          </a:prstGeom>
        </p:spPr>
        <p:txBody>
          <a:bodyPr>
            <a:noAutofit/>
          </a:bodyPr>
          <a:p>
            <a:pPr marL="914400" indent="-228600" defTabSz="266700">
              <a:spcBef>
                <a:spcPts val="500"/>
              </a:spcBef>
              <a:spcAft>
                <a:spcPts val="500"/>
              </a:spcAft>
              <a:buFont typeface="Times New Roman" panose="02020603050405020304"/>
              <a:buAutoNum type="arabicPeriod" startAt="3"/>
              <a:tabLst>
                <a:tab pos="457200" algn="l"/>
              </a:tabLst>
            </a:pPr>
            <a:r>
              <a:rPr sz="1600">
                <a:latin typeface="Times New Roman" panose="02020603050405020304"/>
                <a:ea typeface="Times New Roman" panose="02020603050405020304"/>
              </a:rPr>
              <a:t>Induced EMF:</a:t>
            </a:r>
            <a:endParaRPr sz="1600"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15" y="5563870"/>
            <a:ext cx="3286125" cy="90614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5860415" y="1644015"/>
            <a:ext cx="2682875" cy="339725"/>
          </a:xfrm>
          <a:prstGeom prst="rect">
            <a:avLst/>
          </a:prstGeom>
        </p:spPr>
        <p:txBody>
          <a:bodyPr>
            <a:noAutofit/>
          </a:bodyPr>
          <a:p>
            <a:pPr defTabSz="266700"/>
            <a:r>
              <a:rPr sz="2400" b="1">
                <a:latin typeface="Times New Roman" panose="02020603050405020304"/>
                <a:ea typeface="Times New Roman" panose="02020603050405020304"/>
              </a:rPr>
              <a:t>Example:</a:t>
            </a:r>
            <a:endParaRPr sz="2400" b="1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313555" y="2192020"/>
            <a:ext cx="4830445" cy="74422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spcBef>
                <a:spcPts val="500"/>
              </a:spcBef>
              <a:spcAft>
                <a:spcPts val="500"/>
              </a:spcAft>
            </a:pPr>
            <a:r>
              <a:rPr lang="en-US" sz="1600">
                <a:latin typeface="Times New Roman" panose="02020603050405020304"/>
                <a:ea typeface="Times New Roman" panose="02020603050405020304"/>
              </a:rPr>
              <a:t>1. </a:t>
            </a:r>
            <a:r>
              <a:rPr sz="1600">
                <a:latin typeface="Times New Roman" panose="02020603050405020304"/>
                <a:ea typeface="Times New Roman" panose="02020603050405020304"/>
              </a:rPr>
              <a:t>A 0.5 m long conductor moves at 2 m/s perpendicular to a magnetic field of 0.3 T. Find the induced EMF.</a:t>
            </a:r>
            <a:endParaRPr sz="1600"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313555" y="2889250"/>
            <a:ext cx="4834890" cy="36830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b="1">
                <a:latin typeface="Times New Roman" panose="02020603050405020304"/>
                <a:ea typeface="Times New Roman" panose="02020603050405020304"/>
              </a:rPr>
              <a:t>Solution:</a:t>
            </a:r>
            <a:endParaRPr b="1"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970" y="3246755"/>
            <a:ext cx="5315585" cy="69659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4797425" y="4253865"/>
            <a:ext cx="3448685" cy="552450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spcBef>
                <a:spcPts val="500"/>
              </a:spcBef>
              <a:spcAft>
                <a:spcPts val="500"/>
              </a:spcAft>
            </a:pPr>
            <a:r>
              <a:rPr sz="2000">
                <a:latin typeface="Segoe UI Symbol" panose="020B0502040204020203"/>
                <a:ea typeface="Times New Roman" panose="02020603050405020304"/>
              </a:rPr>
              <a:t>✅</a:t>
            </a:r>
            <a:r>
              <a:rPr sz="2000">
                <a:latin typeface="Times New Roman" panose="02020603050405020304"/>
                <a:ea typeface="Times New Roman" panose="02020603050405020304"/>
              </a:rPr>
              <a:t> </a:t>
            </a:r>
            <a:r>
              <a:rPr sz="2000" b="1">
                <a:latin typeface="Times New Roman" panose="02020603050405020304"/>
                <a:ea typeface="Times New Roman" panose="02020603050405020304"/>
              </a:rPr>
              <a:t>Answer:</a:t>
            </a:r>
            <a:r>
              <a:rPr sz="2000">
                <a:latin typeface="Times New Roman" panose="02020603050405020304"/>
                <a:ea typeface="Times New Roman" panose="02020603050405020304"/>
              </a:rPr>
              <a:t> EMF = </a:t>
            </a:r>
            <a:r>
              <a:rPr sz="20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</a:rPr>
              <a:t>0.3 V</a:t>
            </a:r>
            <a:endParaRPr sz="2000" b="1">
              <a:solidFill>
                <a:srgbClr val="00B0F0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Modification of Maxwell’s Equations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580" y="1417955"/>
            <a:ext cx="8229600" cy="4525963"/>
          </a:xfrm>
        </p:spPr>
        <p:txBody>
          <a:bodyPr/>
          <a:lstStyle/>
          <a:p>
            <a:endParaRPr sz="2400" b="1"/>
          </a:p>
          <a:p>
            <a:r>
              <a:rPr sz="2400" b="1"/>
              <a:t>Maxwell added displacement current to Ampère’s law.</a:t>
            </a:r>
            <a:endParaRPr sz="2400" b="1"/>
          </a:p>
          <a:p>
            <a:r>
              <a:rPr sz="2400" b="1"/>
              <a:t>Completed four Maxwell equations.</a:t>
            </a:r>
            <a:endParaRPr sz="2400" b="1"/>
          </a:p>
          <a:p>
            <a:r>
              <a:rPr sz="2400" b="1"/>
              <a:t>Describes fields when changing with time.</a:t>
            </a:r>
            <a:endParaRPr sz="2400" b="1"/>
          </a:p>
          <a:p>
            <a:r>
              <a:rPr sz="2400" b="1"/>
              <a:t>Ensures correct predictions in capacitors.</a:t>
            </a:r>
            <a:endParaRPr sz="2400" b="1"/>
          </a:p>
          <a:p>
            <a:r>
              <a:rPr sz="2400" b="1"/>
              <a:t>Foundation of EM wave propagation.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955"/>
            <a:ext cx="868680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Importance of Maxwell’s Modification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430"/>
            <a:ext cx="8229600" cy="3477260"/>
          </a:xfrm>
        </p:spPr>
        <p:txBody>
          <a:bodyPr/>
          <a:lstStyle/>
          <a:p>
            <a:r>
              <a:rPr sz="2400" b="1"/>
              <a:t>Without displacement current → incorrect magnetic field prediction.</a:t>
            </a:r>
            <a:endParaRPr sz="2400" b="1"/>
          </a:p>
          <a:p>
            <a:r>
              <a:rPr sz="2400" b="1"/>
              <a:t>Ensures charge continuity.</a:t>
            </a:r>
            <a:endParaRPr sz="2400" b="1"/>
          </a:p>
          <a:p>
            <a:r>
              <a:rPr sz="2400" b="1"/>
              <a:t>Unifies electric &amp; magnetic phenomena.</a:t>
            </a:r>
            <a:endParaRPr sz="2400" b="1"/>
          </a:p>
          <a:p>
            <a:r>
              <a:rPr sz="2400" b="1"/>
              <a:t>Leads to discovery of electromagnetic waves.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8773"/>
            <a:ext cx="8229600" cy="1143000"/>
          </a:xfrm>
        </p:spPr>
        <p:txBody>
          <a:bodyPr/>
          <a:lstStyle/>
          <a:p>
            <a:r>
              <a:rPr sz="4000" b="1">
                <a:solidFill>
                  <a:schemeClr val="accent2"/>
                </a:solidFill>
              </a:rPr>
              <a:t>Time-Harmonic Fields</a:t>
            </a:r>
            <a:endParaRPr sz="40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70" y="1482090"/>
            <a:ext cx="8317230" cy="3542030"/>
          </a:xfrm>
        </p:spPr>
        <p:txBody>
          <a:bodyPr/>
          <a:lstStyle/>
          <a:p>
            <a:endParaRPr sz="2400" b="1"/>
          </a:p>
          <a:p>
            <a:r>
              <a:rPr sz="2400" b="1"/>
              <a:t>Time-harmonic fields vary sinusoidally (AC systems, EM waves).</a:t>
            </a:r>
            <a:endParaRPr sz="2400" b="1"/>
          </a:p>
          <a:p>
            <a:r>
              <a:rPr sz="2400" b="1"/>
              <a:t>Represent steady-state behavior.</a:t>
            </a:r>
            <a:endParaRPr sz="2400" b="1"/>
          </a:p>
          <a:p>
            <a:r>
              <a:rPr sz="2400" b="1"/>
              <a:t>Use phasors → simplified analysis.</a:t>
            </a:r>
            <a:endParaRPr sz="2400" b="1"/>
          </a:p>
          <a:p>
            <a:r>
              <a:rPr sz="2400" b="1"/>
              <a:t>Phasors convert differential equations to algebraic form.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80" y="274638"/>
            <a:ext cx="8229600" cy="1143000"/>
          </a:xfrm>
        </p:spPr>
        <p:txBody>
          <a:bodyPr/>
          <a:lstStyle/>
          <a:p>
            <a:r>
              <a:rPr sz="3600" b="1">
                <a:solidFill>
                  <a:schemeClr val="accent2"/>
                </a:solidFill>
              </a:rPr>
              <a:t>Frequency-Domain Representation</a:t>
            </a:r>
            <a:endParaRPr sz="3600" b="1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0475"/>
            <a:ext cx="8229600" cy="4525963"/>
          </a:xfrm>
        </p:spPr>
        <p:txBody>
          <a:bodyPr/>
          <a:lstStyle/>
          <a:p>
            <a:endParaRPr sz="2400" b="1"/>
          </a:p>
          <a:p>
            <a:r>
              <a:rPr sz="2400" b="1"/>
              <a:t>Fields expressed using sinusoidal functions with angular frequency.</a:t>
            </a:r>
            <a:endParaRPr sz="2400" b="1"/>
          </a:p>
          <a:p>
            <a:r>
              <a:rPr sz="2400" b="1"/>
              <a:t>Maxwell equations take compact phasor forms.</a:t>
            </a:r>
            <a:endParaRPr sz="2400" b="1"/>
          </a:p>
          <a:p>
            <a:r>
              <a:rPr sz="2400" b="1"/>
              <a:t>Describe E and B relationships at fixed frequency.</a:t>
            </a:r>
            <a:endParaRPr sz="2400" b="1"/>
          </a:p>
          <a:p>
            <a:r>
              <a:rPr sz="2400" b="1"/>
              <a:t>Essential for AC circuits, wave propagation, resonance.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" y="2560638"/>
            <a:ext cx="8229600" cy="1143000"/>
          </a:xfrm>
        </p:spPr>
        <p:txBody>
          <a:bodyPr>
            <a:scene3d>
              <a:camera prst="isometricOffAxis1Right"/>
              <a:lightRig rig="threePt" dir="t"/>
            </a:scene3d>
          </a:bodyPr>
          <a:p>
            <a:r>
              <a:rPr 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</a:t>
            </a:r>
            <a:r>
              <a:rPr 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You</a:t>
            </a:r>
            <a:br>
              <a:rPr 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8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!!!</a:t>
            </a:r>
            <a:endParaRPr lang="en-US" sz="8000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3599</Words>
  <Application>WPS Presentation</Application>
  <PresentationFormat>On-screen Show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Tw Cen MT</vt:lpstr>
      <vt:lpstr>Times New Roman</vt:lpstr>
      <vt:lpstr>Calibri</vt:lpstr>
      <vt:lpstr>Segoe UI Symbol</vt:lpstr>
      <vt:lpstr>Microsoft YaHei</vt:lpstr>
      <vt:lpstr>Arial Unicode MS</vt:lpstr>
      <vt:lpstr>Business Cooperate</vt:lpstr>
      <vt:lpstr>   Bule Hora University</vt:lpstr>
      <vt:lpstr>Faraday’s Laws of Electromagnetic induction</vt:lpstr>
      <vt:lpstr>Point Form and Derivation (Faraday’s Law)</vt:lpstr>
      <vt:lpstr>Maxwell’s Fourth Equation (Curl E = – dB/dt)</vt:lpstr>
      <vt:lpstr>Point Relationship &amp; Derivation (Maxwell’s Equation)</vt:lpstr>
      <vt:lpstr>Statically and Dynamically Induced EMF</vt:lpstr>
      <vt:lpstr>Dynamic EMF &amp; Applications</vt:lpstr>
      <vt:lpstr>mathimathical derivation and example</vt:lpstr>
      <vt:lpstr>Modification of Maxwell’s Equations</vt:lpstr>
      <vt:lpstr>Importance of Maxwell’s Modification</vt:lpstr>
      <vt:lpstr>Time-Harmonic Fields</vt:lpstr>
      <vt:lpstr>Frequency-Domain Representation</vt:lpstr>
      <vt:lpstr>Thank You  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Belina Chala</cp:lastModifiedBy>
  <cp:revision>7</cp:revision>
  <dcterms:created xsi:type="dcterms:W3CDTF">2013-01-27T09:14:00Z</dcterms:created>
  <dcterms:modified xsi:type="dcterms:W3CDTF">2025-12-13T17:45:03Z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BA37BFE815034D95B7BB773DC8ACC7C0_12</vt:lpwstr>
  </property>
  <property fmtid="{D5CDD505-2E9C-101B-9397-08002B2CF9AE}" pid="3" name="KSOProductBuildVer">
    <vt:lpwstr>1033-12.2.0.23155</vt:lpwstr>
  </property>
</Properties>
</file>