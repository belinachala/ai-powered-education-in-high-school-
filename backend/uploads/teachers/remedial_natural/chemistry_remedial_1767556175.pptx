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4"/>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notesMaster" Target="notesMasters/notesMaster1.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Transition to Professional Identity</a:t>
            </a:r>
          </a:p>
        </p:txBody>
      </p:sp>
      <p:sp>
        <p:nvSpPr>
          <p:cNvPr id="3" name="Content Placeholder 2"/>
          <p:cNvSpPr>
            <a:spLocks noGrp="1"/>
          </p:cNvSpPr>
          <p:nvPr>
            <p:ph idx="1"/>
          </p:nvPr>
        </p:nvSpPr>
        <p:spPr/>
        <p:txBody>
          <a:bodyPr/>
          <a:lstStyle/>
          <a:p>
            <a:r>
              <a:t>You are shifting from a dependent student mindset to an independent professional mindset. This means taking responsibility for your actions, decisions, and growth. You must begin thinking long‑term, planning your career, and acting with confidence and maturity.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Ownership</a:t>
            </a:r>
          </a:p>
        </p:txBody>
      </p:sp>
      <p:sp>
        <p:nvSpPr>
          <p:cNvPr id="3" name="Content Placeholder 2"/>
          <p:cNvSpPr>
            <a:spLocks noGrp="1"/>
          </p:cNvSpPr>
          <p:nvPr>
            <p:ph idx="1"/>
          </p:nvPr>
        </p:nvSpPr>
        <p:spPr/>
        <p:txBody>
          <a:bodyPr/>
          <a:lstStyle/>
          <a:p>
            <a:r>
              <a:t>Ownership means accepting full responsibility for your tasks and their outcomes. Professionals do not wait for instructions. If there is a problem, they take initiative to solve it. If they lack a skill, they actively learn 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Proactive Action</a:t>
            </a:r>
          </a:p>
        </p:txBody>
      </p:sp>
      <p:sp>
        <p:nvSpPr>
          <p:cNvPr id="3" name="Content Placeholder 2"/>
          <p:cNvSpPr>
            <a:spLocks noGrp="1"/>
          </p:cNvSpPr>
          <p:nvPr>
            <p:ph idx="1"/>
          </p:nvPr>
        </p:nvSpPr>
        <p:spPr/>
        <p:txBody>
          <a:bodyPr/>
          <a:lstStyle/>
          <a:p>
            <a:r>
              <a:t>Being proactive means taking action before someone tells you. You identify what needs to be done, anticipate</a:t>
            </a:r>
            <a:r>
              <a:rPr lang="en-US"/>
              <a:t>(tilmaamuu)</a:t>
            </a:r>
            <a:r>
              <a:t> challenges, and prepare solutions. Proactive behavior is one of the most valued traits in the workplace.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Continuous Improvement</a:t>
            </a:r>
          </a:p>
        </p:txBody>
      </p:sp>
      <p:sp>
        <p:nvSpPr>
          <p:cNvPr id="3" name="Content Placeholder 2"/>
          <p:cNvSpPr>
            <a:spLocks noGrp="1"/>
          </p:cNvSpPr>
          <p:nvPr>
            <p:ph idx="1"/>
          </p:nvPr>
        </p:nvSpPr>
        <p:spPr/>
        <p:txBody>
          <a:bodyPr/>
          <a:lstStyle/>
          <a:p>
            <a:r>
              <a:t>Every week, you must attempt to become better than the previous week. This includes improving technical skills, communication, discipline, and project experience. Professionals never stop learning.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Daily Habits</a:t>
            </a:r>
          </a:p>
        </p:txBody>
      </p:sp>
      <p:sp>
        <p:nvSpPr>
          <p:cNvPr id="3" name="Content Placeholder 2"/>
          <p:cNvSpPr>
            <a:spLocks noGrp="1"/>
          </p:cNvSpPr>
          <p:nvPr>
            <p:ph idx="1"/>
          </p:nvPr>
        </p:nvSpPr>
        <p:spPr/>
        <p:txBody>
          <a:bodyPr/>
          <a:lstStyle/>
          <a:p>
            <a:r>
              <a:t>Your daily habits determine your long‑term success. Maintain a consistent schedule, set daily priorities, and eliminate unnecessary distractions. Focus on high‑value tasks that contribute to your professional growth.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Communication Discipline</a:t>
            </a:r>
          </a:p>
        </p:txBody>
      </p:sp>
      <p:sp>
        <p:nvSpPr>
          <p:cNvPr id="3" name="Content Placeholder 2"/>
          <p:cNvSpPr>
            <a:spLocks noGrp="1"/>
          </p:cNvSpPr>
          <p:nvPr>
            <p:ph idx="1"/>
          </p:nvPr>
        </p:nvSpPr>
        <p:spPr/>
        <p:txBody>
          <a:bodyPr/>
          <a:lstStyle/>
          <a:p>
            <a:r>
              <a:t>Professional communication must be clear, structured, and respectful. Speak and write formally when appropriate. Organize your thoughts</a:t>
            </a:r>
            <a:r>
              <a:rPr lang="en-US"/>
              <a:t>(</a:t>
            </a:r>
            <a:r>
              <a:rPr lang="en-US" altLang="en-US"/>
              <a:t>yaada)</a:t>
            </a:r>
            <a:r>
              <a:t> before communicating. Communication quality directly influences how people perceive</a:t>
            </a:r>
            <a:r>
              <a:rPr lang="en-US"/>
              <a:t> (hubachuu</a:t>
            </a:r>
            <a:r>
              <a:rPr lang="en-US" altLang="en-US"/>
              <a:t>)</a:t>
            </a:r>
            <a:r>
              <a:t> your professionalism.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Self‑Learning Routine</a:t>
            </a:r>
          </a:p>
        </p:txBody>
      </p:sp>
      <p:sp>
        <p:nvSpPr>
          <p:cNvPr id="3" name="Content Placeholder 2"/>
          <p:cNvSpPr>
            <a:spLocks noGrp="1"/>
          </p:cNvSpPr>
          <p:nvPr>
            <p:ph idx="1"/>
          </p:nvPr>
        </p:nvSpPr>
        <p:spPr/>
        <p:txBody>
          <a:bodyPr/>
          <a:lstStyle/>
          <a:p>
            <a:r>
              <a:t>Dedicate </a:t>
            </a:r>
            <a:r>
              <a:rPr lang="en-US"/>
              <a:t>(</a:t>
            </a:r>
            <a:r>
              <a:rPr lang="en-US" altLang="en-US"/>
              <a:t>Of kennuu)</a:t>
            </a:r>
            <a:r>
              <a:t>1–2 hours daily to structured learning. Select topics such as programming languages, frameworks, system design, or database management. Track your progress</a:t>
            </a:r>
            <a:r>
              <a:rPr lang="en-US"/>
              <a:t>(</a:t>
            </a:r>
            <a:r>
              <a:rPr lang="en-US" altLang="en-US"/>
              <a:t>fooyya'iinsa)</a:t>
            </a:r>
            <a:r>
              <a:t> weekly and set clear learning goals.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Technical Fundamentals</a:t>
            </a:r>
          </a:p>
        </p:txBody>
      </p:sp>
      <p:sp>
        <p:nvSpPr>
          <p:cNvPr id="3" name="Content Placeholder 2"/>
          <p:cNvSpPr>
            <a:spLocks noGrp="1"/>
          </p:cNvSpPr>
          <p:nvPr>
            <p:ph idx="1"/>
          </p:nvPr>
        </p:nvSpPr>
        <p:spPr/>
        <p:txBody>
          <a:bodyPr/>
          <a:lstStyle/>
          <a:p>
            <a:r>
              <a:t>Master foundational concepts including object‑oriented programming, data structures, algorithms, database design, and version control using Git. These are essential regardless of your specialization.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Real Project Development</a:t>
            </a:r>
          </a:p>
        </p:txBody>
      </p:sp>
      <p:sp>
        <p:nvSpPr>
          <p:cNvPr id="3" name="Content Placeholder 2"/>
          <p:cNvSpPr>
            <a:spLocks noGrp="1"/>
          </p:cNvSpPr>
          <p:nvPr>
            <p:ph idx="1"/>
          </p:nvPr>
        </p:nvSpPr>
        <p:spPr/>
        <p:txBody>
          <a:bodyPr/>
          <a:lstStyle/>
          <a:p>
            <a:r>
              <a:t>Build real, practical projects that solve real problems. Examples include management systems, digital libraries, exam platforms, and e‑commerce applications. Projects help demonstrate </a:t>
            </a:r>
            <a:r>
              <a:rPr lang="en-US"/>
              <a:t>(</a:t>
            </a:r>
            <a:r>
              <a:rPr lang="en-US" altLang="en-US"/>
              <a:t>agarsiisuu) </a:t>
            </a:r>
            <a:r>
              <a:t>your skills to employers.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Industry Tools</a:t>
            </a:r>
          </a:p>
        </p:txBody>
      </p:sp>
      <p:sp>
        <p:nvSpPr>
          <p:cNvPr id="3" name="Content Placeholder 2"/>
          <p:cNvSpPr>
            <a:spLocks noGrp="1"/>
          </p:cNvSpPr>
          <p:nvPr>
            <p:ph idx="1"/>
          </p:nvPr>
        </p:nvSpPr>
        <p:spPr/>
        <p:txBody>
          <a:bodyPr/>
          <a:lstStyle/>
          <a:p>
            <a:r>
              <a:t>Familiarize yourself with professional tools such as VS Code or IntelliJ IDEA, GitHub for version control, Docker for basic containerization, Postman for API testing, and SQL tools for database work.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Professional Behavior</a:t>
            </a:r>
          </a:p>
        </p:txBody>
      </p:sp>
      <p:sp>
        <p:nvSpPr>
          <p:cNvPr id="3" name="Content Placeholder 2"/>
          <p:cNvSpPr>
            <a:spLocks noGrp="1"/>
          </p:cNvSpPr>
          <p:nvPr>
            <p:ph idx="1"/>
          </p:nvPr>
        </p:nvSpPr>
        <p:spPr/>
        <p:txBody>
          <a:bodyPr/>
          <a:lstStyle/>
          <a:p>
            <a:r>
              <a:t>Professional behavior includes honesty, reliability, discipline, and respect. Always meet deadlines, respect colleagues, and maintain a calm, cooperative attitude. Professionals do not blame </a:t>
            </a:r>
            <a:r>
              <a:rPr lang="en-US"/>
              <a:t>(</a:t>
            </a:r>
            <a:r>
              <a:rPr lang="en-US" altLang="en-US"/>
              <a:t>komachuu</a:t>
            </a:r>
            <a:r>
              <a:rPr lang="en-US"/>
              <a:t>) </a:t>
            </a:r>
            <a:r>
              <a:t>others; they focus on solutions.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Integrity</a:t>
            </a:r>
          </a:p>
        </p:txBody>
      </p:sp>
      <p:sp>
        <p:nvSpPr>
          <p:cNvPr id="3" name="Content Placeholder 2"/>
          <p:cNvSpPr>
            <a:spLocks noGrp="1"/>
          </p:cNvSpPr>
          <p:nvPr>
            <p:ph idx="1"/>
          </p:nvPr>
        </p:nvSpPr>
        <p:spPr/>
        <p:txBody>
          <a:bodyPr/>
          <a:lstStyle/>
          <a:p>
            <a:r>
              <a:t>Integrity is the foundation of trust. Be honest about your skills, your work, and your limitations. Never claim knowledge you do not have. Instead, show willingness to learn.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Self‑Driven Learning</a:t>
            </a:r>
          </a:p>
        </p:txBody>
      </p:sp>
      <p:sp>
        <p:nvSpPr>
          <p:cNvPr id="3" name="Content Placeholder 2"/>
          <p:cNvSpPr>
            <a:spLocks noGrp="1"/>
          </p:cNvSpPr>
          <p:nvPr>
            <p:ph idx="1"/>
          </p:nvPr>
        </p:nvSpPr>
        <p:spPr/>
        <p:txBody>
          <a:bodyPr/>
          <a:lstStyle/>
          <a:p>
            <a:r>
              <a:t>Professionals take control of their learning. You decide what to study, when to study, and how to improve. Never wait for teachers or employers to tell you what to learn.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Portfolio Building</a:t>
            </a:r>
          </a:p>
        </p:txBody>
      </p:sp>
      <p:sp>
        <p:nvSpPr>
          <p:cNvPr id="3" name="Content Placeholder 2"/>
          <p:cNvSpPr>
            <a:spLocks noGrp="1"/>
          </p:cNvSpPr>
          <p:nvPr>
            <p:ph idx="1"/>
          </p:nvPr>
        </p:nvSpPr>
        <p:spPr/>
        <p:txBody>
          <a:bodyPr/>
          <a:lstStyle/>
          <a:p>
            <a:r>
              <a:t>Create a GitHub portfolio that showcases your best projects. Each project should include clear documentation, screenshots, and explanations of technologies used.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CV and Career Preparation</a:t>
            </a:r>
          </a:p>
        </p:txBody>
      </p:sp>
      <p:sp>
        <p:nvSpPr>
          <p:cNvPr id="3" name="Content Placeholder 2"/>
          <p:cNvSpPr>
            <a:spLocks noGrp="1"/>
          </p:cNvSpPr>
          <p:nvPr>
            <p:ph idx="1"/>
          </p:nvPr>
        </p:nvSpPr>
        <p:spPr/>
        <p:txBody>
          <a:bodyPr/>
          <a:lstStyle/>
          <a:p>
            <a:r>
              <a:t>Your CV must be structured and professional. Highlight your technical skills, projects, education, and achievements</a:t>
            </a:r>
            <a:r>
              <a:rPr lang="en-US"/>
              <a:t> (bu’aa na’ii milka’inaa)</a:t>
            </a:r>
            <a:r>
              <a:t>. Update your CV regularly as your experience grows.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Networking and Exposure</a:t>
            </a:r>
          </a:p>
        </p:txBody>
      </p:sp>
      <p:sp>
        <p:nvSpPr>
          <p:cNvPr id="3" name="Content Placeholder 2"/>
          <p:cNvSpPr>
            <a:spLocks noGrp="1"/>
          </p:cNvSpPr>
          <p:nvPr>
            <p:ph idx="1"/>
          </p:nvPr>
        </p:nvSpPr>
        <p:spPr/>
        <p:txBody>
          <a:bodyPr/>
          <a:lstStyle/>
          <a:p>
            <a:r>
              <a:t>Join technical communities, follow developers online, and participate in discussions. Networking helps you learn faster and discover job opportunities.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Emotional Discipline</a:t>
            </a:r>
          </a:p>
        </p:txBody>
      </p:sp>
      <p:sp>
        <p:nvSpPr>
          <p:cNvPr id="3" name="Content Placeholder 2"/>
          <p:cNvSpPr>
            <a:spLocks noGrp="1"/>
          </p:cNvSpPr>
          <p:nvPr>
            <p:ph idx="1"/>
          </p:nvPr>
        </p:nvSpPr>
        <p:spPr/>
        <p:txBody>
          <a:bodyPr/>
          <a:lstStyle/>
          <a:p>
            <a:r>
              <a:t>Control your emotions and reactions, especially under pressure. Professionals remain calm, avoid unnecessary conflict, and respond thoughtfully.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Weekly Routine</a:t>
            </a:r>
          </a:p>
        </p:txBody>
      </p:sp>
      <p:sp>
        <p:nvSpPr>
          <p:cNvPr id="3" name="Content Placeholder 2"/>
          <p:cNvSpPr>
            <a:spLocks noGrp="1"/>
          </p:cNvSpPr>
          <p:nvPr>
            <p:ph idx="1"/>
          </p:nvPr>
        </p:nvSpPr>
        <p:spPr/>
        <p:txBody>
          <a:bodyPr/>
          <a:lstStyle/>
          <a:p>
            <a:r>
              <a:t>Each week: learn a new topic, complete project tasks, write clean code, and reflect on your progress. A weekly review helps you adjust your strategies and stay consistent.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Monthly Routine</a:t>
            </a:r>
          </a:p>
        </p:txBody>
      </p:sp>
      <p:sp>
        <p:nvSpPr>
          <p:cNvPr id="3" name="Content Placeholder 2"/>
          <p:cNvSpPr>
            <a:spLocks noGrp="1"/>
          </p:cNvSpPr>
          <p:nvPr>
            <p:ph idx="1"/>
          </p:nvPr>
        </p:nvSpPr>
        <p:spPr/>
        <p:txBody>
          <a:bodyPr/>
          <a:lstStyle/>
          <a:p>
            <a:r>
              <a:t>Each month: add one new skill, start or complete a project module, update your GitHub, and review your long‑term goals. Monthly discipline builds long‑term success.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Stop These Behaviors</a:t>
            </a:r>
          </a:p>
        </p:txBody>
      </p:sp>
      <p:sp>
        <p:nvSpPr>
          <p:cNvPr id="3" name="Content Placeholder 2"/>
          <p:cNvSpPr>
            <a:spLocks noGrp="1"/>
          </p:cNvSpPr>
          <p:nvPr>
            <p:ph idx="1"/>
          </p:nvPr>
        </p:nvSpPr>
        <p:spPr/>
        <p:txBody>
          <a:bodyPr/>
          <a:lstStyle/>
          <a:p>
            <a:r>
              <a:t>Stop waiting for instructions, procrastinating, doubting</a:t>
            </a:r>
            <a:r>
              <a:rPr lang="en-US"/>
              <a:t>(</a:t>
            </a:r>
            <a:r>
              <a:rPr lang="en-US" altLang="en-US"/>
              <a:t>shakkii qabaachuu) </a:t>
            </a:r>
            <a:r>
              <a:t>your ability, and fearing mistakes. Stop comparing yourself to others and start focusing on your own growth.</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Start These Behaviors Now</a:t>
            </a:r>
          </a:p>
        </p:txBody>
      </p:sp>
      <p:sp>
        <p:nvSpPr>
          <p:cNvPr id="3" name="Content Placeholder 2"/>
          <p:cNvSpPr>
            <a:spLocks noGrp="1"/>
          </p:cNvSpPr>
          <p:nvPr>
            <p:ph idx="1"/>
          </p:nvPr>
        </p:nvSpPr>
        <p:spPr/>
        <p:txBody>
          <a:bodyPr/>
          <a:lstStyle/>
          <a:p>
            <a:r>
              <a:t>Start planning weekly goals, learning independently, building projects, improving communication, practicing daily discipline, and developing professional confidence.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4549</Words>
  <Application>WPS Presentation</Application>
  <PresentationFormat>On-screen Show (4:3)</PresentationFormat>
  <Paragraphs>84</Paragraphs>
  <Slides>21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21</vt:i4>
      </vt:variant>
    </vt:vector>
  </HeadingPairs>
  <TitlesOfParts>
    <vt:vector size="29" baseType="lpstr">
      <vt:lpstr>Arial</vt:lpstr>
      <vt:lpstr>SimSun</vt:lpstr>
      <vt:lpstr>Wingdings</vt:lpstr>
      <vt:lpstr>Arial</vt:lpstr>
      <vt:lpstr>Calibri</vt:lpstr>
      <vt:lpstr>Microsoft YaHei</vt:lpstr>
      <vt:lpstr>Arial Unicode MS</vt:lpstr>
      <vt:lpstr>Office Theme</vt:lpstr>
      <vt:lpstr>Transition to Professional Identity</vt:lpstr>
      <vt:lpstr>Ownership</vt:lpstr>
      <vt:lpstr>Proactive Action</vt:lpstr>
      <vt:lpstr>Continuous Improvement</vt:lpstr>
      <vt:lpstr>Daily Habits</vt:lpstr>
      <vt:lpstr>Communication Discipline</vt:lpstr>
      <vt:lpstr>Self‑Learning Routine</vt:lpstr>
      <vt:lpstr>Technical Fundamentals</vt:lpstr>
      <vt:lpstr>Real Project Development</vt:lpstr>
      <vt:lpstr>Industry Tools</vt:lpstr>
      <vt:lpstr>Professional Behavior</vt:lpstr>
      <vt:lpstr>Integrity</vt:lpstr>
      <vt:lpstr>Self‑Driven Learning</vt:lpstr>
      <vt:lpstr>Portfolio Building</vt:lpstr>
      <vt:lpstr>CV and Career Preparation</vt:lpstr>
      <vt:lpstr>Networking and Exposure</vt:lpstr>
      <vt:lpstr>Emotional Discipline</vt:lpstr>
      <vt:lpstr>Weekly Routine</vt:lpstr>
      <vt:lpstr>Monthly Routine</vt:lpstr>
      <vt:lpstr>Stop These Behaviors</vt:lpstr>
      <vt:lpstr>Start These Behaviors Now</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Belina Chala</cp:lastModifiedBy>
  <cp:revision>2</cp:revision>
  <dcterms:created xsi:type="dcterms:W3CDTF">2013-01-27T09:14:00Z</dcterms:created>
  <dcterms:modified xsi:type="dcterms:W3CDTF">2025-12-10T20:51:09Z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BDB4208D6AAA485982CA67CA43D7F8B3_12</vt:lpwstr>
  </property>
  <property fmtid="{D5CDD505-2E9C-101B-9397-08002B2CF9AE}" pid="3" name="KSOProductBuildVer">
    <vt:lpwstr>1033-12.2.0.23155</vt:lpwstr>
  </property>
</Properties>
</file>